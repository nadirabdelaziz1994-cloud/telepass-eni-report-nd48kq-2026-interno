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4" r:id="rId4"/>
  </p:sldMasterIdLst>
  <p:notesMasterIdLst>
    <p:notesMasterId r:id="rId24"/>
  </p:notesMasterIdLst>
  <p:sldIdLst>
    <p:sldId id="256" r:id="rId5"/>
    <p:sldId id="2147481931" r:id="rId6"/>
    <p:sldId id="2147481942" r:id="rId7"/>
    <p:sldId id="2147483515" r:id="rId8"/>
    <p:sldId id="409" r:id="rId9"/>
    <p:sldId id="2147483509" r:id="rId10"/>
    <p:sldId id="2147483510" r:id="rId11"/>
    <p:sldId id="2147480464" r:id="rId12"/>
    <p:sldId id="2147480461" r:id="rId13"/>
    <p:sldId id="2147480425" r:id="rId14"/>
    <p:sldId id="7554" r:id="rId15"/>
    <p:sldId id="2147483529" r:id="rId16"/>
    <p:sldId id="2147483526" r:id="rId17"/>
    <p:sldId id="2147483527" r:id="rId18"/>
    <p:sldId id="2147483528" r:id="rId19"/>
    <p:sldId id="2147483497" r:id="rId20"/>
    <p:sldId id="280" r:id="rId21"/>
    <p:sldId id="2147472840" r:id="rId22"/>
    <p:sldId id="2147481901"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C84A18-46CB-4730-95B9-67672494405D}">
          <p14:sldIdLst>
            <p14:sldId id="256"/>
            <p14:sldId id="2147481931"/>
            <p14:sldId id="2147481942"/>
            <p14:sldId id="2147483515"/>
            <p14:sldId id="409"/>
            <p14:sldId id="2147483509"/>
            <p14:sldId id="2147483510"/>
            <p14:sldId id="2147480464"/>
            <p14:sldId id="2147480461"/>
            <p14:sldId id="2147480425"/>
            <p14:sldId id="7554"/>
            <p14:sldId id="2147483529"/>
            <p14:sldId id="2147483526"/>
            <p14:sldId id="2147483527"/>
            <p14:sldId id="2147483528"/>
            <p14:sldId id="2147483497"/>
            <p14:sldId id="280"/>
            <p14:sldId id="2147472840"/>
            <p14:sldId id="2147481901"/>
          </p14:sldIdLst>
        </p14:section>
      </p14:sectionLst>
    </p:ext>
    <p:ext uri="{EFAFB233-063F-42B5-8137-9DF3F51BA10A}">
      <p15:sldGuideLst xmlns:p15="http://schemas.microsoft.com/office/powerpoint/2012/main">
        <p15:guide id="1" orient="horz" pos="3362" userDrawn="1">
          <p15:clr>
            <a:srgbClr val="A4A3A4"/>
          </p15:clr>
        </p15:guide>
        <p15:guide id="2" pos="506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BADDC31-A923-3C71-47BC-A600E77B5432}" name="Utente guest" initials="Ug" userId="S::urn:spo:anon#d88cf1c9ae922841c8d9f731a08741e0cd77046dbe6b3dbe3c565284455849f6::" providerId="AD"/>
  <p188:author id="{FDFA3570-851F-F831-78B2-EC809D2596BC}" name="Ettore Buo" initials="EB" userId="S::ettore.buo@telepass.com::8707b3ba-c69d-4c00-a1ed-14f2b50d9432" providerId="AD"/>
  <p188:author id="{F88FF077-AD36-325D-3698-25CCB7E754F0}" name="Alberto Marzano" initials="AM" userId="S::alberto@mlcpresentations.com::2ed3dbbf-5871-4cdf-8ac4-7356a3dcac1e" providerId="AD"/>
  <p188:author id="{62C94DC1-A88A-C3EA-EE67-E1E78C2EB6ED}" name="Michela Michini" initials="MM" userId="S::michela.michini@telepass.com::1c7cc2f4-ac05-4fb8-8047-947b995b6d15" providerId="AD"/>
  <p188:author id="{35E602EA-9D6E-C226-4B5F-401D708D6294}" name="Utente guest" initials="Ug" userId="S::urn:spo:anon#03f779aec8859cf1102473b2f11b9e7db6e861498d3cb3d02d57f3352ae1c8b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01A"/>
    <a:srgbClr val="0057B7"/>
    <a:srgbClr val="FEE008"/>
    <a:srgbClr val="3379C5"/>
    <a:srgbClr val="F6F8FA"/>
    <a:srgbClr val="2059A8"/>
    <a:srgbClr val="FFFFFF"/>
    <a:srgbClr val="D1D3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11" autoAdjust="0"/>
    <p:restoredTop sz="94660"/>
  </p:normalViewPr>
  <p:slideViewPr>
    <p:cSldViewPr snapToGrid="0">
      <p:cViewPr varScale="1">
        <p:scale>
          <a:sx n="78" d="100"/>
          <a:sy n="78" d="100"/>
        </p:scale>
        <p:origin x="1022" y="62"/>
      </p:cViewPr>
      <p:guideLst>
        <p:guide orient="horz" pos="3362"/>
        <p:guide pos="50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383517-1092-4B39-A580-D3CFD71D71D3}" type="datetimeFigureOut">
              <a:rPr lang="en-GB" smtClean="0"/>
              <a:t>09/02/2026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E6A04-1DD9-4A53-9529-1BCFD08EA0B7}" type="slidenum">
              <a:rPr lang="en-GB" smtClean="0"/>
              <a:t>‹N›</a:t>
            </a:fld>
            <a:endParaRPr lang="en-GB"/>
          </a:p>
        </p:txBody>
      </p:sp>
    </p:spTree>
    <p:extLst>
      <p:ext uri="{BB962C8B-B14F-4D97-AF65-F5344CB8AC3E}">
        <p14:creationId xmlns:p14="http://schemas.microsoft.com/office/powerpoint/2010/main" val="787233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759413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44015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995E6A04-1DD9-4A53-9529-1BCFD08EA0B7}" type="slidenum">
              <a:rPr lang="en-GB" smtClean="0"/>
              <a:t>3</a:t>
            </a:fld>
            <a:endParaRPr lang="en-GB"/>
          </a:p>
        </p:txBody>
      </p:sp>
    </p:spTree>
    <p:extLst>
      <p:ext uri="{BB962C8B-B14F-4D97-AF65-F5344CB8AC3E}">
        <p14:creationId xmlns:p14="http://schemas.microsoft.com/office/powerpoint/2010/main" val="2787938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995E6A04-1DD9-4A53-9529-1BCFD08EA0B7}" type="slidenum">
              <a:rPr lang="en-GB" smtClean="0"/>
              <a:t>4</a:t>
            </a:fld>
            <a:endParaRPr lang="en-GB"/>
          </a:p>
        </p:txBody>
      </p:sp>
    </p:spTree>
    <p:extLst>
      <p:ext uri="{BB962C8B-B14F-4D97-AF65-F5344CB8AC3E}">
        <p14:creationId xmlns:p14="http://schemas.microsoft.com/office/powerpoint/2010/main" val="2759189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995E6A04-1DD9-4A53-9529-1BCFD08EA0B7}" type="slidenum">
              <a:rPr lang="en-GB" smtClean="0"/>
              <a:t>5</a:t>
            </a:fld>
            <a:endParaRPr lang="en-GB"/>
          </a:p>
        </p:txBody>
      </p:sp>
    </p:spTree>
    <p:extLst>
      <p:ext uri="{BB962C8B-B14F-4D97-AF65-F5344CB8AC3E}">
        <p14:creationId xmlns:p14="http://schemas.microsoft.com/office/powerpoint/2010/main" val="2527017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3F2AB2-3D8F-4860-AFDA-D1B4815F23C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9950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EA1E0-5C5A-F1AF-E2AC-B462ACEF1C5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5EAB937-7466-543D-E4B5-59F43E8ACDC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F666015-1A21-FF31-C496-80C38CA078EA}"/>
              </a:ext>
            </a:extLst>
          </p:cNvPr>
          <p:cNvSpPr>
            <a:spLocks noGrp="1"/>
          </p:cNvSpPr>
          <p:nvPr>
            <p:ph type="body" idx="1"/>
          </p:nvPr>
        </p:nvSpPr>
        <p:spPr/>
        <p:txBody>
          <a:bodyPr/>
          <a:lstStyle/>
          <a:p>
            <a:pPr algn="l">
              <a:lnSpc>
                <a:spcPct val="90000"/>
              </a:lnSpc>
            </a:pPr>
            <a:r>
              <a:rPr lang="it-IT"/>
              <a:t>EUROPA: 40 nazioni coperte</a:t>
            </a:r>
            <a:br>
              <a:rPr lang="it-IT"/>
            </a:br>
            <a:br>
              <a:rPr lang="it-IT"/>
            </a:br>
            <a:r>
              <a:rPr lang="it-IT" sz="1200" b="1" i="1">
                <a:latin typeface="Avenir Next LT Pro" panose="020B0504020202020204" pitchFamily="34" charset="77"/>
              </a:rPr>
              <a:t>28%</a:t>
            </a:r>
            <a:r>
              <a:rPr lang="it-IT" sz="1200" i="1">
                <a:latin typeface="Avenir Next LT Pro" panose="020B0504020202020204" pitchFamily="34" charset="77"/>
              </a:rPr>
              <a:t> Base </a:t>
            </a:r>
          </a:p>
          <a:p>
            <a:pPr algn="l">
              <a:lnSpc>
                <a:spcPct val="90000"/>
              </a:lnSpc>
            </a:pPr>
            <a:r>
              <a:rPr lang="it-IT" sz="1200" b="1" i="1">
                <a:latin typeface="Avenir Next LT Pro" panose="020B0504020202020204" pitchFamily="34" charset="77"/>
              </a:rPr>
              <a:t>60%</a:t>
            </a:r>
            <a:r>
              <a:rPr lang="it-IT" sz="1200" i="1">
                <a:latin typeface="Avenir Next LT Pro" panose="020B0504020202020204" pitchFamily="34" charset="77"/>
              </a:rPr>
              <a:t> Italia</a:t>
            </a:r>
          </a:p>
          <a:p>
            <a:pPr algn="l">
              <a:lnSpc>
                <a:spcPct val="90000"/>
              </a:lnSpc>
            </a:pPr>
            <a:r>
              <a:rPr lang="it-IT" sz="1200" b="1" i="1">
                <a:latin typeface="Avenir Next LT Pro" panose="020B0504020202020204" pitchFamily="34" charset="77"/>
              </a:rPr>
              <a:t>12% </a:t>
            </a:r>
            <a:r>
              <a:rPr lang="it-IT" sz="1200" i="1">
                <a:latin typeface="Avenir Next LT Pro" panose="020B0504020202020204" pitchFamily="34" charset="77"/>
              </a:rPr>
              <a:t>Europa</a:t>
            </a:r>
            <a:endParaRPr lang="it-IT"/>
          </a:p>
        </p:txBody>
      </p:sp>
      <p:sp>
        <p:nvSpPr>
          <p:cNvPr id="4" name="Segnaposto numero diapositiva 3">
            <a:extLst>
              <a:ext uri="{FF2B5EF4-FFF2-40B4-BE49-F238E27FC236}">
                <a16:creationId xmlns:a16="http://schemas.microsoft.com/office/drawing/2014/main" id="{2931A730-CBE6-7A49-C86C-FF358D6819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3F2AB2-3D8F-4860-AFDA-D1B4815F23C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7091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A634C-4F3D-6DE2-8E49-49DE876E2B7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F293486-85D8-0C61-56D9-94A19EBAD17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8039223-9D42-3430-E503-644EC2A56550}"/>
              </a:ext>
            </a:extLst>
          </p:cNvPr>
          <p:cNvSpPr>
            <a:spLocks noGrp="1"/>
          </p:cNvSpPr>
          <p:nvPr>
            <p:ph type="body" idx="1"/>
          </p:nvPr>
        </p:nvSpPr>
        <p:spPr/>
        <p:txBody>
          <a:bodyPr/>
          <a:lstStyle/>
          <a:p>
            <a:pPr algn="l">
              <a:lnSpc>
                <a:spcPct val="90000"/>
              </a:lnSpc>
            </a:pPr>
            <a:r>
              <a:rPr lang="it-IT"/>
              <a:t>EUROPA: 40 nazioni coperte</a:t>
            </a:r>
            <a:br>
              <a:rPr lang="it-IT"/>
            </a:br>
            <a:br>
              <a:rPr lang="it-IT"/>
            </a:br>
            <a:r>
              <a:rPr lang="it-IT" sz="1200" b="1" i="1">
                <a:latin typeface="Avenir Next LT Pro" panose="020B0504020202020204" pitchFamily="34" charset="77"/>
              </a:rPr>
              <a:t>28%</a:t>
            </a:r>
            <a:r>
              <a:rPr lang="it-IT" sz="1200" i="1">
                <a:latin typeface="Avenir Next LT Pro" panose="020B0504020202020204" pitchFamily="34" charset="77"/>
              </a:rPr>
              <a:t> Base </a:t>
            </a:r>
          </a:p>
          <a:p>
            <a:pPr algn="l">
              <a:lnSpc>
                <a:spcPct val="90000"/>
              </a:lnSpc>
            </a:pPr>
            <a:r>
              <a:rPr lang="it-IT" sz="1200" b="1" i="1">
                <a:latin typeface="Avenir Next LT Pro" panose="020B0504020202020204" pitchFamily="34" charset="77"/>
              </a:rPr>
              <a:t>60%</a:t>
            </a:r>
            <a:r>
              <a:rPr lang="it-IT" sz="1200" i="1">
                <a:latin typeface="Avenir Next LT Pro" panose="020B0504020202020204" pitchFamily="34" charset="77"/>
              </a:rPr>
              <a:t> Italia</a:t>
            </a:r>
          </a:p>
          <a:p>
            <a:pPr algn="l">
              <a:lnSpc>
                <a:spcPct val="90000"/>
              </a:lnSpc>
            </a:pPr>
            <a:r>
              <a:rPr lang="it-IT" sz="1200" b="1" i="1">
                <a:latin typeface="Avenir Next LT Pro" panose="020B0504020202020204" pitchFamily="34" charset="77"/>
              </a:rPr>
              <a:t>12% </a:t>
            </a:r>
            <a:r>
              <a:rPr lang="it-IT" sz="1200" i="1">
                <a:latin typeface="Avenir Next LT Pro" panose="020B0504020202020204" pitchFamily="34" charset="77"/>
              </a:rPr>
              <a:t>Europa</a:t>
            </a:r>
            <a:endParaRPr lang="it-IT"/>
          </a:p>
        </p:txBody>
      </p:sp>
      <p:sp>
        <p:nvSpPr>
          <p:cNvPr id="4" name="Segnaposto numero diapositiva 3">
            <a:extLst>
              <a:ext uri="{FF2B5EF4-FFF2-40B4-BE49-F238E27FC236}">
                <a16:creationId xmlns:a16="http://schemas.microsoft.com/office/drawing/2014/main" id="{FCDC9824-2B7E-F3CD-3BFA-7AB464A932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3F2AB2-3D8F-4860-AFDA-D1B4815F23C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0118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l">
              <a:lnSpc>
                <a:spcPct val="90000"/>
              </a:lnSpc>
            </a:pPr>
            <a:r>
              <a:rPr lang="it-IT"/>
              <a:t>EUROPA: 40 nazioni coperte</a:t>
            </a:r>
            <a:br>
              <a:rPr lang="it-IT"/>
            </a:br>
            <a:br>
              <a:rPr lang="it-IT"/>
            </a:br>
            <a:r>
              <a:rPr lang="it-IT" sz="1200" b="1" i="1">
                <a:latin typeface="Avenir Next LT Pro" panose="020B0504020202020204" pitchFamily="34" charset="77"/>
              </a:rPr>
              <a:t>28%</a:t>
            </a:r>
            <a:r>
              <a:rPr lang="it-IT" sz="1200" i="1">
                <a:latin typeface="Avenir Next LT Pro" panose="020B0504020202020204" pitchFamily="34" charset="77"/>
              </a:rPr>
              <a:t> Base </a:t>
            </a:r>
          </a:p>
          <a:p>
            <a:pPr algn="l">
              <a:lnSpc>
                <a:spcPct val="90000"/>
              </a:lnSpc>
            </a:pPr>
            <a:r>
              <a:rPr lang="it-IT" sz="1200" b="1" i="1">
                <a:latin typeface="Avenir Next LT Pro" panose="020B0504020202020204" pitchFamily="34" charset="77"/>
              </a:rPr>
              <a:t>60%</a:t>
            </a:r>
            <a:r>
              <a:rPr lang="it-IT" sz="1200" i="1">
                <a:latin typeface="Avenir Next LT Pro" panose="020B0504020202020204" pitchFamily="34" charset="77"/>
              </a:rPr>
              <a:t> Italia</a:t>
            </a:r>
          </a:p>
          <a:p>
            <a:pPr algn="l">
              <a:lnSpc>
                <a:spcPct val="90000"/>
              </a:lnSpc>
            </a:pPr>
            <a:r>
              <a:rPr lang="it-IT" sz="1200" b="1" i="1">
                <a:latin typeface="Avenir Next LT Pro" panose="020B0504020202020204" pitchFamily="34" charset="77"/>
              </a:rPr>
              <a:t>12% </a:t>
            </a:r>
            <a:r>
              <a:rPr lang="it-IT" sz="1200" i="1">
                <a:latin typeface="Avenir Next LT Pro" panose="020B0504020202020204" pitchFamily="34" charset="77"/>
              </a:rPr>
              <a:t>Europa</a:t>
            </a:r>
            <a:endParaRPr lang="it-IT"/>
          </a:p>
        </p:txBody>
      </p:sp>
      <p:sp>
        <p:nvSpPr>
          <p:cNvPr id="4" name="Segnaposto numero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3F2AB2-3D8F-4860-AFDA-D1B4815F23C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494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995E6A04-1DD9-4A53-9529-1BCFD08EA0B7}" type="slidenum">
              <a:rPr lang="en-GB" smtClean="0"/>
              <a:t>14</a:t>
            </a:fld>
            <a:endParaRPr lang="en-GB"/>
          </a:p>
        </p:txBody>
      </p:sp>
    </p:spTree>
    <p:extLst>
      <p:ext uri="{BB962C8B-B14F-4D97-AF65-F5344CB8AC3E}">
        <p14:creationId xmlns:p14="http://schemas.microsoft.com/office/powerpoint/2010/main" val="1233406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995E6A04-1DD9-4A53-9529-1BCFD08EA0B7}" type="slidenum">
              <a:rPr lang="en-GB" smtClean="0"/>
              <a:t>15</a:t>
            </a:fld>
            <a:endParaRPr lang="en-GB"/>
          </a:p>
        </p:txBody>
      </p:sp>
    </p:spTree>
    <p:extLst>
      <p:ext uri="{BB962C8B-B14F-4D97-AF65-F5344CB8AC3E}">
        <p14:creationId xmlns:p14="http://schemas.microsoft.com/office/powerpoint/2010/main" val="29443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665F1-043F-02E6-680F-ED601906C91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4A7552B-7A9E-CA58-3ADF-69C91F91DFC3}"/>
              </a:ext>
            </a:extLst>
          </p:cNvPr>
          <p:cNvSpPr>
            <a:spLocks noGrp="1" noRot="1" noChangeAspect="1"/>
          </p:cNvSpPr>
          <p:nvPr>
            <p:ph type="sldImg"/>
          </p:nvPr>
        </p:nvSpPr>
        <p:spPr>
          <a:xfrm>
            <a:off x="381000" y="685800"/>
            <a:ext cx="6096000" cy="3429000"/>
          </a:xfrm>
        </p:spPr>
      </p:sp>
      <p:sp>
        <p:nvSpPr>
          <p:cNvPr id="3" name="Segnaposto note 2">
            <a:extLst>
              <a:ext uri="{FF2B5EF4-FFF2-40B4-BE49-F238E27FC236}">
                <a16:creationId xmlns:a16="http://schemas.microsoft.com/office/drawing/2014/main" id="{FBDB265C-BC22-385F-ED75-90D618FCC953}"/>
              </a:ext>
            </a:extLst>
          </p:cNvPr>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2022923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5264184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1.svg"/><Relationship Id="rId4"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2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3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2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2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7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8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7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ront Cover ">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9E4AB53-065D-D8A9-B70B-E88D1623874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8" name="Graphic 7">
            <a:extLst>
              <a:ext uri="{FF2B5EF4-FFF2-40B4-BE49-F238E27FC236}">
                <a16:creationId xmlns:a16="http://schemas.microsoft.com/office/drawing/2014/main" id="{822BA49E-CECC-707D-978E-64F6F80E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14323" y="2928683"/>
            <a:ext cx="4163355" cy="1000634"/>
          </a:xfrm>
          <a:prstGeom prst="rect">
            <a:avLst/>
          </a:prstGeom>
        </p:spPr>
      </p:pic>
    </p:spTree>
    <p:extLst>
      <p:ext uri="{BB962C8B-B14F-4D97-AF65-F5344CB8AC3E}">
        <p14:creationId xmlns:p14="http://schemas.microsoft.com/office/powerpoint/2010/main" val="2894925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EB8E941-FE38-1A0F-BEFB-F31028CC0A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
        <p:nvSpPr>
          <p:cNvPr id="8" name="Graphic 4">
            <a:extLst>
              <a:ext uri="{FF2B5EF4-FFF2-40B4-BE49-F238E27FC236}">
                <a16:creationId xmlns:a16="http://schemas.microsoft.com/office/drawing/2014/main" id="{694EA441-E189-2B07-1447-AF5C55EDB253}"/>
              </a:ext>
            </a:extLst>
          </p:cNvPr>
          <p:cNvSpPr/>
          <p:nvPr userDrawn="1"/>
        </p:nvSpPr>
        <p:spPr>
          <a:xfrm>
            <a:off x="125260" y="99153"/>
            <a:ext cx="1232292" cy="1516862"/>
          </a:xfrm>
          <a:custGeom>
            <a:avLst/>
            <a:gdLst>
              <a:gd name="connsiteX0" fmla="*/ 751194 w 3306821"/>
              <a:gd name="connsiteY0" fmla="*/ 347569 h 4070458"/>
              <a:gd name="connsiteX1" fmla="*/ 12459 w 3306821"/>
              <a:gd name="connsiteY1" fmla="*/ 3517907 h 4070458"/>
              <a:gd name="connsiteX2" fmla="*/ 697356 w 3306821"/>
              <a:gd name="connsiteY2" fmla="*/ 3994645 h 4070458"/>
              <a:gd name="connsiteX3" fmla="*/ 3110340 w 3306821"/>
              <a:gd name="connsiteY3" fmla="*/ 2401459 h 4070458"/>
              <a:gd name="connsiteX4" fmla="*/ 3171231 w 3306821"/>
              <a:gd name="connsiteY4" fmla="*/ 1719666 h 4070458"/>
              <a:gd name="connsiteX5" fmla="*/ 1498580 w 3306821"/>
              <a:gd name="connsiteY5" fmla="*/ 124458 h 4070458"/>
              <a:gd name="connsiteX6" fmla="*/ 751194 w 3306821"/>
              <a:gd name="connsiteY6" fmla="*/ 347569 h 407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821" h="4070458">
                <a:moveTo>
                  <a:pt x="751194" y="347569"/>
                </a:moveTo>
                <a:lnTo>
                  <a:pt x="12459" y="3517907"/>
                </a:lnTo>
                <a:cubicBezTo>
                  <a:pt x="-79701" y="3913347"/>
                  <a:pt x="358528" y="4218367"/>
                  <a:pt x="697356" y="3994645"/>
                </a:cubicBezTo>
                <a:lnTo>
                  <a:pt x="3110340" y="2401459"/>
                </a:lnTo>
                <a:cubicBezTo>
                  <a:pt x="3344971" y="2246528"/>
                  <a:pt x="3374687" y="1913718"/>
                  <a:pt x="3171231" y="1719666"/>
                </a:cubicBezTo>
                <a:lnTo>
                  <a:pt x="1498580" y="124458"/>
                </a:lnTo>
                <a:cubicBezTo>
                  <a:pt x="1247069" y="-115439"/>
                  <a:pt x="830047" y="9024"/>
                  <a:pt x="751194" y="347569"/>
                </a:cubicBezTo>
                <a:close/>
              </a:path>
            </a:pathLst>
          </a:custGeom>
          <a:solidFill>
            <a:srgbClr val="FEE008"/>
          </a:solidFill>
          <a:ln w="38100" cap="flat">
            <a:noFill/>
            <a:prstDash val="solid"/>
            <a:miter/>
          </a:ln>
        </p:spPr>
        <p:txBody>
          <a:bodyPr rtlCol="0" anchor="ctr"/>
          <a:lstStyle/>
          <a:p>
            <a:endParaRPr lang="en-GB">
              <a:latin typeface="Poppins" panose="00000500000000000000" pitchFamily="2" charset="0"/>
            </a:endParaRPr>
          </a:p>
        </p:txBody>
      </p:sp>
      <p:sp>
        <p:nvSpPr>
          <p:cNvPr id="10" name="Text Placeholder 9">
            <a:extLst>
              <a:ext uri="{FF2B5EF4-FFF2-40B4-BE49-F238E27FC236}">
                <a16:creationId xmlns:a16="http://schemas.microsoft.com/office/drawing/2014/main" id="{CE445D35-6649-1C2F-1FFE-A8A359B39315}"/>
              </a:ext>
            </a:extLst>
          </p:cNvPr>
          <p:cNvSpPr>
            <a:spLocks noGrp="1"/>
          </p:cNvSpPr>
          <p:nvPr>
            <p:ph type="body" sz="quarter" idx="10" hasCustomPrompt="1"/>
          </p:nvPr>
        </p:nvSpPr>
        <p:spPr>
          <a:xfrm>
            <a:off x="479425" y="421823"/>
            <a:ext cx="11084502" cy="843559"/>
          </a:xfrm>
          <a:prstGeom prst="rect">
            <a:avLst/>
          </a:prstGeom>
        </p:spPr>
        <p:txBody>
          <a:bodyPr/>
          <a:lstStyle>
            <a:lvl1pPr marL="0" indent="0">
              <a:buNone/>
              <a:defRPr sz="2400" b="1">
                <a:solidFill>
                  <a:srgbClr val="0057B7"/>
                </a:solidFill>
                <a:latin typeface="Poppins Black" panose="00000A00000000000000" pitchFamily="2" charset="0"/>
                <a:cs typeface="Poppins Black" panose="00000A00000000000000" pitchFamily="2" charset="0"/>
              </a:defRPr>
            </a:lvl1pPr>
          </a:lstStyle>
          <a:p>
            <a:pPr lvl="0"/>
            <a:r>
              <a:rPr lang="it-IT"/>
              <a:t>CLICCA PER INSERIRE IL TITOLO</a:t>
            </a:r>
            <a:endParaRPr lang="en-US"/>
          </a:p>
        </p:txBody>
      </p:sp>
    </p:spTree>
    <p:extLst>
      <p:ext uri="{BB962C8B-B14F-4D97-AF65-F5344CB8AC3E}">
        <p14:creationId xmlns:p14="http://schemas.microsoft.com/office/powerpoint/2010/main" val="419700493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256DEEB-32F0-A4D9-3C46-D77AAC24792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36672" y="6290268"/>
            <a:ext cx="540063" cy="349961"/>
          </a:xfrm>
          <a:prstGeom prst="rect">
            <a:avLst/>
          </a:prstGeom>
        </p:spPr>
      </p:pic>
    </p:spTree>
    <p:extLst>
      <p:ext uri="{BB962C8B-B14F-4D97-AF65-F5344CB8AC3E}">
        <p14:creationId xmlns:p14="http://schemas.microsoft.com/office/powerpoint/2010/main" val="6905274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cover ">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45F68F3-1CD6-B10F-47FC-6AA5053E0D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316377" cy="6858000"/>
          </a:xfrm>
          <a:prstGeom prst="rect">
            <a:avLst/>
          </a:prstGeom>
        </p:spPr>
      </p:pic>
      <p:sp>
        <p:nvSpPr>
          <p:cNvPr id="10" name="Text Placeholder 9">
            <a:extLst>
              <a:ext uri="{FF2B5EF4-FFF2-40B4-BE49-F238E27FC236}">
                <a16:creationId xmlns:a16="http://schemas.microsoft.com/office/drawing/2014/main" id="{339232F0-2B5F-C877-4454-AD97BAEAB934}"/>
              </a:ext>
            </a:extLst>
          </p:cNvPr>
          <p:cNvSpPr>
            <a:spLocks noGrp="1"/>
          </p:cNvSpPr>
          <p:nvPr>
            <p:ph type="body" sz="quarter" idx="10" hasCustomPrompt="1"/>
          </p:nvPr>
        </p:nvSpPr>
        <p:spPr>
          <a:xfrm>
            <a:off x="5493229" y="3184751"/>
            <a:ext cx="5692007" cy="1110157"/>
          </a:xfrm>
          <a:prstGeom prst="rect">
            <a:avLst/>
          </a:prstGeom>
        </p:spPr>
        <p:txBody>
          <a:bodyPr/>
          <a:lstStyle>
            <a:lvl1pPr marL="0" indent="0">
              <a:buNone/>
              <a:defRPr sz="3200">
                <a:solidFill>
                  <a:srgbClr val="0057B7"/>
                </a:solidFill>
                <a:latin typeface="Poppins Black" panose="00000A00000000000000" pitchFamily="2" charset="0"/>
                <a:cs typeface="Poppins Black" panose="00000A00000000000000" pitchFamily="2" charset="0"/>
              </a:defRPr>
            </a:lvl1pPr>
          </a:lstStyle>
          <a:p>
            <a:pPr lvl="0"/>
            <a:r>
              <a:rPr lang="en-US"/>
              <a:t>INSERIRE IL TITOLO</a:t>
            </a:r>
          </a:p>
        </p:txBody>
      </p:sp>
      <p:sp>
        <p:nvSpPr>
          <p:cNvPr id="12" name="Text Placeholder 11">
            <a:extLst>
              <a:ext uri="{FF2B5EF4-FFF2-40B4-BE49-F238E27FC236}">
                <a16:creationId xmlns:a16="http://schemas.microsoft.com/office/drawing/2014/main" id="{75189FC2-6A7B-2459-150A-2F8272A61334}"/>
              </a:ext>
            </a:extLst>
          </p:cNvPr>
          <p:cNvSpPr>
            <a:spLocks noGrp="1"/>
          </p:cNvSpPr>
          <p:nvPr>
            <p:ph type="body" sz="quarter" idx="11" hasCustomPrompt="1"/>
          </p:nvPr>
        </p:nvSpPr>
        <p:spPr>
          <a:xfrm>
            <a:off x="3993356" y="2723356"/>
            <a:ext cx="987425" cy="1192213"/>
          </a:xfrm>
          <a:prstGeom prst="rect">
            <a:avLst/>
          </a:prstGeom>
        </p:spPr>
        <p:txBody>
          <a:bodyPr anchor="ctr" anchorCtr="0"/>
          <a:lstStyle>
            <a:lvl1pPr marL="0" indent="0" algn="ctr">
              <a:buNone/>
              <a:defRPr sz="7200">
                <a:solidFill>
                  <a:srgbClr val="FEE008"/>
                </a:solidFill>
                <a:latin typeface="Poppins Black" panose="00000A00000000000000" pitchFamily="2" charset="0"/>
                <a:cs typeface="Poppins Black" panose="00000A00000000000000" pitchFamily="2" charset="0"/>
              </a:defRPr>
            </a:lvl1pPr>
          </a:lstStyle>
          <a:p>
            <a:pPr lvl="0"/>
            <a:r>
              <a:rPr lang="en-US"/>
              <a:t>1</a:t>
            </a:r>
          </a:p>
        </p:txBody>
      </p:sp>
      <p:sp>
        <p:nvSpPr>
          <p:cNvPr id="14" name="Text Placeholder 13">
            <a:extLst>
              <a:ext uri="{FF2B5EF4-FFF2-40B4-BE49-F238E27FC236}">
                <a16:creationId xmlns:a16="http://schemas.microsoft.com/office/drawing/2014/main" id="{4CE73A65-F036-0A31-1F4E-1B2C7C397863}"/>
              </a:ext>
            </a:extLst>
          </p:cNvPr>
          <p:cNvSpPr>
            <a:spLocks noGrp="1"/>
          </p:cNvSpPr>
          <p:nvPr>
            <p:ph type="body" sz="quarter" idx="12" hasCustomPrompt="1"/>
          </p:nvPr>
        </p:nvSpPr>
        <p:spPr>
          <a:xfrm>
            <a:off x="3657599" y="3676650"/>
            <a:ext cx="1658938" cy="477838"/>
          </a:xfrm>
          <a:prstGeom prst="rect">
            <a:avLst/>
          </a:prstGeom>
        </p:spPr>
        <p:txBody>
          <a:bodyPr/>
          <a:lstStyle>
            <a:lvl1pPr marL="0" indent="0" algn="ctr">
              <a:buNone/>
              <a:defRPr sz="1800" b="1">
                <a:solidFill>
                  <a:srgbClr val="FEE008"/>
                </a:solidFill>
                <a:latin typeface="Poppins" panose="00000500000000000000" pitchFamily="2" charset="0"/>
                <a:cs typeface="Poppins" panose="00000500000000000000" pitchFamily="2" charset="0"/>
              </a:defRPr>
            </a:lvl1pPr>
          </a:lstStyle>
          <a:p>
            <a:pPr lvl="0"/>
            <a:r>
              <a:rPr lang="en-US"/>
              <a:t>SEZIONE</a:t>
            </a:r>
          </a:p>
        </p:txBody>
      </p:sp>
    </p:spTree>
    <p:extLst>
      <p:ext uri="{BB962C8B-B14F-4D97-AF65-F5344CB8AC3E}">
        <p14:creationId xmlns:p14="http://schemas.microsoft.com/office/powerpoint/2010/main" val="4679111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E43143F-1FA9-9147-4A37-F2B222835E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32021" r="20866" b="24125"/>
          <a:stretch>
            <a:fillRect/>
          </a:stretch>
        </p:blipFill>
        <p:spPr>
          <a:xfrm>
            <a:off x="526474" y="0"/>
            <a:ext cx="11665527" cy="6858000"/>
          </a:xfrm>
          <a:prstGeom prst="rect">
            <a:avLst/>
          </a:prstGeom>
        </p:spPr>
      </p:pic>
      <p:pic>
        <p:nvPicPr>
          <p:cNvPr id="11" name="Graphic 10">
            <a:extLst>
              <a:ext uri="{FF2B5EF4-FFF2-40B4-BE49-F238E27FC236}">
                <a16:creationId xmlns:a16="http://schemas.microsoft.com/office/drawing/2014/main" id="{70E37684-AA9F-3D47-689B-5E64B8A56B7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01548" y="2692015"/>
            <a:ext cx="2988905" cy="718363"/>
          </a:xfrm>
          <a:prstGeom prst="rect">
            <a:avLst/>
          </a:prstGeom>
        </p:spPr>
      </p:pic>
      <p:sp>
        <p:nvSpPr>
          <p:cNvPr id="13" name="Text Placeholder 12">
            <a:extLst>
              <a:ext uri="{FF2B5EF4-FFF2-40B4-BE49-F238E27FC236}">
                <a16:creationId xmlns:a16="http://schemas.microsoft.com/office/drawing/2014/main" id="{4C45B5DF-3155-7FAC-C93A-78516E5E6319}"/>
              </a:ext>
            </a:extLst>
          </p:cNvPr>
          <p:cNvSpPr>
            <a:spLocks noGrp="1"/>
          </p:cNvSpPr>
          <p:nvPr>
            <p:ph type="body" sz="quarter" idx="10" hasCustomPrompt="1"/>
          </p:nvPr>
        </p:nvSpPr>
        <p:spPr>
          <a:xfrm>
            <a:off x="4298950" y="3658167"/>
            <a:ext cx="3594100" cy="914400"/>
          </a:xfrm>
          <a:prstGeom prst="rect">
            <a:avLst/>
          </a:prstGeom>
        </p:spPr>
        <p:txBody>
          <a:bodyPr/>
          <a:lstStyle>
            <a:lvl1pPr marL="0" indent="0" algn="ctr">
              <a:lnSpc>
                <a:spcPct val="100000"/>
              </a:lnSpc>
              <a:buNone/>
              <a:defRPr sz="1400">
                <a:solidFill>
                  <a:schemeClr val="tx1">
                    <a:lumMod val="65000"/>
                    <a:lumOff val="35000"/>
                  </a:schemeClr>
                </a:solidFill>
                <a:latin typeface="Poppins" panose="00000500000000000000" pitchFamily="2" charset="0"/>
                <a:cs typeface="Poppins" panose="00000500000000000000" pitchFamily="2" charset="0"/>
              </a:defRPr>
            </a:lvl1pPr>
            <a:lvl2pPr marL="4572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2pPr>
            <a:lvl3pPr marL="9144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3pPr>
            <a:lvl4pPr marL="13716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4pPr>
            <a:lvl5pPr marL="1828800" indent="0" algn="ctr">
              <a:buNone/>
              <a:defRPr sz="1400">
                <a:solidFill>
                  <a:schemeClr val="tx1">
                    <a:lumMod val="65000"/>
                    <a:lumOff val="35000"/>
                  </a:schemeClr>
                </a:solidFill>
                <a:latin typeface="Poppins" panose="00000500000000000000" pitchFamily="2" charset="0"/>
                <a:cs typeface="Poppins" panose="00000500000000000000" pitchFamily="2" charset="0"/>
              </a:defRPr>
            </a:lvl5pPr>
          </a:lstStyle>
          <a:p>
            <a:pPr lvl="0"/>
            <a:r>
              <a:rPr lang="en-US"/>
              <a:t>Website </a:t>
            </a:r>
          </a:p>
          <a:p>
            <a:pPr lvl="0"/>
            <a:r>
              <a:rPr lang="en-US"/>
              <a:t>Mail address</a:t>
            </a:r>
          </a:p>
        </p:txBody>
      </p:sp>
    </p:spTree>
    <p:extLst>
      <p:ext uri="{BB962C8B-B14F-4D97-AF65-F5344CB8AC3E}">
        <p14:creationId xmlns:p14="http://schemas.microsoft.com/office/powerpoint/2010/main" val="11389628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Graph + text 1">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A022E248-D134-43F6-AF03-47640BAEA359}"/>
              </a:ext>
            </a:extLst>
          </p:cNvPr>
          <p:cNvSpPr>
            <a:spLocks noGrp="1"/>
          </p:cNvSpPr>
          <p:nvPr>
            <p:ph type="chart" sz="quarter" idx="13"/>
          </p:nvPr>
        </p:nvSpPr>
        <p:spPr>
          <a:xfrm>
            <a:off x="812798" y="1208660"/>
            <a:ext cx="10585449" cy="3171805"/>
          </a:xfrm>
          <a:prstGeom prst="rect">
            <a:avLst/>
          </a:prstGeom>
        </p:spPr>
        <p:txBody>
          <a:bodyPr/>
          <a:lstStyle>
            <a:lvl1pPr>
              <a:defRPr>
                <a:latin typeface="+mj-lt"/>
              </a:defRPr>
            </a:lvl1pPr>
          </a:lstStyle>
          <a:p>
            <a:endParaRPr lang="it-IT" noProof="0"/>
          </a:p>
        </p:txBody>
      </p:sp>
      <p:sp>
        <p:nvSpPr>
          <p:cNvPr id="9" name="–Giovanni Mela">
            <a:extLst>
              <a:ext uri="{FF2B5EF4-FFF2-40B4-BE49-F238E27FC236}">
                <a16:creationId xmlns:a16="http://schemas.microsoft.com/office/drawing/2014/main" id="{97D550F6-61CE-4C36-ADB7-9A48A7EDAF64}"/>
              </a:ext>
            </a:extLst>
          </p:cNvPr>
          <p:cNvSpPr txBox="1">
            <a:spLocks noGrp="1"/>
          </p:cNvSpPr>
          <p:nvPr>
            <p:ph type="body" sz="quarter" idx="21"/>
          </p:nvPr>
        </p:nvSpPr>
        <p:spPr>
          <a:xfrm>
            <a:off x="924669" y="4688687"/>
            <a:ext cx="3361579" cy="315984"/>
          </a:xfrm>
          <a:prstGeom prst="rect">
            <a:avLst/>
          </a:prstGeom>
        </p:spPr>
        <p:txBody>
          <a:bodyPr wrap="square" anchor="ctr">
            <a:spAutoFit/>
          </a:bodyPr>
          <a:lstStyle>
            <a:lvl1pPr marL="0" indent="0" algn="l">
              <a:spcBef>
                <a:spcPts val="0"/>
              </a:spcBef>
              <a:buSzTx/>
              <a:buNone/>
              <a:defRPr sz="1600" b="1" i="0" cap="all" spc="0" baseline="0">
                <a:solidFill>
                  <a:srgbClr val="0057B7"/>
                </a:solidFill>
                <a:latin typeface="+mj-lt"/>
                <a:cs typeface="Poppins" panose="00000500000000000000" pitchFamily="2" charset="0"/>
              </a:defRPr>
            </a:lvl1pPr>
          </a:lstStyle>
          <a:p>
            <a:endParaRPr lang="it-IT" noProof="0"/>
          </a:p>
        </p:txBody>
      </p:sp>
      <p:sp>
        <p:nvSpPr>
          <p:cNvPr id="12" name="Text Placeholder 11">
            <a:extLst>
              <a:ext uri="{FF2B5EF4-FFF2-40B4-BE49-F238E27FC236}">
                <a16:creationId xmlns:a16="http://schemas.microsoft.com/office/drawing/2014/main" id="{1F124172-AECC-440B-A927-78C5769B2FD3}"/>
              </a:ext>
            </a:extLst>
          </p:cNvPr>
          <p:cNvSpPr>
            <a:spLocks noGrp="1"/>
          </p:cNvSpPr>
          <p:nvPr>
            <p:ph type="body" sz="quarter" idx="22" hasCustomPrompt="1"/>
          </p:nvPr>
        </p:nvSpPr>
        <p:spPr>
          <a:xfrm>
            <a:off x="803275" y="5171440"/>
            <a:ext cx="10585450" cy="1167627"/>
          </a:xfrm>
          <a:prstGeom prst="rect">
            <a:avLst/>
          </a:prstGeom>
        </p:spPr>
        <p:txBody>
          <a:bodyPr/>
          <a:lstStyle>
            <a:lvl1pPr marL="0" indent="0">
              <a:buNone/>
              <a:defRPr sz="1400">
                <a:latin typeface="+mj-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it-IT" noProof="0"/>
              <a:t>Click to insert text</a:t>
            </a:r>
          </a:p>
        </p:txBody>
      </p:sp>
      <p:pic>
        <p:nvPicPr>
          <p:cNvPr id="21" name="Graphic 20">
            <a:extLst>
              <a:ext uri="{FF2B5EF4-FFF2-40B4-BE49-F238E27FC236}">
                <a16:creationId xmlns:a16="http://schemas.microsoft.com/office/drawing/2014/main" id="{E4648DF0-9D61-471A-8C70-B5E75B5114C7}"/>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35704" y="251749"/>
            <a:ext cx="691637" cy="448181"/>
          </a:xfrm>
          <a:prstGeom prst="rect">
            <a:avLst/>
          </a:prstGeom>
        </p:spPr>
      </p:pic>
      <p:pic>
        <p:nvPicPr>
          <p:cNvPr id="22" name="Graphic 21">
            <a:extLst>
              <a:ext uri="{FF2B5EF4-FFF2-40B4-BE49-F238E27FC236}">
                <a16:creationId xmlns:a16="http://schemas.microsoft.com/office/drawing/2014/main" id="{0D232D21-8F27-4DCC-957D-F8022B98552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23939" t="15795" r="17879" b="19116"/>
          <a:stretch/>
        </p:blipFill>
        <p:spPr>
          <a:xfrm>
            <a:off x="0" y="84700"/>
            <a:ext cx="510876" cy="782278"/>
          </a:xfrm>
          <a:prstGeom prst="rect">
            <a:avLst/>
          </a:prstGeom>
        </p:spPr>
      </p:pic>
      <p:sp>
        <p:nvSpPr>
          <p:cNvPr id="23" name="Text Placeholder 10">
            <a:extLst>
              <a:ext uri="{FF2B5EF4-FFF2-40B4-BE49-F238E27FC236}">
                <a16:creationId xmlns:a16="http://schemas.microsoft.com/office/drawing/2014/main" id="{64C09D50-A39F-4AD2-8F7B-6E835C3E022B}"/>
              </a:ext>
            </a:extLst>
          </p:cNvPr>
          <p:cNvSpPr>
            <a:spLocks noGrp="1"/>
          </p:cNvSpPr>
          <p:nvPr>
            <p:ph type="body" sz="quarter" idx="11" hasCustomPrompt="1"/>
          </p:nvPr>
        </p:nvSpPr>
        <p:spPr>
          <a:xfrm>
            <a:off x="812800" y="251666"/>
            <a:ext cx="10260000" cy="782638"/>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stStyle>
          <a:p>
            <a:pPr lvl="0"/>
            <a:r>
              <a:rPr lang="it-IT" noProof="0"/>
              <a:t>Click to </a:t>
            </a:r>
            <a:r>
              <a:rPr lang="it-IT" noProof="0" err="1"/>
              <a:t>insert</a:t>
            </a:r>
            <a:r>
              <a:rPr lang="it-IT" noProof="0"/>
              <a:t> </a:t>
            </a:r>
            <a:r>
              <a:rPr lang="it-IT" noProof="0" err="1"/>
              <a:t>title</a:t>
            </a:r>
            <a:endParaRPr lang="it-IT" noProof="0"/>
          </a:p>
        </p:txBody>
      </p:sp>
      <p:cxnSp>
        <p:nvCxnSpPr>
          <p:cNvPr id="24" name="Straight Connector 23">
            <a:extLst>
              <a:ext uri="{FF2B5EF4-FFF2-40B4-BE49-F238E27FC236}">
                <a16:creationId xmlns:a16="http://schemas.microsoft.com/office/drawing/2014/main" id="{893C6CFB-61B7-4C5D-86D0-6E6D9D82B90E}"/>
              </a:ext>
            </a:extLst>
          </p:cNvPr>
          <p:cNvCxnSpPr>
            <a:cxnSpLocks/>
          </p:cNvCxnSpPr>
          <p:nvPr userDrawn="1"/>
        </p:nvCxnSpPr>
        <p:spPr>
          <a:xfrm>
            <a:off x="51955" y="1124051"/>
            <a:ext cx="12140045" cy="0"/>
          </a:xfrm>
          <a:prstGeom prst="line">
            <a:avLst/>
          </a:prstGeom>
          <a:ln w="19050">
            <a:gradFill flip="none" rotWithShape="1">
              <a:gsLst>
                <a:gs pos="17000">
                  <a:srgbClr val="FFFFFF"/>
                </a:gs>
                <a:gs pos="44000">
                  <a:srgbClr val="FAE019"/>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44F9104-1326-4D9A-BEA5-C427B58BC1AD}"/>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11594" t="-389" r="38007" b="67389"/>
          <a:stretch/>
        </p:blipFill>
        <p:spPr>
          <a:xfrm>
            <a:off x="11429999" y="6248401"/>
            <a:ext cx="762001" cy="609600"/>
          </a:xfrm>
          <a:prstGeom prst="rect">
            <a:avLst/>
          </a:prstGeom>
        </p:spPr>
      </p:pic>
      <p:sp>
        <p:nvSpPr>
          <p:cNvPr id="14" name="Numero diapositiva">
            <a:extLst>
              <a:ext uri="{FF2B5EF4-FFF2-40B4-BE49-F238E27FC236}">
                <a16:creationId xmlns:a16="http://schemas.microsoft.com/office/drawing/2014/main" id="{1549D942-C7F7-44A0-B833-234596EF1956}"/>
              </a:ext>
            </a:extLst>
          </p:cNvPr>
          <p:cNvSpPr txBox="1">
            <a:spLocks noGrp="1"/>
          </p:cNvSpPr>
          <p:nvPr>
            <p:ph type="sldNum" sz="quarter" idx="2"/>
          </p:nvPr>
        </p:nvSpPr>
        <p:spPr>
          <a:xfrm>
            <a:off x="11614996" y="6443521"/>
            <a:ext cx="409933" cy="272589"/>
          </a:xfrm>
          <a:prstGeom prst="rect">
            <a:avLst/>
          </a:prstGeom>
        </p:spPr>
        <p:txBody>
          <a:bodyPr anchor="ctr"/>
          <a:lstStyle>
            <a:lvl1pPr algn="ctr">
              <a:defRPr lang="it-IT" sz="1200" b="0" i="0" smtClean="0">
                <a:solidFill>
                  <a:srgbClr val="0057B7"/>
                </a:solidFill>
                <a:latin typeface="+mj-lt"/>
                <a:cs typeface="Poppins Medium" panose="02000000000000000000" pitchFamily="2" charset="77"/>
              </a:defRPr>
            </a:lvl1pPr>
          </a:lstStyle>
          <a:p>
            <a:fld id="{86CB4B4D-7CA3-9044-876B-883B54F8677D}" type="slidenum">
              <a:rPr lang="it-IT" smtClean="0"/>
              <a:pPr/>
              <a:t>‹N›</a:t>
            </a:fld>
            <a:endParaRPr lang="it-IT"/>
          </a:p>
        </p:txBody>
      </p:sp>
    </p:spTree>
    <p:extLst>
      <p:ext uri="{BB962C8B-B14F-4D97-AF65-F5344CB8AC3E}">
        <p14:creationId xmlns:p14="http://schemas.microsoft.com/office/powerpoint/2010/main" val="2372486248"/>
      </p:ext>
    </p:extLst>
  </p:cSld>
  <p:clrMapOvr>
    <a:masterClrMapping/>
  </p:clrMapOvr>
  <p:extLst>
    <p:ext uri="{DCECCB84-F9BA-43D5-87BE-67443E8EF086}">
      <p15:sldGuideLst xmlns:p15="http://schemas.microsoft.com/office/powerpoint/2012/main">
        <p15:guide id="1" pos="3840">
          <p15:clr>
            <a:srgbClr val="FBAE40"/>
          </p15:clr>
        </p15:guide>
        <p15:guide id="2" pos="506">
          <p15:clr>
            <a:srgbClr val="FBAE40"/>
          </p15:clr>
        </p15:guide>
        <p15:guide id="3" pos="7174">
          <p15:clr>
            <a:srgbClr val="FBAE40"/>
          </p15:clr>
        </p15:guide>
        <p15:guide id="4" orient="horz" pos="4065">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Title + Text">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6F232F7E-6F78-4065-94B8-6E0B4DC8046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35704" y="251749"/>
            <a:ext cx="691637" cy="448181"/>
          </a:xfrm>
          <a:prstGeom prst="rect">
            <a:avLst/>
          </a:prstGeom>
        </p:spPr>
      </p:pic>
      <p:pic>
        <p:nvPicPr>
          <p:cNvPr id="14" name="Graphic 13">
            <a:extLst>
              <a:ext uri="{FF2B5EF4-FFF2-40B4-BE49-F238E27FC236}">
                <a16:creationId xmlns:a16="http://schemas.microsoft.com/office/drawing/2014/main" id="{428D0819-9845-4656-A1AC-CC20C6A7853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23939" t="15795" r="17879" b="19116"/>
          <a:stretch/>
        </p:blipFill>
        <p:spPr>
          <a:xfrm>
            <a:off x="0" y="84700"/>
            <a:ext cx="510876" cy="782278"/>
          </a:xfrm>
          <a:prstGeom prst="rect">
            <a:avLst/>
          </a:prstGeom>
        </p:spPr>
      </p:pic>
      <p:sp>
        <p:nvSpPr>
          <p:cNvPr id="15" name="Text Placeholder 10">
            <a:extLst>
              <a:ext uri="{FF2B5EF4-FFF2-40B4-BE49-F238E27FC236}">
                <a16:creationId xmlns:a16="http://schemas.microsoft.com/office/drawing/2014/main" id="{7690829A-0A96-4EF8-B20B-ACD718D9DF80}"/>
              </a:ext>
            </a:extLst>
          </p:cNvPr>
          <p:cNvSpPr>
            <a:spLocks noGrp="1"/>
          </p:cNvSpPr>
          <p:nvPr>
            <p:ph type="body" sz="quarter" idx="11" hasCustomPrompt="1"/>
          </p:nvPr>
        </p:nvSpPr>
        <p:spPr>
          <a:xfrm>
            <a:off x="812800" y="252000"/>
            <a:ext cx="10260000" cy="782638"/>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stStyle>
          <a:p>
            <a:pPr lvl="0"/>
            <a:r>
              <a:rPr lang="it-IT" noProof="0"/>
              <a:t>Click to </a:t>
            </a:r>
            <a:r>
              <a:rPr lang="it-IT" noProof="0" err="1"/>
              <a:t>insert</a:t>
            </a:r>
            <a:r>
              <a:rPr lang="it-IT" noProof="0"/>
              <a:t> </a:t>
            </a:r>
            <a:r>
              <a:rPr lang="it-IT" noProof="0" err="1"/>
              <a:t>title</a:t>
            </a:r>
            <a:endParaRPr lang="it-IT" noProof="0"/>
          </a:p>
          <a:p>
            <a:pPr lvl="0"/>
            <a:r>
              <a:rPr lang="it-IT" noProof="0"/>
              <a:t>Click to </a:t>
            </a:r>
            <a:r>
              <a:rPr lang="it-IT" noProof="0" err="1"/>
              <a:t>insert</a:t>
            </a:r>
            <a:r>
              <a:rPr lang="it-IT" noProof="0"/>
              <a:t> </a:t>
            </a:r>
            <a:r>
              <a:rPr lang="it-IT" noProof="0" err="1"/>
              <a:t>title</a:t>
            </a:r>
            <a:endParaRPr lang="it-IT" noProof="0"/>
          </a:p>
        </p:txBody>
      </p:sp>
      <p:pic>
        <p:nvPicPr>
          <p:cNvPr id="18" name="Picture 17">
            <a:extLst>
              <a:ext uri="{FF2B5EF4-FFF2-40B4-BE49-F238E27FC236}">
                <a16:creationId xmlns:a16="http://schemas.microsoft.com/office/drawing/2014/main" id="{7FB42180-27FA-480F-A6DE-8FCFA323F71A}"/>
              </a:ext>
            </a:extLst>
          </p:cNvPr>
          <p:cNvPicPr>
            <a:picLocks noChangeAspect="1"/>
          </p:cNvPicPr>
          <p:nvPr userDrawn="1"/>
        </p:nvPicPr>
        <p:blipFill rotWithShape="1">
          <a:blip r:embed="rId6"/>
          <a:srcRect l="11594" t="-389" r="38007" b="67389"/>
          <a:stretch/>
        </p:blipFill>
        <p:spPr>
          <a:xfrm>
            <a:off x="11429999" y="6248401"/>
            <a:ext cx="762001" cy="609600"/>
          </a:xfrm>
          <a:prstGeom prst="rect">
            <a:avLst/>
          </a:prstGeom>
        </p:spPr>
      </p:pic>
      <p:cxnSp>
        <p:nvCxnSpPr>
          <p:cNvPr id="9" name="Straight Connector 8">
            <a:extLst>
              <a:ext uri="{FF2B5EF4-FFF2-40B4-BE49-F238E27FC236}">
                <a16:creationId xmlns:a16="http://schemas.microsoft.com/office/drawing/2014/main" id="{FE3C4335-473B-4FD1-AF00-4C2E4CD75B06}"/>
              </a:ext>
            </a:extLst>
          </p:cNvPr>
          <p:cNvCxnSpPr>
            <a:cxnSpLocks/>
          </p:cNvCxnSpPr>
          <p:nvPr userDrawn="1"/>
        </p:nvCxnSpPr>
        <p:spPr>
          <a:xfrm>
            <a:off x="51955" y="1124051"/>
            <a:ext cx="12140045" cy="0"/>
          </a:xfrm>
          <a:prstGeom prst="line">
            <a:avLst/>
          </a:prstGeom>
          <a:ln w="19050">
            <a:gradFill flip="none" rotWithShape="1">
              <a:gsLst>
                <a:gs pos="17000">
                  <a:srgbClr val="FFFFFF"/>
                </a:gs>
                <a:gs pos="44000">
                  <a:srgbClr val="FAE019"/>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0" name="Numero diapositiva">
            <a:extLst>
              <a:ext uri="{FF2B5EF4-FFF2-40B4-BE49-F238E27FC236}">
                <a16:creationId xmlns:a16="http://schemas.microsoft.com/office/drawing/2014/main" id="{5A78D725-2114-4BE0-857B-6DB065A18978}"/>
              </a:ext>
            </a:extLst>
          </p:cNvPr>
          <p:cNvSpPr txBox="1">
            <a:spLocks noGrp="1"/>
          </p:cNvSpPr>
          <p:nvPr>
            <p:ph type="sldNum" sz="quarter" idx="2"/>
          </p:nvPr>
        </p:nvSpPr>
        <p:spPr>
          <a:xfrm>
            <a:off x="11614996" y="6443521"/>
            <a:ext cx="409933" cy="272589"/>
          </a:xfrm>
          <a:prstGeom prst="rect">
            <a:avLst/>
          </a:prstGeom>
        </p:spPr>
        <p:txBody>
          <a:bodyPr anchor="ctr"/>
          <a:lstStyle>
            <a:lvl1pPr algn="ctr">
              <a:defRPr lang="it-IT" sz="1200" b="0" i="0" smtClean="0">
                <a:solidFill>
                  <a:srgbClr val="0057B7"/>
                </a:solidFill>
                <a:latin typeface="+mj-lt"/>
                <a:cs typeface="Poppins Medium" panose="02000000000000000000" pitchFamily="2" charset="77"/>
              </a:defRPr>
            </a:lvl1pPr>
          </a:lstStyle>
          <a:p>
            <a:fld id="{86CB4B4D-7CA3-9044-876B-883B54F8677D}" type="slidenum">
              <a:rPr lang="it-IT" noProof="0" smtClean="0"/>
              <a:pPr/>
              <a:t>‹N›</a:t>
            </a:fld>
            <a:endParaRPr lang="it-IT" noProof="0"/>
          </a:p>
        </p:txBody>
      </p:sp>
      <p:sp>
        <p:nvSpPr>
          <p:cNvPr id="11" name="Segnaposto testo 11">
            <a:extLst>
              <a:ext uri="{FF2B5EF4-FFF2-40B4-BE49-F238E27FC236}">
                <a16:creationId xmlns:a16="http://schemas.microsoft.com/office/drawing/2014/main" id="{0BC452F7-DAC0-4333-B8BE-35F497F1D8F0}"/>
              </a:ext>
            </a:extLst>
          </p:cNvPr>
          <p:cNvSpPr>
            <a:spLocks noGrp="1"/>
          </p:cNvSpPr>
          <p:nvPr>
            <p:ph type="body" sz="quarter" idx="10" hasCustomPrompt="1"/>
          </p:nvPr>
        </p:nvSpPr>
        <p:spPr>
          <a:xfrm>
            <a:off x="812799" y="1198829"/>
            <a:ext cx="10575926" cy="4585653"/>
          </a:xfrm>
          <a:prstGeom prst="rect">
            <a:avLst/>
          </a:prstGeom>
        </p:spPr>
        <p:txBody>
          <a:bodyPr/>
          <a:lstStyle>
            <a:lvl1pPr marL="0">
              <a:lnSpc>
                <a:spcPct val="100000"/>
              </a:lnSpc>
              <a:spcBef>
                <a:spcPts val="0"/>
              </a:spcBef>
              <a:buNone/>
              <a:defRPr sz="1600" b="0" i="0">
                <a:solidFill>
                  <a:srgbClr val="0057B7"/>
                </a:solidFill>
                <a:latin typeface="+mj-lt"/>
                <a:cs typeface="Poppins" panose="00000500000000000000" pitchFamily="2" charset="0"/>
              </a:defRPr>
            </a:lvl1pPr>
            <a:lvl2pPr marL="0" indent="0">
              <a:lnSpc>
                <a:spcPct val="100000"/>
              </a:lnSpc>
              <a:spcBef>
                <a:spcPts val="0"/>
              </a:spcBef>
              <a:buNone/>
              <a:defRPr sz="1600" b="0" i="0">
                <a:solidFill>
                  <a:srgbClr val="0057B7"/>
                </a:solidFill>
                <a:latin typeface="+mj-lt"/>
                <a:cs typeface="Poppins" panose="00000500000000000000" pitchFamily="2" charset="0"/>
              </a:defRPr>
            </a:lvl2pPr>
            <a:lvl3pPr marL="0" indent="0">
              <a:lnSpc>
                <a:spcPct val="100000"/>
              </a:lnSpc>
              <a:spcBef>
                <a:spcPts val="0"/>
              </a:spcBef>
              <a:buNone/>
              <a:defRPr sz="1600" b="0" i="0">
                <a:solidFill>
                  <a:srgbClr val="0057B7"/>
                </a:solidFill>
                <a:latin typeface="+mj-lt"/>
                <a:cs typeface="Poppins" panose="00000500000000000000" pitchFamily="2" charset="0"/>
              </a:defRPr>
            </a:lvl3pPr>
            <a:lvl4pPr marL="0" indent="0">
              <a:lnSpc>
                <a:spcPct val="100000"/>
              </a:lnSpc>
              <a:spcBef>
                <a:spcPts val="0"/>
              </a:spcBef>
              <a:buNone/>
              <a:defRPr sz="1600" b="0" i="0">
                <a:solidFill>
                  <a:srgbClr val="0057B7"/>
                </a:solidFill>
                <a:latin typeface="+mj-lt"/>
                <a:cs typeface="Poppins" panose="00000500000000000000" pitchFamily="2" charset="0"/>
              </a:defRPr>
            </a:lvl4pPr>
            <a:lvl5pPr marL="0" indent="0">
              <a:lnSpc>
                <a:spcPct val="100000"/>
              </a:lnSpc>
              <a:spcBef>
                <a:spcPts val="0"/>
              </a:spcBef>
              <a:buNone/>
              <a:defRPr sz="1600" b="0" i="0">
                <a:solidFill>
                  <a:srgbClr val="0057B7"/>
                </a:solidFill>
                <a:latin typeface="+mj-lt"/>
                <a:cs typeface="Poppins" panose="00000500000000000000" pitchFamily="2" charset="0"/>
              </a:defRPr>
            </a:lvl5pPr>
          </a:lstStyle>
          <a:p>
            <a:pPr lvl="0"/>
            <a:r>
              <a:rPr lang="it-IT" noProof="0"/>
              <a:t>Fare clic per modificare gli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p>
        </p:txBody>
      </p:sp>
    </p:spTree>
    <p:extLst>
      <p:ext uri="{BB962C8B-B14F-4D97-AF65-F5344CB8AC3E}">
        <p14:creationId xmlns:p14="http://schemas.microsoft.com/office/powerpoint/2010/main" val="3691984614"/>
      </p:ext>
    </p:extLst>
  </p:cSld>
  <p:clrMapOvr>
    <a:masterClrMapping/>
  </p:clrMapOvr>
  <p:extLst>
    <p:ext uri="{DCECCB84-F9BA-43D5-87BE-67443E8EF086}">
      <p15:sldGuideLst xmlns:p15="http://schemas.microsoft.com/office/powerpoint/2012/main">
        <p15:guide id="1" orient="horz" pos="4065">
          <p15:clr>
            <a:srgbClr val="FBAE40"/>
          </p15:clr>
        </p15:guide>
        <p15:guide id="2" orient="horz" pos="731">
          <p15:clr>
            <a:srgbClr val="FBAE40"/>
          </p15:clr>
        </p15:guide>
        <p15:guide id="3" pos="7174">
          <p15:clr>
            <a:srgbClr val="FBAE40"/>
          </p15:clr>
        </p15:guide>
        <p15:guide id="4" pos="50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44824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FB42180-27FA-480F-A6DE-8FCFA323F71A}"/>
              </a:ext>
            </a:extLst>
          </p:cNvPr>
          <p:cNvPicPr>
            <a:picLocks noChangeAspect="1"/>
          </p:cNvPicPr>
          <p:nvPr userDrawn="1"/>
        </p:nvPicPr>
        <p:blipFill rotWithShape="1">
          <a:blip r:embed="rId2"/>
          <a:srcRect l="11594" t="-389" r="38007" b="67389"/>
          <a:stretch/>
        </p:blipFill>
        <p:spPr>
          <a:xfrm>
            <a:off x="11429999" y="6248401"/>
            <a:ext cx="762001" cy="609600"/>
          </a:xfrm>
          <a:prstGeom prst="rect">
            <a:avLst/>
          </a:prstGeom>
        </p:spPr>
      </p:pic>
      <p:sp>
        <p:nvSpPr>
          <p:cNvPr id="5" name="Numero diapositiva">
            <a:extLst>
              <a:ext uri="{FF2B5EF4-FFF2-40B4-BE49-F238E27FC236}">
                <a16:creationId xmlns:a16="http://schemas.microsoft.com/office/drawing/2014/main" id="{404CD3DD-58C9-45F4-A400-1E08D0FFC592}"/>
              </a:ext>
            </a:extLst>
          </p:cNvPr>
          <p:cNvSpPr txBox="1">
            <a:spLocks noGrp="1"/>
          </p:cNvSpPr>
          <p:nvPr>
            <p:ph type="sldNum" sz="quarter" idx="2"/>
          </p:nvPr>
        </p:nvSpPr>
        <p:spPr>
          <a:xfrm>
            <a:off x="11614996" y="6443521"/>
            <a:ext cx="409933" cy="272589"/>
          </a:xfrm>
          <a:prstGeom prst="rect">
            <a:avLst/>
          </a:prstGeom>
        </p:spPr>
        <p:txBody>
          <a:bodyPr anchor="ctr"/>
          <a:lstStyle>
            <a:lvl1pPr algn="ctr">
              <a:defRPr lang="it-IT" sz="1200" b="0" i="0" smtClean="0">
                <a:solidFill>
                  <a:srgbClr val="0057B7"/>
                </a:solidFill>
                <a:latin typeface="+mj-lt"/>
                <a:cs typeface="Poppins Medium" panose="02000000000000000000" pitchFamily="2" charset="77"/>
              </a:defRPr>
            </a:lvl1pPr>
          </a:lstStyle>
          <a:p>
            <a:fld id="{86CB4B4D-7CA3-9044-876B-883B54F8677D}" type="slidenum">
              <a:rPr lang="it-IT" smtClean="0"/>
              <a:pPr/>
              <a:t>‹N›</a:t>
            </a:fld>
            <a:endParaRPr lang="it-IT"/>
          </a:p>
        </p:txBody>
      </p:sp>
      <p:pic>
        <p:nvPicPr>
          <p:cNvPr id="13" name="Graphic 12">
            <a:extLst>
              <a:ext uri="{FF2B5EF4-FFF2-40B4-BE49-F238E27FC236}">
                <a16:creationId xmlns:a16="http://schemas.microsoft.com/office/drawing/2014/main" id="{6F232F7E-6F78-4065-94B8-6E0B4DC80463}"/>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35704" y="251749"/>
            <a:ext cx="691637" cy="448181"/>
          </a:xfrm>
          <a:prstGeom prst="rect">
            <a:avLst/>
          </a:prstGeom>
        </p:spPr>
      </p:pic>
      <p:pic>
        <p:nvPicPr>
          <p:cNvPr id="14" name="Graphic 13">
            <a:extLst>
              <a:ext uri="{FF2B5EF4-FFF2-40B4-BE49-F238E27FC236}">
                <a16:creationId xmlns:a16="http://schemas.microsoft.com/office/drawing/2014/main" id="{428D0819-9845-4656-A1AC-CC20C6A7853A}"/>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l="23939" t="15795" r="17879" b="19116"/>
          <a:stretch/>
        </p:blipFill>
        <p:spPr>
          <a:xfrm>
            <a:off x="0" y="84700"/>
            <a:ext cx="510876" cy="782278"/>
          </a:xfrm>
          <a:prstGeom prst="rect">
            <a:avLst/>
          </a:prstGeom>
        </p:spPr>
      </p:pic>
      <p:sp>
        <p:nvSpPr>
          <p:cNvPr id="15" name="Text Placeholder 10">
            <a:extLst>
              <a:ext uri="{FF2B5EF4-FFF2-40B4-BE49-F238E27FC236}">
                <a16:creationId xmlns:a16="http://schemas.microsoft.com/office/drawing/2014/main" id="{7690829A-0A96-4EF8-B20B-ACD718D9DF80}"/>
              </a:ext>
            </a:extLst>
          </p:cNvPr>
          <p:cNvSpPr>
            <a:spLocks noGrp="1"/>
          </p:cNvSpPr>
          <p:nvPr>
            <p:ph type="body" sz="quarter" idx="11" hasCustomPrompt="1"/>
          </p:nvPr>
        </p:nvSpPr>
        <p:spPr>
          <a:xfrm>
            <a:off x="812800" y="252000"/>
            <a:ext cx="10260000" cy="782638"/>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stStyle>
          <a:p>
            <a:pPr lvl="0"/>
            <a:r>
              <a:rPr lang="it-IT" noProof="0"/>
              <a:t>Click to </a:t>
            </a:r>
            <a:r>
              <a:rPr lang="it-IT" noProof="0" err="1"/>
              <a:t>insert</a:t>
            </a:r>
            <a:r>
              <a:rPr lang="it-IT" noProof="0"/>
              <a:t> </a:t>
            </a:r>
            <a:r>
              <a:rPr lang="it-IT" noProof="0" err="1"/>
              <a:t>title</a:t>
            </a:r>
            <a:endParaRPr lang="it-IT" noProof="0"/>
          </a:p>
          <a:p>
            <a:pPr lvl="0"/>
            <a:r>
              <a:rPr lang="it-IT" noProof="0"/>
              <a:t>Click to </a:t>
            </a:r>
            <a:r>
              <a:rPr lang="it-IT" noProof="0" err="1"/>
              <a:t>insert</a:t>
            </a:r>
            <a:r>
              <a:rPr lang="it-IT" noProof="0"/>
              <a:t> </a:t>
            </a:r>
            <a:r>
              <a:rPr lang="it-IT" noProof="0" err="1"/>
              <a:t>title</a:t>
            </a:r>
            <a:endParaRPr lang="it-IT" noProof="0"/>
          </a:p>
        </p:txBody>
      </p:sp>
      <p:cxnSp>
        <p:nvCxnSpPr>
          <p:cNvPr id="8" name="Straight Connector 7">
            <a:extLst>
              <a:ext uri="{FF2B5EF4-FFF2-40B4-BE49-F238E27FC236}">
                <a16:creationId xmlns:a16="http://schemas.microsoft.com/office/drawing/2014/main" id="{D6BF26BD-7779-4D41-A105-F64D24CDA5F5}"/>
              </a:ext>
            </a:extLst>
          </p:cNvPr>
          <p:cNvCxnSpPr>
            <a:cxnSpLocks/>
          </p:cNvCxnSpPr>
          <p:nvPr userDrawn="1"/>
        </p:nvCxnSpPr>
        <p:spPr>
          <a:xfrm>
            <a:off x="51955" y="1124051"/>
            <a:ext cx="12140045" cy="0"/>
          </a:xfrm>
          <a:prstGeom prst="line">
            <a:avLst/>
          </a:prstGeom>
          <a:ln w="19050">
            <a:gradFill flip="none" rotWithShape="1">
              <a:gsLst>
                <a:gs pos="17000">
                  <a:srgbClr val="FFFFFF"/>
                </a:gs>
                <a:gs pos="44000">
                  <a:srgbClr val="FAE019"/>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6971098"/>
      </p:ext>
    </p:extLst>
  </p:cSld>
  <p:clrMapOvr>
    <a:masterClrMapping/>
  </p:clrMapOvr>
  <p:extLst>
    <p:ext uri="{DCECCB84-F9BA-43D5-87BE-67443E8EF086}">
      <p15:sldGuideLst xmlns:p15="http://schemas.microsoft.com/office/powerpoint/2012/main">
        <p15:guide id="1" orient="horz" pos="4065" userDrawn="1">
          <p15:clr>
            <a:srgbClr val="FBAE40"/>
          </p15:clr>
        </p15:guide>
        <p15:guide id="2" pos="506" userDrawn="1">
          <p15:clr>
            <a:srgbClr val="FBAE40"/>
          </p15:clr>
        </p15:guide>
        <p15:guide id="3" pos="7174" userDrawn="1">
          <p15:clr>
            <a:srgbClr val="FBAE40"/>
          </p15:clr>
        </p15:guide>
        <p15:guide id="4" orient="horz" pos="731"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FB42180-27FA-480F-A6DE-8FCFA323F71A}"/>
              </a:ext>
            </a:extLst>
          </p:cNvPr>
          <p:cNvPicPr>
            <a:picLocks noChangeAspect="1"/>
          </p:cNvPicPr>
          <p:nvPr userDrawn="1"/>
        </p:nvPicPr>
        <p:blipFill rotWithShape="1">
          <a:blip r:embed="rId2"/>
          <a:srcRect l="11594" t="-389" r="38007" b="67389"/>
          <a:stretch/>
        </p:blipFill>
        <p:spPr>
          <a:xfrm>
            <a:off x="11429999" y="6248401"/>
            <a:ext cx="762001" cy="609600"/>
          </a:xfrm>
          <a:prstGeom prst="rect">
            <a:avLst/>
          </a:prstGeom>
        </p:spPr>
      </p:pic>
      <p:sp>
        <p:nvSpPr>
          <p:cNvPr id="5" name="Numero diapositiva">
            <a:extLst>
              <a:ext uri="{FF2B5EF4-FFF2-40B4-BE49-F238E27FC236}">
                <a16:creationId xmlns:a16="http://schemas.microsoft.com/office/drawing/2014/main" id="{404CD3DD-58C9-45F4-A400-1E08D0FFC592}"/>
              </a:ext>
            </a:extLst>
          </p:cNvPr>
          <p:cNvSpPr txBox="1">
            <a:spLocks noGrp="1"/>
          </p:cNvSpPr>
          <p:nvPr>
            <p:ph type="sldNum" sz="quarter" idx="2"/>
          </p:nvPr>
        </p:nvSpPr>
        <p:spPr>
          <a:xfrm>
            <a:off x="11614996" y="6443521"/>
            <a:ext cx="409933" cy="272589"/>
          </a:xfrm>
          <a:prstGeom prst="rect">
            <a:avLst/>
          </a:prstGeom>
        </p:spPr>
        <p:txBody>
          <a:bodyPr anchor="ctr"/>
          <a:lstStyle>
            <a:lvl1pPr algn="ctr">
              <a:defRPr lang="it-IT" sz="1200" b="0" i="0" smtClean="0">
                <a:solidFill>
                  <a:srgbClr val="0057B7"/>
                </a:solidFill>
                <a:latin typeface="+mj-lt"/>
                <a:cs typeface="Poppins Medium" panose="02000000000000000000" pitchFamily="2" charset="77"/>
              </a:defRPr>
            </a:lvl1pPr>
          </a:lstStyle>
          <a:p>
            <a:fld id="{86CB4B4D-7CA3-9044-876B-883B54F8677D}" type="slidenum">
              <a:rPr lang="it-IT" smtClean="0"/>
              <a:pPr/>
              <a:t>‹N›</a:t>
            </a:fld>
            <a:endParaRPr lang="it-IT"/>
          </a:p>
        </p:txBody>
      </p:sp>
      <p:pic>
        <p:nvPicPr>
          <p:cNvPr id="13" name="Graphic 12">
            <a:extLst>
              <a:ext uri="{FF2B5EF4-FFF2-40B4-BE49-F238E27FC236}">
                <a16:creationId xmlns:a16="http://schemas.microsoft.com/office/drawing/2014/main" id="{6F232F7E-6F78-4065-94B8-6E0B4DC80463}"/>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35704" y="251749"/>
            <a:ext cx="691637" cy="448181"/>
          </a:xfrm>
          <a:prstGeom prst="rect">
            <a:avLst/>
          </a:prstGeom>
        </p:spPr>
      </p:pic>
      <p:pic>
        <p:nvPicPr>
          <p:cNvPr id="14" name="Graphic 13">
            <a:extLst>
              <a:ext uri="{FF2B5EF4-FFF2-40B4-BE49-F238E27FC236}">
                <a16:creationId xmlns:a16="http://schemas.microsoft.com/office/drawing/2014/main" id="{428D0819-9845-4656-A1AC-CC20C6A7853A}"/>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l="23939" t="15795" r="17879" b="19116"/>
          <a:stretch/>
        </p:blipFill>
        <p:spPr>
          <a:xfrm>
            <a:off x="0" y="84700"/>
            <a:ext cx="510876" cy="782278"/>
          </a:xfrm>
          <a:prstGeom prst="rect">
            <a:avLst/>
          </a:prstGeom>
        </p:spPr>
      </p:pic>
      <p:sp>
        <p:nvSpPr>
          <p:cNvPr id="15" name="Text Placeholder 10">
            <a:extLst>
              <a:ext uri="{FF2B5EF4-FFF2-40B4-BE49-F238E27FC236}">
                <a16:creationId xmlns:a16="http://schemas.microsoft.com/office/drawing/2014/main" id="{7690829A-0A96-4EF8-B20B-ACD718D9DF80}"/>
              </a:ext>
            </a:extLst>
          </p:cNvPr>
          <p:cNvSpPr>
            <a:spLocks noGrp="1"/>
          </p:cNvSpPr>
          <p:nvPr>
            <p:ph type="body" sz="quarter" idx="11" hasCustomPrompt="1"/>
          </p:nvPr>
        </p:nvSpPr>
        <p:spPr>
          <a:xfrm>
            <a:off x="812800" y="252000"/>
            <a:ext cx="10260000" cy="782638"/>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stStyle>
          <a:p>
            <a:pPr lvl="0"/>
            <a:r>
              <a:rPr lang="it-IT" noProof="0"/>
              <a:t>Click to </a:t>
            </a:r>
            <a:r>
              <a:rPr lang="it-IT" noProof="0" err="1"/>
              <a:t>insert</a:t>
            </a:r>
            <a:r>
              <a:rPr lang="it-IT" noProof="0"/>
              <a:t> </a:t>
            </a:r>
            <a:r>
              <a:rPr lang="it-IT" noProof="0" err="1"/>
              <a:t>title</a:t>
            </a:r>
            <a:endParaRPr lang="it-IT" noProof="0"/>
          </a:p>
          <a:p>
            <a:pPr lvl="0"/>
            <a:r>
              <a:rPr lang="it-IT" noProof="0"/>
              <a:t>Click to </a:t>
            </a:r>
            <a:r>
              <a:rPr lang="it-IT" noProof="0" err="1"/>
              <a:t>insert</a:t>
            </a:r>
            <a:r>
              <a:rPr lang="it-IT" noProof="0"/>
              <a:t> </a:t>
            </a:r>
            <a:r>
              <a:rPr lang="it-IT" noProof="0" err="1"/>
              <a:t>title</a:t>
            </a:r>
            <a:endParaRPr lang="it-IT" noProof="0"/>
          </a:p>
        </p:txBody>
      </p:sp>
      <p:cxnSp>
        <p:nvCxnSpPr>
          <p:cNvPr id="8" name="Straight Connector 7">
            <a:extLst>
              <a:ext uri="{FF2B5EF4-FFF2-40B4-BE49-F238E27FC236}">
                <a16:creationId xmlns:a16="http://schemas.microsoft.com/office/drawing/2014/main" id="{D6BF26BD-7779-4D41-A105-F64D24CDA5F5}"/>
              </a:ext>
            </a:extLst>
          </p:cNvPr>
          <p:cNvCxnSpPr>
            <a:cxnSpLocks/>
          </p:cNvCxnSpPr>
          <p:nvPr userDrawn="1"/>
        </p:nvCxnSpPr>
        <p:spPr>
          <a:xfrm>
            <a:off x="51955" y="1124051"/>
            <a:ext cx="12140045" cy="0"/>
          </a:xfrm>
          <a:prstGeom prst="line">
            <a:avLst/>
          </a:prstGeom>
          <a:ln w="19050">
            <a:gradFill flip="none" rotWithShape="1">
              <a:gsLst>
                <a:gs pos="17000">
                  <a:srgbClr val="FFFFFF"/>
                </a:gs>
                <a:gs pos="44000">
                  <a:srgbClr val="FAE019"/>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6971098"/>
      </p:ext>
    </p:extLst>
  </p:cSld>
  <p:clrMapOvr>
    <a:masterClrMapping/>
  </p:clrMapOvr>
  <p:extLst>
    <p:ext uri="{DCECCB84-F9BA-43D5-87BE-67443E8EF086}">
      <p15:sldGuideLst xmlns:p15="http://schemas.microsoft.com/office/powerpoint/2012/main">
        <p15:guide id="1" orient="horz" pos="4065" userDrawn="1">
          <p15:clr>
            <a:srgbClr val="FBAE40"/>
          </p15:clr>
        </p15:guide>
        <p15:guide id="2" pos="506" userDrawn="1">
          <p15:clr>
            <a:srgbClr val="FBAE40"/>
          </p15:clr>
        </p15:guide>
        <p15:guide id="3" pos="7174" userDrawn="1">
          <p15:clr>
            <a:srgbClr val="FBAE40"/>
          </p15:clr>
        </p15:guide>
        <p15:guide id="4" orient="horz" pos="731"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userDrawn="1">
  <p:cSld name="16x9 Video placeholder">
    <p:bg>
      <p:bgPr>
        <a:solidFill>
          <a:schemeClr val="accent1"/>
        </a:solidFill>
        <a:effectLst/>
      </p:bgPr>
    </p:bg>
    <p:spTree>
      <p:nvGrpSpPr>
        <p:cNvPr id="1" name=""/>
        <p:cNvGrpSpPr/>
        <p:nvPr/>
      </p:nvGrpSpPr>
      <p:grpSpPr>
        <a:xfrm>
          <a:off x="0" y="0"/>
          <a:ext cx="0" cy="0"/>
          <a:chOff x="0" y="0"/>
          <a:chExt cx="0" cy="0"/>
        </a:xfrm>
      </p:grpSpPr>
      <p:sp>
        <p:nvSpPr>
          <p:cNvPr id="5" name="Media Placeholder 4"/>
          <p:cNvSpPr>
            <a:spLocks noGrp="1"/>
          </p:cNvSpPr>
          <p:nvPr>
            <p:ph type="media" sz="quarter" idx="10" hasCustomPrompt="1"/>
          </p:nvPr>
        </p:nvSpPr>
        <p:spPr>
          <a:xfrm>
            <a:off x="1096435" y="355201"/>
            <a:ext cx="9999135" cy="5624513"/>
          </a:xfrm>
          <a:solidFill>
            <a:schemeClr val="tx1"/>
          </a:solidFill>
        </p:spPr>
        <p:txBody>
          <a:bodyPr lIns="72000" tIns="72000"/>
          <a:lstStyle>
            <a:lvl1pPr marL="0" indent="0">
              <a:buNone/>
              <a:defRPr>
                <a:solidFill>
                  <a:srgbClr val="FFFFFF"/>
                </a:solidFill>
              </a:defRPr>
            </a:lvl1pPr>
          </a:lstStyle>
          <a:p>
            <a:r>
              <a:rPr lang="en-US"/>
              <a:t>Insert 16x9 video</a:t>
            </a:r>
          </a:p>
        </p:txBody>
      </p:sp>
      <p:sp>
        <p:nvSpPr>
          <p:cNvPr id="2" name="Slide Number Placeholder 1"/>
          <p:cNvSpPr>
            <a:spLocks noGrp="1"/>
          </p:cNvSpPr>
          <p:nvPr>
            <p:ph type="sldNum" sz="quarter" idx="12"/>
          </p:nvPr>
        </p:nvSpPr>
        <p:spPr>
          <a:xfrm>
            <a:off x="5820395" y="6284183"/>
            <a:ext cx="551213" cy="318519"/>
          </a:xfrm>
          <a:prstGeom prst="rect">
            <a:avLst/>
          </a:prstGeom>
        </p:spPr>
        <p:txBody>
          <a:bodyPr/>
          <a:lstStyle>
            <a:lvl1pPr>
              <a:defRPr>
                <a:solidFill>
                  <a:schemeClr val="bg1"/>
                </a:solidFill>
              </a:defRPr>
            </a:lvl1pPr>
          </a:lstStyle>
          <a:p>
            <a:fld id="{72A83A2B-3358-44F8-83A0-4598795D8FB5}" type="slidenum">
              <a:rPr lang="en-GB" smtClean="0"/>
              <a:pPr/>
              <a:t>‹N›</a:t>
            </a:fld>
            <a:endParaRPr lang="en-GB"/>
          </a:p>
        </p:txBody>
      </p:sp>
      <p:sp>
        <p:nvSpPr>
          <p:cNvPr id="3" name="Date Placeholder 2"/>
          <p:cNvSpPr>
            <a:spLocks noGrp="1"/>
          </p:cNvSpPr>
          <p:nvPr>
            <p:ph type="dt" sz="half" idx="13"/>
          </p:nvPr>
        </p:nvSpPr>
        <p:spPr>
          <a:xfrm>
            <a:off x="8183033" y="6282801"/>
            <a:ext cx="2844800" cy="318519"/>
          </a:xfrm>
          <a:prstGeom prst="rect">
            <a:avLst/>
          </a:prstGeom>
        </p:spPr>
        <p:txBody>
          <a:bodyPr/>
          <a:lstStyle>
            <a:lvl1pPr>
              <a:defRPr>
                <a:solidFill>
                  <a:schemeClr val="bg1"/>
                </a:solidFill>
              </a:defRPr>
            </a:lvl1pPr>
          </a:lstStyle>
          <a:p>
            <a:endParaRPr lang="en-GB"/>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29122" y="6062988"/>
            <a:ext cx="528447" cy="528000"/>
          </a:xfrm>
          <a:prstGeom prst="rect">
            <a:avLst/>
          </a:prstGeom>
        </p:spPr>
      </p:pic>
    </p:spTree>
    <p:extLst>
      <p:ext uri="{BB962C8B-B14F-4D97-AF65-F5344CB8AC3E}">
        <p14:creationId xmlns:p14="http://schemas.microsoft.com/office/powerpoint/2010/main" val="403882759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oleObject" Target="../embeddings/oleObject1.bin"/><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59E68F1-5000-89B8-7B65-99F140743B68}"/>
              </a:ext>
            </a:extLst>
          </p:cNvPr>
          <p:cNvGraphicFramePr>
            <a:graphicFrameLocks noChangeAspect="1"/>
          </p:cNvGraphicFramePr>
          <p:nvPr userDrawn="1">
            <p:custDataLst>
              <p:tags r:id="rId73"/>
            </p:custDataLst>
            <p:extLst>
              <p:ext uri="{D42A27DB-BD31-4B8C-83A1-F6EECF244321}">
                <p14:modId xmlns:p14="http://schemas.microsoft.com/office/powerpoint/2010/main" val="16772923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74" imgW="503" imgH="503" progId="TCLayout.ActiveDocument.1">
                  <p:embed/>
                </p:oleObj>
              </mc:Choice>
              <mc:Fallback>
                <p:oleObj name="Diapositiva think-cell" r:id="rId74" imgW="503" imgH="503" progId="TCLayout.ActiveDocument.1">
                  <p:embed/>
                  <p:pic>
                    <p:nvPicPr>
                      <p:cNvPr id="2" name="think-cell data - do not delete" hidden="1">
                        <a:extLst>
                          <a:ext uri="{FF2B5EF4-FFF2-40B4-BE49-F238E27FC236}">
                            <a16:creationId xmlns:a16="http://schemas.microsoft.com/office/drawing/2014/main" id="{659E68F1-5000-89B8-7B65-99F140743B68}"/>
                          </a:ext>
                        </a:extLst>
                      </p:cNvPr>
                      <p:cNvPicPr/>
                      <p:nvPr/>
                    </p:nvPicPr>
                    <p:blipFill>
                      <a:blip r:embed="rId75"/>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668098101"/>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17" r:id="rId6"/>
    <p:sldLayoutId id="2147483718" r:id="rId7"/>
    <p:sldLayoutId id="2147483719" r:id="rId8"/>
    <p:sldLayoutId id="2147483720" r:id="rId9"/>
    <p:sldLayoutId id="2147483721" r:id="rId10"/>
    <p:sldLayoutId id="2147483712" r:id="rId11"/>
    <p:sldLayoutId id="2147483713" r:id="rId12"/>
    <p:sldLayoutId id="2147483714" r:id="rId13"/>
    <p:sldLayoutId id="2147483715" r:id="rId14"/>
    <p:sldLayoutId id="2147483716" r:id="rId15"/>
    <p:sldLayoutId id="2147483707" r:id="rId16"/>
    <p:sldLayoutId id="2147483708" r:id="rId17"/>
    <p:sldLayoutId id="2147483709" r:id="rId18"/>
    <p:sldLayoutId id="2147483710" r:id="rId19"/>
    <p:sldLayoutId id="2147483711" r:id="rId20"/>
    <p:sldLayoutId id="2147483689" r:id="rId21"/>
    <p:sldLayoutId id="2147483690" r:id="rId22"/>
    <p:sldLayoutId id="2147483691" r:id="rId23"/>
    <p:sldLayoutId id="2147483692" r:id="rId24"/>
    <p:sldLayoutId id="2147483693" r:id="rId25"/>
    <p:sldLayoutId id="2147483679" r:id="rId26"/>
    <p:sldLayoutId id="2147483680" r:id="rId27"/>
    <p:sldLayoutId id="2147483681" r:id="rId28"/>
    <p:sldLayoutId id="2147483682" r:id="rId29"/>
    <p:sldLayoutId id="2147483683" r:id="rId30"/>
    <p:sldLayoutId id="2147483687" r:id="rId31"/>
    <p:sldLayoutId id="2147483688" r:id="rId32"/>
    <p:sldLayoutId id="2147483684" r:id="rId33"/>
    <p:sldLayoutId id="2147483685" r:id="rId34"/>
    <p:sldLayoutId id="2147483686" r:id="rId35"/>
    <p:sldLayoutId id="2147483674" r:id="rId36"/>
    <p:sldLayoutId id="2147483675" r:id="rId37"/>
    <p:sldLayoutId id="2147483676" r:id="rId38"/>
    <p:sldLayoutId id="2147483677" r:id="rId39"/>
    <p:sldLayoutId id="2147483678" r:id="rId40"/>
    <p:sldLayoutId id="2147483669" r:id="rId41"/>
    <p:sldLayoutId id="2147483670" r:id="rId42"/>
    <p:sldLayoutId id="2147483671" r:id="rId43"/>
    <p:sldLayoutId id="2147483672" r:id="rId44"/>
    <p:sldLayoutId id="2147483673" r:id="rId45"/>
    <p:sldLayoutId id="2147483664" r:id="rId46"/>
    <p:sldLayoutId id="2147483665" r:id="rId47"/>
    <p:sldLayoutId id="2147483666" r:id="rId48"/>
    <p:sldLayoutId id="2147483667" r:id="rId49"/>
    <p:sldLayoutId id="2147483668" r:id="rId50"/>
    <p:sldLayoutId id="2147483705" r:id="rId51"/>
    <p:sldLayoutId id="2147483706" r:id="rId52"/>
    <p:sldLayoutId id="2147483661" r:id="rId53"/>
    <p:sldLayoutId id="2147483662" r:id="rId54"/>
    <p:sldLayoutId id="2147483663" r:id="rId55"/>
    <p:sldLayoutId id="2147483700" r:id="rId56"/>
    <p:sldLayoutId id="2147483701" r:id="rId57"/>
    <p:sldLayoutId id="2147483702" r:id="rId58"/>
    <p:sldLayoutId id="2147483703" r:id="rId59"/>
    <p:sldLayoutId id="2147483704" r:id="rId60"/>
    <p:sldLayoutId id="2147483695" r:id="rId61"/>
    <p:sldLayoutId id="2147483697" r:id="rId62"/>
    <p:sldLayoutId id="2147483696" r:id="rId63"/>
    <p:sldLayoutId id="2147483698" r:id="rId64"/>
    <p:sldLayoutId id="2147483699" r:id="rId65"/>
    <p:sldLayoutId id="2147483734" r:id="rId66"/>
    <p:sldLayoutId id="2147483735" r:id="rId67"/>
    <p:sldLayoutId id="2147483736" r:id="rId68"/>
    <p:sldLayoutId id="2147483737" r:id="rId69"/>
    <p:sldLayoutId id="2147483742" r:id="rId70"/>
    <p:sldLayoutId id="2147483743" r:id="rId7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30.sv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9.png"/><Relationship Id="rId2" Type="http://schemas.openxmlformats.org/officeDocument/2006/relationships/notesSlide" Target="../notesSlides/notesSlide1.xml"/><Relationship Id="rId16" Type="http://schemas.openxmlformats.org/officeDocument/2006/relationships/image" Target="../media/image28.svg"/><Relationship Id="rId20" Type="http://schemas.openxmlformats.org/officeDocument/2006/relationships/image" Target="../media/image32.svg"/><Relationship Id="rId1" Type="http://schemas.openxmlformats.org/officeDocument/2006/relationships/slideLayout" Target="../slideLayouts/slideLayout68.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svg"/><Relationship Id="rId5" Type="http://schemas.openxmlformats.org/officeDocument/2006/relationships/image" Target="../media/image17.svg"/><Relationship Id="rId15" Type="http://schemas.openxmlformats.org/officeDocument/2006/relationships/image" Target="../media/image27.png"/><Relationship Id="rId23" Type="http://schemas.openxmlformats.org/officeDocument/2006/relationships/image" Target="../media/image35.png"/><Relationship Id="rId10" Type="http://schemas.openxmlformats.org/officeDocument/2006/relationships/image" Target="../media/image22.sv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svg"/><Relationship Id="rId22" Type="http://schemas.openxmlformats.org/officeDocument/2006/relationships/image" Target="../media/image34.svg"/></Relationships>
</file>

<file path=ppt/slides/_rels/slide2.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18" Type="http://schemas.openxmlformats.org/officeDocument/2006/relationships/image" Target="../media/image32.svg"/><Relationship Id="rId3" Type="http://schemas.openxmlformats.org/officeDocument/2006/relationships/image" Target="../media/image15.png"/><Relationship Id="rId21" Type="http://schemas.openxmlformats.org/officeDocument/2006/relationships/image" Target="../media/image35.png"/><Relationship Id="rId7" Type="http://schemas.openxmlformats.org/officeDocument/2006/relationships/image" Target="../media/image21.png"/><Relationship Id="rId12" Type="http://schemas.openxmlformats.org/officeDocument/2006/relationships/image" Target="../media/image26.svg"/><Relationship Id="rId17" Type="http://schemas.openxmlformats.org/officeDocument/2006/relationships/image" Target="../media/image31.png"/><Relationship Id="rId2" Type="http://schemas.openxmlformats.org/officeDocument/2006/relationships/notesSlide" Target="../notesSlides/notesSlide2.xml"/><Relationship Id="rId16" Type="http://schemas.openxmlformats.org/officeDocument/2006/relationships/image" Target="../media/image30.svg"/><Relationship Id="rId20" Type="http://schemas.openxmlformats.org/officeDocument/2006/relationships/image" Target="../media/image34.svg"/><Relationship Id="rId1" Type="http://schemas.openxmlformats.org/officeDocument/2006/relationships/slideLayout" Target="../slideLayouts/slideLayout68.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svg"/><Relationship Id="rId19"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svg"/><Relationship Id="rId22" Type="http://schemas.openxmlformats.org/officeDocument/2006/relationships/image" Target="../media/image36.svg"/></Relationships>
</file>

<file path=ppt/slides/_rels/slide3.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6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sv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67.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svg"/><Relationship Id="rId9" Type="http://schemas.openxmlformats.org/officeDocument/2006/relationships/image" Target="../media/image5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7.xml"/></Relationships>
</file>

<file path=ppt/slides/_rels/slide6.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5.png"/><Relationship Id="rId18" Type="http://schemas.openxmlformats.org/officeDocument/2006/relationships/image" Target="../media/image70.png"/><Relationship Id="rId3" Type="http://schemas.openxmlformats.org/officeDocument/2006/relationships/image" Target="../media/image58.svg"/><Relationship Id="rId7" Type="http://schemas.openxmlformats.org/officeDocument/2006/relationships/image" Target="../media/image60.png"/><Relationship Id="rId12" Type="http://schemas.openxmlformats.org/officeDocument/2006/relationships/image" Target="../media/image64.png"/><Relationship Id="rId17" Type="http://schemas.openxmlformats.org/officeDocument/2006/relationships/image" Target="../media/image69.png"/><Relationship Id="rId2" Type="http://schemas.openxmlformats.org/officeDocument/2006/relationships/image" Target="../media/image57.png"/><Relationship Id="rId16" Type="http://schemas.openxmlformats.org/officeDocument/2006/relationships/image" Target="../media/image68.png"/><Relationship Id="rId1" Type="http://schemas.openxmlformats.org/officeDocument/2006/relationships/slideLayout" Target="../slideLayouts/slideLayout66.xml"/><Relationship Id="rId6" Type="http://schemas.openxmlformats.org/officeDocument/2006/relationships/image" Target="../media/image40.png"/><Relationship Id="rId11" Type="http://schemas.openxmlformats.org/officeDocument/2006/relationships/image" Target="../media/image63.png"/><Relationship Id="rId5" Type="http://schemas.openxmlformats.org/officeDocument/2006/relationships/image" Target="../media/image41.png"/><Relationship Id="rId15" Type="http://schemas.openxmlformats.org/officeDocument/2006/relationships/image" Target="../media/image67.png"/><Relationship Id="rId10" Type="http://schemas.openxmlformats.org/officeDocument/2006/relationships/image" Target="../media/image62.png"/><Relationship Id="rId19" Type="http://schemas.openxmlformats.org/officeDocument/2006/relationships/image" Target="../media/image71.jpeg"/><Relationship Id="rId4" Type="http://schemas.openxmlformats.org/officeDocument/2006/relationships/image" Target="../media/image59.png"/><Relationship Id="rId9" Type="http://schemas.microsoft.com/office/2007/relationships/hdphoto" Target="../media/hdphoto1.wdp"/><Relationship Id="rId14" Type="http://schemas.openxmlformats.org/officeDocument/2006/relationships/image" Target="../media/image66.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2.png"/><Relationship Id="rId1" Type="http://schemas.openxmlformats.org/officeDocument/2006/relationships/slideLayout" Target="../slideLayouts/slideLayout66.xml"/><Relationship Id="rId5" Type="http://schemas.openxmlformats.org/officeDocument/2006/relationships/image" Target="../media/image73.png"/><Relationship Id="rId4" Type="http://schemas.openxmlformats.org/officeDocument/2006/relationships/image" Target="../media/image39.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75.jpeg"/><Relationship Id="rId2" Type="http://schemas.openxmlformats.org/officeDocument/2006/relationships/slideLayout" Target="../slideLayouts/slideLayout69.xml"/><Relationship Id="rId1" Type="http://schemas.openxmlformats.org/officeDocument/2006/relationships/tags" Target="../tags/tag3.xml"/><Relationship Id="rId6" Type="http://schemas.openxmlformats.org/officeDocument/2006/relationships/image" Target="../media/image74.jpeg"/><Relationship Id="rId5" Type="http://schemas.openxmlformats.org/officeDocument/2006/relationships/image" Target="../media/image1.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77.png"/><Relationship Id="rId2" Type="http://schemas.openxmlformats.org/officeDocument/2006/relationships/slideLayout" Target="../slideLayouts/slideLayout69.xml"/><Relationship Id="rId1" Type="http://schemas.openxmlformats.org/officeDocument/2006/relationships/tags" Target="../tags/tag4.xml"/><Relationship Id="rId6" Type="http://schemas.openxmlformats.org/officeDocument/2006/relationships/image" Target="../media/image76.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8" Type="http://schemas.openxmlformats.org/officeDocument/2006/relationships/image" Target="../media/image80.jpeg"/><Relationship Id="rId3" Type="http://schemas.openxmlformats.org/officeDocument/2006/relationships/notesSlide" Target="../notesSlides/notesSlide8.xml"/><Relationship Id="rId7" Type="http://schemas.openxmlformats.org/officeDocument/2006/relationships/image" Target="../media/image79.png"/><Relationship Id="rId2" Type="http://schemas.openxmlformats.org/officeDocument/2006/relationships/slideLayout" Target="../slideLayouts/slideLayout69.xml"/><Relationship Id="rId1" Type="http://schemas.openxmlformats.org/officeDocument/2006/relationships/tags" Target="../tags/tag5.xml"/><Relationship Id="rId6" Type="http://schemas.openxmlformats.org/officeDocument/2006/relationships/image" Target="../media/image78.jpeg"/><Relationship Id="rId5" Type="http://schemas.openxmlformats.org/officeDocument/2006/relationships/image" Target="../media/image1.emf"/><Relationship Id="rId4" Type="http://schemas.openxmlformats.org/officeDocument/2006/relationships/oleObject" Target="../embeddings/oleObject4.bin"/><Relationship Id="rId9" Type="http://schemas.openxmlformats.org/officeDocument/2006/relationships/image" Target="../media/image81.jpeg"/></Relationships>
</file>

<file path=ppt/slides/_rels/slide11.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notesSlide" Target="../notesSlides/notesSlide9.xml"/><Relationship Id="rId7" Type="http://schemas.openxmlformats.org/officeDocument/2006/relationships/image" Target="../media/image83.png"/><Relationship Id="rId2" Type="http://schemas.openxmlformats.org/officeDocument/2006/relationships/slideLayout" Target="../slideLayouts/slideLayout69.xml"/><Relationship Id="rId1" Type="http://schemas.openxmlformats.org/officeDocument/2006/relationships/tags" Target="../tags/tag6.xml"/><Relationship Id="rId6" Type="http://schemas.openxmlformats.org/officeDocument/2006/relationships/image" Target="../media/image82.png"/><Relationship Id="rId5" Type="http://schemas.openxmlformats.org/officeDocument/2006/relationships/image" Target="../media/image1.emf"/><Relationship Id="rId4" Type="http://schemas.openxmlformats.org/officeDocument/2006/relationships/oleObject" Target="../embeddings/oleObject4.bin"/><Relationship Id="rId9" Type="http://schemas.openxmlformats.org/officeDocument/2006/relationships/image" Target="../media/image85.jpeg"/></Relationships>
</file>

<file path=ppt/slides/_rels/slide1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66.xml"/></Relationships>
</file>

<file path=ppt/slides/_rels/slide1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66.xml"/></Relationships>
</file>

<file path=ppt/slides/_rels/slide1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0.xml"/><Relationship Id="rId1" Type="http://schemas.openxmlformats.org/officeDocument/2006/relationships/slideLayout" Target="../slideLayouts/slideLayout66.xml"/></Relationships>
</file>

<file path=ppt/slides/_rels/slide1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1.xml"/><Relationship Id="rId1" Type="http://schemas.openxmlformats.org/officeDocument/2006/relationships/slideLayout" Target="../slideLayouts/slideLayout66.xml"/></Relationships>
</file>

<file path=ppt/slides/_rels/slide1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0.jpeg"/><Relationship Id="rId1" Type="http://schemas.openxmlformats.org/officeDocument/2006/relationships/slideLayout" Target="../slideLayouts/slideLayout67.xml"/></Relationships>
</file>

<file path=ppt/slides/_rels/slide1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notesSlide" Target="../notesSlides/notesSlide12.xml"/><Relationship Id="rId7" Type="http://schemas.openxmlformats.org/officeDocument/2006/relationships/oleObject" Target="../embeddings/oleObject5.bin"/><Relationship Id="rId2" Type="http://schemas.openxmlformats.org/officeDocument/2006/relationships/slideLayout" Target="../slideLayouts/slideLayout67.xml"/><Relationship Id="rId1" Type="http://schemas.openxmlformats.org/officeDocument/2006/relationships/tags" Target="../tags/tag7.xml"/><Relationship Id="rId6" Type="http://schemas.openxmlformats.org/officeDocument/2006/relationships/image" Target="../media/image94.png"/><Relationship Id="rId11" Type="http://schemas.openxmlformats.org/officeDocument/2006/relationships/image" Target="../media/image97.svg"/><Relationship Id="rId5" Type="http://schemas.openxmlformats.org/officeDocument/2006/relationships/image" Target="../media/image93.svg"/><Relationship Id="rId10" Type="http://schemas.openxmlformats.org/officeDocument/2006/relationships/image" Target="../media/image96.png"/><Relationship Id="rId4" Type="http://schemas.openxmlformats.org/officeDocument/2006/relationships/image" Target="../media/image92.png"/><Relationship Id="rId9" Type="http://schemas.openxmlformats.org/officeDocument/2006/relationships/image" Target="../media/image9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9.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18" Type="http://schemas.openxmlformats.org/officeDocument/2006/relationships/image" Target="../media/image32.svg"/><Relationship Id="rId3" Type="http://schemas.openxmlformats.org/officeDocument/2006/relationships/image" Target="../media/image15.png"/><Relationship Id="rId21" Type="http://schemas.openxmlformats.org/officeDocument/2006/relationships/image" Target="../media/image35.png"/><Relationship Id="rId7" Type="http://schemas.openxmlformats.org/officeDocument/2006/relationships/image" Target="../media/image21.png"/><Relationship Id="rId12" Type="http://schemas.openxmlformats.org/officeDocument/2006/relationships/image" Target="../media/image26.svg"/><Relationship Id="rId17" Type="http://schemas.openxmlformats.org/officeDocument/2006/relationships/image" Target="../media/image31.png"/><Relationship Id="rId2" Type="http://schemas.openxmlformats.org/officeDocument/2006/relationships/notesSlide" Target="../notesSlides/notesSlide13.xml"/><Relationship Id="rId16" Type="http://schemas.openxmlformats.org/officeDocument/2006/relationships/image" Target="../media/image30.svg"/><Relationship Id="rId20" Type="http://schemas.openxmlformats.org/officeDocument/2006/relationships/image" Target="../media/image34.svg"/><Relationship Id="rId1" Type="http://schemas.openxmlformats.org/officeDocument/2006/relationships/slideLayout" Target="../slideLayouts/slideLayout68.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svg"/><Relationship Id="rId19"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svg"/><Relationship Id="rId22"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AE25B3AC-2794-D0D8-4781-57D73B4457C1}"/>
              </a:ext>
            </a:extLst>
          </p:cNvPr>
          <p:cNvGrpSpPr/>
          <p:nvPr/>
        </p:nvGrpSpPr>
        <p:grpSpPr>
          <a:xfrm>
            <a:off x="0" y="447"/>
            <a:ext cx="12191937" cy="6857107"/>
            <a:chOff x="0" y="447"/>
            <a:chExt cx="12191937" cy="6857107"/>
          </a:xfrm>
        </p:grpSpPr>
        <p:pic>
          <p:nvPicPr>
            <p:cNvPr id="2" name="Image 0" descr=" "/>
            <p:cNvPicPr>
              <a:picLocks noChangeAspect="1"/>
            </p:cNvPicPr>
            <p:nvPr/>
          </p:nvPicPr>
          <p:blipFill>
            <a:blip r:embed="rId3"/>
            <a:stretch>
              <a:fillRect/>
            </a:stretch>
          </p:blipFill>
          <p:spPr>
            <a:xfrm>
              <a:off x="0" y="447"/>
              <a:ext cx="12191937" cy="6857107"/>
            </a:xfrm>
            <a:prstGeom prst="rect">
              <a:avLst/>
            </a:prstGeom>
          </p:spPr>
        </p:pic>
        <p:pic>
          <p:nvPicPr>
            <p:cNvPr id="3" name="Image 1" descr=" "/>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447"/>
              <a:ext cx="9016953" cy="6857107"/>
            </a:xfrm>
            <a:prstGeom prst="rect">
              <a:avLst/>
            </a:prstGeom>
          </p:spPr>
        </p:pic>
      </p:grpSp>
      <p:sp>
        <p:nvSpPr>
          <p:cNvPr id="4" name="Shape 0"/>
          <p:cNvSpPr/>
          <p:nvPr/>
        </p:nvSpPr>
        <p:spPr>
          <a:xfrm>
            <a:off x="634997" y="2619481"/>
            <a:ext cx="9061403" cy="1587293"/>
          </a:xfrm>
          <a:prstGeom prst="rect">
            <a:avLst/>
          </a:prstGeom>
          <a:noFill/>
          <a:ln/>
        </p:spPr>
        <p:txBody>
          <a:bodyPr/>
          <a:lstStyle/>
          <a:p>
            <a:endParaRPr lang="it-IT"/>
          </a:p>
        </p:txBody>
      </p:sp>
      <p:sp>
        <p:nvSpPr>
          <p:cNvPr id="5" name="Text 1"/>
          <p:cNvSpPr/>
          <p:nvPr/>
        </p:nvSpPr>
        <p:spPr>
          <a:xfrm>
            <a:off x="634996" y="2619480"/>
            <a:ext cx="11143021" cy="1790467"/>
          </a:xfrm>
          <a:prstGeom prst="rect">
            <a:avLst/>
          </a:prstGeom>
          <a:noFill/>
          <a:ln/>
        </p:spPr>
        <p:txBody>
          <a:bodyPr wrap="square" lIns="0" tIns="0" rIns="0" bIns="0" rtlCol="0" anchor="t"/>
          <a:lstStyle>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a:lstStyle>
          <a:p>
            <a:pPr marL="0" indent="0" algn="l">
              <a:lnSpc>
                <a:spcPts val="6239"/>
              </a:lnSpc>
              <a:buNone/>
            </a:pPr>
            <a:r>
              <a:rPr lang="en-US" sz="5400" b="1" dirty="0">
                <a:solidFill>
                  <a:srgbClr val="FFFFFF">
                    <a:alpha val="100000"/>
                  </a:srgbClr>
                </a:solidFill>
                <a:latin typeface="Poppins Medium" panose="00000600000000000000" pitchFamily="2" charset="0"/>
                <a:ea typeface="Galano Grotesque Alt SemiBold" pitchFamily="34" charset="-122"/>
                <a:cs typeface="Poppins Medium" panose="00000600000000000000" pitchFamily="2" charset="0"/>
              </a:rPr>
              <a:t>Telepass &amp; ENI</a:t>
            </a:r>
          </a:p>
          <a:p>
            <a:pPr marL="0" indent="0" algn="l">
              <a:lnSpc>
                <a:spcPts val="6239"/>
              </a:lnSpc>
              <a:buNone/>
            </a:pPr>
            <a:endParaRPr lang="en-US" sz="5400" b="1" dirty="0">
              <a:solidFill>
                <a:srgbClr val="FFFFFF">
                  <a:alpha val="100000"/>
                </a:srgbClr>
              </a:solidFill>
              <a:latin typeface="Poppins Medium" panose="00000600000000000000" pitchFamily="2" charset="0"/>
              <a:ea typeface="Galano Grotesque Alt SemiBold" pitchFamily="34" charset="-122"/>
              <a:cs typeface="Poppins Medium" panose="00000600000000000000" pitchFamily="2" charset="0"/>
            </a:endParaRPr>
          </a:p>
          <a:p>
            <a:pPr marL="0" indent="0" algn="l">
              <a:lnSpc>
                <a:spcPts val="6239"/>
              </a:lnSpc>
              <a:buNone/>
            </a:pPr>
            <a:r>
              <a:rPr lang="en-US" sz="5400" b="1" dirty="0" err="1">
                <a:solidFill>
                  <a:srgbClr val="FFFFFF">
                    <a:alpha val="100000"/>
                  </a:srgbClr>
                </a:solidFill>
                <a:latin typeface="Poppins Medium" panose="00000600000000000000" pitchFamily="2" charset="0"/>
                <a:ea typeface="Galano Grotesque Alt SemiBold" pitchFamily="34" charset="-122"/>
                <a:cs typeface="Poppins Medium" panose="00000600000000000000" pitchFamily="2" charset="0"/>
              </a:rPr>
              <a:t>Sessioni</a:t>
            </a:r>
            <a:r>
              <a:rPr lang="en-US" sz="5400" b="1" dirty="0">
                <a:solidFill>
                  <a:srgbClr val="FFFFFF">
                    <a:alpha val="100000"/>
                  </a:srgbClr>
                </a:solidFill>
                <a:latin typeface="Poppins Medium" panose="00000600000000000000" pitchFamily="2" charset="0"/>
                <a:ea typeface="Galano Grotesque Alt SemiBold" pitchFamily="34" charset="-122"/>
                <a:cs typeface="Poppins Medium" panose="00000600000000000000" pitchFamily="2" charset="0"/>
              </a:rPr>
              <a:t> formative</a:t>
            </a:r>
          </a:p>
        </p:txBody>
      </p:sp>
      <p:pic>
        <p:nvPicPr>
          <p:cNvPr id="7" name="Image 2" descr=" "/>
          <p:cNvPicPr>
            <a:picLocks noChangeAspect="1"/>
          </p:cNvPicPr>
          <p:nvPr/>
        </p:nvPicPr>
        <p:blipFill>
          <a:blip r:embed="rId6"/>
          <a:stretch>
            <a:fillRect/>
          </a:stretch>
        </p:blipFill>
        <p:spPr>
          <a:xfrm>
            <a:off x="10286947" y="381397"/>
            <a:ext cx="1269994" cy="290941"/>
          </a:xfrm>
          <a:prstGeom prst="rect">
            <a:avLst/>
          </a:prstGeom>
        </p:spPr>
      </p:pic>
      <p:pic>
        <p:nvPicPr>
          <p:cNvPr id="8"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31433" y="427997"/>
            <a:ext cx="163146" cy="192229"/>
          </a:xfrm>
          <a:prstGeom prst="rect">
            <a:avLst/>
          </a:prstGeom>
        </p:spPr>
      </p:pic>
      <p:pic>
        <p:nvPicPr>
          <p:cNvPr id="9" name="Image 4" descr=" "/>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31786" y="469371"/>
            <a:ext cx="126305" cy="123972"/>
          </a:xfrm>
          <a:prstGeom prst="rect">
            <a:avLst/>
          </a:prstGeom>
        </p:spPr>
      </p:pic>
      <p:pic>
        <p:nvPicPr>
          <p:cNvPr id="10" name="Image 5" descr=" "/>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0758810" y="416419"/>
            <a:ext cx="75828" cy="176903"/>
          </a:xfrm>
          <a:prstGeom prst="rect">
            <a:avLst/>
          </a:prstGeom>
        </p:spPr>
      </p:pic>
      <p:pic>
        <p:nvPicPr>
          <p:cNvPr id="11" name="Image 6" descr=" "/>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0822626" y="469609"/>
            <a:ext cx="126417" cy="123721"/>
          </a:xfrm>
          <a:prstGeom prst="rect">
            <a:avLst/>
          </a:prstGeom>
        </p:spPr>
      </p:pic>
      <p:pic>
        <p:nvPicPr>
          <p:cNvPr id="12" name="Image 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939511" y="469593"/>
            <a:ext cx="160176" cy="168090"/>
          </a:xfrm>
          <a:prstGeom prst="rect">
            <a:avLst/>
          </a:prstGeom>
        </p:spPr>
      </p:pic>
      <p:pic>
        <p:nvPicPr>
          <p:cNvPr id="13" name="Image 8"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114135" y="469110"/>
            <a:ext cx="149714" cy="124218"/>
          </a:xfrm>
          <a:prstGeom prst="rect">
            <a:avLst/>
          </a:prstGeom>
        </p:spPr>
      </p:pic>
      <p:pic>
        <p:nvPicPr>
          <p:cNvPr id="14" name="Image 9" descr=" "/>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257977" y="469723"/>
            <a:ext cx="120376" cy="123662"/>
          </a:xfrm>
          <a:prstGeom prst="rect">
            <a:avLst/>
          </a:prstGeom>
        </p:spPr>
      </p:pic>
      <p:pic>
        <p:nvPicPr>
          <p:cNvPr id="15" name="Image 10" descr=" "/>
          <p:cNvPicPr>
            <a:picLocks noChangeAspect="1"/>
          </p:cNvPicPr>
          <p:nvPr/>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1378279" y="469867"/>
            <a:ext cx="120042" cy="123523"/>
          </a:xfrm>
          <a:prstGeom prst="rect">
            <a:avLst/>
          </a:prstGeom>
        </p:spPr>
      </p:pic>
      <p:pic>
        <p:nvPicPr>
          <p:cNvPr id="16" name="Image 11"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533101" y="433049"/>
            <a:ext cx="148939" cy="160273"/>
          </a:xfrm>
          <a:prstGeom prst="rect">
            <a:avLst/>
          </a:prstGeom>
        </p:spPr>
      </p:pic>
    </p:spTree>
    <p:extLst>
      <p:ext uri="{BB962C8B-B14F-4D97-AF65-F5344CB8AC3E}">
        <p14:creationId xmlns:p14="http://schemas.microsoft.com/office/powerpoint/2010/main" val="1209966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stretch>
            <a:fillRect/>
          </a:stretch>
        </p:blipFill>
        <p:spPr>
          <a:xfrm>
            <a:off x="0" y="447"/>
            <a:ext cx="12191937" cy="6857107"/>
          </a:xfrm>
          <a:prstGeom prst="rect">
            <a:avLst/>
          </a:prstGeom>
        </p:spPr>
      </p:pic>
      <p:sp>
        <p:nvSpPr>
          <p:cNvPr id="3" name="Shape 0"/>
          <p:cNvSpPr/>
          <p:nvPr/>
        </p:nvSpPr>
        <p:spPr>
          <a:xfrm>
            <a:off x="634997" y="3854395"/>
            <a:ext cx="9061403" cy="3034905"/>
          </a:xfrm>
          <a:prstGeom prst="rect">
            <a:avLst/>
          </a:prstGeom>
          <a:noFill/>
          <a:ln/>
        </p:spPr>
        <p:txBody>
          <a:bodyPr/>
          <a:lstStyle/>
          <a:p>
            <a:endParaRPr lang="it-IT"/>
          </a:p>
        </p:txBody>
      </p:sp>
      <p:sp>
        <p:nvSpPr>
          <p:cNvPr id="4" name="Text 1"/>
          <p:cNvSpPr/>
          <p:nvPr/>
        </p:nvSpPr>
        <p:spPr>
          <a:xfrm>
            <a:off x="634997" y="3515772"/>
            <a:ext cx="9400068" cy="2370358"/>
          </a:xfrm>
          <a:prstGeom prst="rect">
            <a:avLst/>
          </a:prstGeom>
          <a:noFill/>
          <a:ln/>
        </p:spPr>
        <p:txBody>
          <a:bodyPr wrap="square" lIns="0" tIns="0" rIns="0" bIns="0" rtlCol="0" anchor="b"/>
          <a:lstStyle>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a:lstStyle>
          <a:p>
            <a:r>
              <a:rPr lang="it-IT" sz="5400">
                <a:solidFill>
                  <a:schemeClr val="bg1"/>
                </a:solidFill>
              </a:rPr>
              <a:t>Telepass Base</a:t>
            </a:r>
          </a:p>
          <a:p>
            <a:r>
              <a:rPr lang="it-IT" sz="5400">
                <a:solidFill>
                  <a:schemeClr val="bg1"/>
                </a:solidFill>
              </a:rPr>
              <a:t>offerta e promozione</a:t>
            </a:r>
          </a:p>
        </p:txBody>
      </p:sp>
      <p:pic>
        <p:nvPicPr>
          <p:cNvPr id="6" name="Image 1" descr=" "/>
          <p:cNvPicPr>
            <a:picLocks noChangeAspect="1"/>
          </p:cNvPicPr>
          <p:nvPr/>
        </p:nvPicPr>
        <p:blipFill>
          <a:blip r:embed="rId4"/>
          <a:stretch>
            <a:fillRect/>
          </a:stretch>
        </p:blipFill>
        <p:spPr>
          <a:xfrm>
            <a:off x="10286947" y="381397"/>
            <a:ext cx="1269994" cy="290941"/>
          </a:xfrm>
          <a:prstGeom prst="rect">
            <a:avLst/>
          </a:prstGeom>
        </p:spPr>
      </p:pic>
      <p:pic>
        <p:nvPicPr>
          <p:cNvPr id="7"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31433" y="427997"/>
            <a:ext cx="163146" cy="192229"/>
          </a:xfrm>
          <a:prstGeom prst="rect">
            <a:avLst/>
          </a:prstGeom>
        </p:spPr>
      </p:pic>
      <p:pic>
        <p:nvPicPr>
          <p:cNvPr id="8" name="Image 3" descr=" "/>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631786" y="469371"/>
            <a:ext cx="126305" cy="123972"/>
          </a:xfrm>
          <a:prstGeom prst="rect">
            <a:avLst/>
          </a:prstGeom>
        </p:spPr>
      </p:pic>
      <p:pic>
        <p:nvPicPr>
          <p:cNvPr id="9" name="Image 4" descr=" "/>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758810" y="416419"/>
            <a:ext cx="75828" cy="176903"/>
          </a:xfrm>
          <a:prstGeom prst="rect">
            <a:avLst/>
          </a:prstGeom>
        </p:spPr>
      </p:pic>
      <p:pic>
        <p:nvPicPr>
          <p:cNvPr id="10" name="Image 5" descr=" "/>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0822626" y="469609"/>
            <a:ext cx="126417" cy="123721"/>
          </a:xfrm>
          <a:prstGeom prst="rect">
            <a:avLst/>
          </a:prstGeom>
        </p:spPr>
      </p:pic>
      <p:pic>
        <p:nvPicPr>
          <p:cNvPr id="11" name="Image 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939511" y="469593"/>
            <a:ext cx="160176" cy="168090"/>
          </a:xfrm>
          <a:prstGeom prst="rect">
            <a:avLst/>
          </a:prstGeom>
        </p:spPr>
      </p:pic>
      <p:pic>
        <p:nvPicPr>
          <p:cNvPr id="12" name="Image 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114135" y="469110"/>
            <a:ext cx="149714" cy="124218"/>
          </a:xfrm>
          <a:prstGeom prst="rect">
            <a:avLst/>
          </a:prstGeom>
        </p:spPr>
      </p:pic>
      <p:pic>
        <p:nvPicPr>
          <p:cNvPr id="13" name="Image 8" descr=" "/>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1257977" y="469723"/>
            <a:ext cx="120376" cy="123662"/>
          </a:xfrm>
          <a:prstGeom prst="rect">
            <a:avLst/>
          </a:prstGeom>
        </p:spPr>
      </p:pic>
      <p:pic>
        <p:nvPicPr>
          <p:cNvPr id="14" name="Image 9" descr=" "/>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378279" y="469867"/>
            <a:ext cx="120042" cy="123523"/>
          </a:xfrm>
          <a:prstGeom prst="rect">
            <a:avLst/>
          </a:prstGeom>
        </p:spPr>
      </p:pic>
      <p:pic>
        <p:nvPicPr>
          <p:cNvPr id="15" name="Image 10"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533101" y="433049"/>
            <a:ext cx="148939" cy="160273"/>
          </a:xfrm>
          <a:prstGeom prst="rect">
            <a:avLst/>
          </a:prstGeom>
        </p:spPr>
      </p:pic>
    </p:spTree>
    <p:extLst>
      <p:ext uri="{BB962C8B-B14F-4D97-AF65-F5344CB8AC3E}">
        <p14:creationId xmlns:p14="http://schemas.microsoft.com/office/powerpoint/2010/main" val="3978246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227CF7FC-E73F-769D-76B2-B91EE66F6604}"/>
              </a:ext>
            </a:extLst>
          </p:cNvPr>
          <p:cNvSpPr>
            <a:spLocks noGrp="1"/>
          </p:cNvSpPr>
          <p:nvPr>
            <p:ph type="sldNum" sz="quarter" idx="2"/>
          </p:nvPr>
        </p:nvSpPr>
        <p:spPr>
          <a:xfrm>
            <a:off x="11614996" y="6443521"/>
            <a:ext cx="409933" cy="272589"/>
          </a:xfrm>
        </p:spPr>
        <p:txBody>
          <a:bodyPr/>
          <a:lstStyle/>
          <a:p>
            <a:fld id="{86CB4B4D-7CA3-9044-876B-883B54F8677D}" type="slidenum">
              <a:rPr lang="it-IT" noProof="0" smtClean="0"/>
              <a:pPr/>
              <a:t>3</a:t>
            </a:fld>
            <a:endParaRPr lang="it-IT" noProof="0"/>
          </a:p>
        </p:txBody>
      </p:sp>
      <p:pic>
        <p:nvPicPr>
          <p:cNvPr id="8" name="Picture 2" descr="Rimborso Ritardi: al Pedaggio ci Pensiamo Noi | Telepass">
            <a:extLst>
              <a:ext uri="{FF2B5EF4-FFF2-40B4-BE49-F238E27FC236}">
                <a16:creationId xmlns:a16="http://schemas.microsoft.com/office/drawing/2014/main" id="{3A4CB319-1102-12E8-093A-25EE98FE0C4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809071" y="189906"/>
            <a:ext cx="1061873" cy="700837"/>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26">
            <a:extLst>
              <a:ext uri="{FF2B5EF4-FFF2-40B4-BE49-F238E27FC236}">
                <a16:creationId xmlns:a16="http://schemas.microsoft.com/office/drawing/2014/main" id="{F096A11D-6D55-81A6-8956-E8B2F95001F6}"/>
              </a:ext>
            </a:extLst>
          </p:cNvPr>
          <p:cNvSpPr>
            <a:spLocks noGrp="1"/>
          </p:cNvSpPr>
          <p:nvPr>
            <p:ph type="body" sz="quarter" idx="11"/>
          </p:nvPr>
        </p:nvSpPr>
        <p:spPr>
          <a:xfrm>
            <a:off x="686902" y="158901"/>
            <a:ext cx="10260000" cy="782638"/>
          </a:xfrm>
        </p:spPr>
        <p:txBody>
          <a:bodyPr anchor="ctr">
            <a:normAutofit/>
          </a:bodyPr>
          <a:lstStyle/>
          <a:p>
            <a:r>
              <a:rPr lang="it-IT" b="1">
                <a:latin typeface="Poppins" panose="00000500000000000000" pitchFamily="2" charset="0"/>
              </a:rPr>
              <a:t>Telepass Base</a:t>
            </a:r>
          </a:p>
          <a:p>
            <a:r>
              <a:rPr lang="it-IT" sz="1600" b="1">
                <a:solidFill>
                  <a:schemeClr val="bg1">
                    <a:lumMod val="65000"/>
                  </a:schemeClr>
                </a:solidFill>
                <a:latin typeface="Poppins" panose="00000500000000000000" pitchFamily="2" charset="0"/>
              </a:rPr>
              <a:t>COSA OFFRIAMO</a:t>
            </a:r>
          </a:p>
        </p:txBody>
      </p:sp>
      <p:sp>
        <p:nvSpPr>
          <p:cNvPr id="56" name="Rectangle 55">
            <a:extLst>
              <a:ext uri="{FF2B5EF4-FFF2-40B4-BE49-F238E27FC236}">
                <a16:creationId xmlns:a16="http://schemas.microsoft.com/office/drawing/2014/main" id="{BFE061FA-0D94-6EF7-9F64-028E7DBE1719}"/>
              </a:ext>
            </a:extLst>
          </p:cNvPr>
          <p:cNvSpPr/>
          <p:nvPr/>
        </p:nvSpPr>
        <p:spPr>
          <a:xfrm>
            <a:off x="279132" y="1232034"/>
            <a:ext cx="3811605" cy="1891828"/>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mj-lt"/>
            </a:endParaRPr>
          </a:p>
        </p:txBody>
      </p:sp>
      <p:sp>
        <p:nvSpPr>
          <p:cNvPr id="58" name="Rectangle 57">
            <a:extLst>
              <a:ext uri="{FF2B5EF4-FFF2-40B4-BE49-F238E27FC236}">
                <a16:creationId xmlns:a16="http://schemas.microsoft.com/office/drawing/2014/main" id="{D48DAABC-903B-3EB8-A770-39DEDD7D40B4}"/>
              </a:ext>
            </a:extLst>
          </p:cNvPr>
          <p:cNvSpPr/>
          <p:nvPr/>
        </p:nvSpPr>
        <p:spPr>
          <a:xfrm>
            <a:off x="4216841" y="1232034"/>
            <a:ext cx="3811605" cy="1891828"/>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mj-lt"/>
            </a:endParaRPr>
          </a:p>
        </p:txBody>
      </p:sp>
      <p:sp>
        <p:nvSpPr>
          <p:cNvPr id="60" name="Rectangle 59">
            <a:extLst>
              <a:ext uri="{FF2B5EF4-FFF2-40B4-BE49-F238E27FC236}">
                <a16:creationId xmlns:a16="http://schemas.microsoft.com/office/drawing/2014/main" id="{E2D86463-4926-7CFF-BB8F-DAE6C2622BB9}"/>
              </a:ext>
            </a:extLst>
          </p:cNvPr>
          <p:cNvSpPr/>
          <p:nvPr/>
        </p:nvSpPr>
        <p:spPr>
          <a:xfrm>
            <a:off x="8154550" y="1232034"/>
            <a:ext cx="3811605" cy="1891828"/>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mj-lt"/>
            </a:endParaRPr>
          </a:p>
        </p:txBody>
      </p:sp>
      <p:sp>
        <p:nvSpPr>
          <p:cNvPr id="62" name="Rectangle 61">
            <a:extLst>
              <a:ext uri="{FF2B5EF4-FFF2-40B4-BE49-F238E27FC236}">
                <a16:creationId xmlns:a16="http://schemas.microsoft.com/office/drawing/2014/main" id="{BD2B38E9-86A9-BAAC-F43B-7A208DAC4D7B}"/>
              </a:ext>
            </a:extLst>
          </p:cNvPr>
          <p:cNvSpPr/>
          <p:nvPr/>
        </p:nvSpPr>
        <p:spPr>
          <a:xfrm>
            <a:off x="279132" y="3267313"/>
            <a:ext cx="3811605" cy="1891828"/>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mj-lt"/>
            </a:endParaRPr>
          </a:p>
        </p:txBody>
      </p:sp>
      <p:sp>
        <p:nvSpPr>
          <p:cNvPr id="66" name="Rectangle 65">
            <a:extLst>
              <a:ext uri="{FF2B5EF4-FFF2-40B4-BE49-F238E27FC236}">
                <a16:creationId xmlns:a16="http://schemas.microsoft.com/office/drawing/2014/main" id="{10729E63-15B6-0B55-36DA-4A4F57A0A737}"/>
              </a:ext>
            </a:extLst>
          </p:cNvPr>
          <p:cNvSpPr/>
          <p:nvPr/>
        </p:nvSpPr>
        <p:spPr>
          <a:xfrm>
            <a:off x="4216841" y="3267313"/>
            <a:ext cx="3811605" cy="1891828"/>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mj-lt"/>
            </a:endParaRPr>
          </a:p>
        </p:txBody>
      </p:sp>
      <p:sp>
        <p:nvSpPr>
          <p:cNvPr id="71" name="Rectangle 70">
            <a:extLst>
              <a:ext uri="{FF2B5EF4-FFF2-40B4-BE49-F238E27FC236}">
                <a16:creationId xmlns:a16="http://schemas.microsoft.com/office/drawing/2014/main" id="{8FBDF6E9-DF87-6F00-C8CF-94BA3C6FEFC7}"/>
              </a:ext>
            </a:extLst>
          </p:cNvPr>
          <p:cNvSpPr/>
          <p:nvPr/>
        </p:nvSpPr>
        <p:spPr>
          <a:xfrm>
            <a:off x="8154550" y="3267313"/>
            <a:ext cx="3811605" cy="1891828"/>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mj-lt"/>
            </a:endParaRPr>
          </a:p>
        </p:txBody>
      </p:sp>
      <p:sp>
        <p:nvSpPr>
          <p:cNvPr id="74" name="Rectangle 73">
            <a:extLst>
              <a:ext uri="{FF2B5EF4-FFF2-40B4-BE49-F238E27FC236}">
                <a16:creationId xmlns:a16="http://schemas.microsoft.com/office/drawing/2014/main" id="{450F7FCF-E1AB-E66E-C42B-DB577A1F8850}"/>
              </a:ext>
            </a:extLst>
          </p:cNvPr>
          <p:cNvSpPr/>
          <p:nvPr/>
        </p:nvSpPr>
        <p:spPr>
          <a:xfrm>
            <a:off x="686902" y="5302592"/>
            <a:ext cx="11279253" cy="1413518"/>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mj-lt"/>
            </a:endParaRPr>
          </a:p>
        </p:txBody>
      </p:sp>
      <p:sp>
        <p:nvSpPr>
          <p:cNvPr id="75" name="Oval 74">
            <a:extLst>
              <a:ext uri="{FF2B5EF4-FFF2-40B4-BE49-F238E27FC236}">
                <a16:creationId xmlns:a16="http://schemas.microsoft.com/office/drawing/2014/main" id="{A9C6CD06-CA94-A754-5C4C-512DCE662D34}"/>
              </a:ext>
            </a:extLst>
          </p:cNvPr>
          <p:cNvSpPr/>
          <p:nvPr/>
        </p:nvSpPr>
        <p:spPr>
          <a:xfrm>
            <a:off x="279132" y="5631351"/>
            <a:ext cx="756000" cy="756000"/>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4400" b="1">
                <a:latin typeface="+mj-lt"/>
              </a:rPr>
              <a:t>+</a:t>
            </a:r>
          </a:p>
        </p:txBody>
      </p:sp>
      <p:grpSp>
        <p:nvGrpSpPr>
          <p:cNvPr id="76" name="Group 75">
            <a:extLst>
              <a:ext uri="{FF2B5EF4-FFF2-40B4-BE49-F238E27FC236}">
                <a16:creationId xmlns:a16="http://schemas.microsoft.com/office/drawing/2014/main" id="{B734D43A-1E3B-E577-88A2-E5EAF7B02555}"/>
              </a:ext>
            </a:extLst>
          </p:cNvPr>
          <p:cNvGrpSpPr/>
          <p:nvPr/>
        </p:nvGrpSpPr>
        <p:grpSpPr>
          <a:xfrm>
            <a:off x="394469" y="1429291"/>
            <a:ext cx="525325" cy="616135"/>
            <a:chOff x="495401" y="1610156"/>
            <a:chExt cx="551517" cy="681286"/>
          </a:xfrm>
        </p:grpSpPr>
        <p:pic>
          <p:nvPicPr>
            <p:cNvPr id="77" name="Graphic 76">
              <a:extLst>
                <a:ext uri="{FF2B5EF4-FFF2-40B4-BE49-F238E27FC236}">
                  <a16:creationId xmlns:a16="http://schemas.microsoft.com/office/drawing/2014/main" id="{FC1A20C8-D97F-00AB-7F34-712B1EF1B43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5401" y="1610156"/>
              <a:ext cx="551517" cy="681286"/>
            </a:xfrm>
            <a:prstGeom prst="rect">
              <a:avLst/>
            </a:prstGeom>
          </p:spPr>
        </p:pic>
        <p:sp>
          <p:nvSpPr>
            <p:cNvPr id="78" name="TextBox 18">
              <a:extLst>
                <a:ext uri="{FF2B5EF4-FFF2-40B4-BE49-F238E27FC236}">
                  <a16:creationId xmlns:a16="http://schemas.microsoft.com/office/drawing/2014/main" id="{95B57075-ED61-6E04-8634-E5660894FBC5}"/>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2000" b="1" i="0" u="none" strike="noStrike" kern="1200" cap="none" spc="0" normalizeH="0" baseline="0" noProof="0">
                  <a:ln>
                    <a:noFill/>
                  </a:ln>
                  <a:solidFill>
                    <a:srgbClr val="2059A8"/>
                  </a:solidFill>
                  <a:effectLst/>
                  <a:uLnTx/>
                  <a:uFillTx/>
                  <a:latin typeface="+mj-lt"/>
                  <a:ea typeface="+mn-ea"/>
                  <a:cs typeface="Poppins" panose="00000500000000000000" pitchFamily="2" charset="0"/>
                </a:rPr>
                <a:t>1</a:t>
              </a:r>
              <a:endParaRPr kumimoji="0" lang="en-US" sz="2000" b="1" i="0" u="none" strike="noStrike" kern="1200" cap="none" spc="0" normalizeH="0" baseline="0" noProof="0">
                <a:ln>
                  <a:noFill/>
                </a:ln>
                <a:solidFill>
                  <a:srgbClr val="2059A8"/>
                </a:solidFill>
                <a:effectLst/>
                <a:uLnTx/>
                <a:uFillTx/>
                <a:latin typeface="+mj-lt"/>
                <a:ea typeface="+mn-ea"/>
                <a:cs typeface="Poppins" panose="00000500000000000000" pitchFamily="2" charset="0"/>
              </a:endParaRPr>
            </a:p>
          </p:txBody>
        </p:sp>
      </p:grpSp>
      <p:pic>
        <p:nvPicPr>
          <p:cNvPr id="79" name="Picture 78" descr="A screenshot of a mobile device&#10;&#10;Description automatically generated">
            <a:extLst>
              <a:ext uri="{FF2B5EF4-FFF2-40B4-BE49-F238E27FC236}">
                <a16:creationId xmlns:a16="http://schemas.microsoft.com/office/drawing/2014/main" id="{BC404FDE-3A71-C837-5862-408590559132}"/>
              </a:ext>
            </a:extLst>
          </p:cNvPr>
          <p:cNvPicPr>
            <a:picLocks noChangeAspect="1"/>
          </p:cNvPicPr>
          <p:nvPr/>
        </p:nvPicPr>
        <p:blipFill rotWithShape="1">
          <a:blip r:embed="rId6">
            <a:extLst>
              <a:ext uri="{28A0092B-C50C-407E-A947-70E740481C1C}">
                <a14:useLocalDpi xmlns:a14="http://schemas.microsoft.com/office/drawing/2010/main"/>
              </a:ext>
            </a:extLst>
          </a:blip>
          <a:srcRect b="25673"/>
          <a:stretch/>
        </p:blipFill>
        <p:spPr>
          <a:xfrm>
            <a:off x="892483" y="1348005"/>
            <a:ext cx="1075188" cy="836456"/>
          </a:xfrm>
          <a:prstGeom prst="rect">
            <a:avLst/>
          </a:prstGeom>
        </p:spPr>
      </p:pic>
      <p:sp>
        <p:nvSpPr>
          <p:cNvPr id="80" name="TextBox 79">
            <a:extLst>
              <a:ext uri="{FF2B5EF4-FFF2-40B4-BE49-F238E27FC236}">
                <a16:creationId xmlns:a16="http://schemas.microsoft.com/office/drawing/2014/main" id="{0C169D49-C980-950F-599B-E83A7D047218}"/>
              </a:ext>
            </a:extLst>
          </p:cNvPr>
          <p:cNvSpPr txBox="1"/>
          <p:nvPr/>
        </p:nvSpPr>
        <p:spPr>
          <a:xfrm>
            <a:off x="1899181" y="1537303"/>
            <a:ext cx="1909890" cy="400110"/>
          </a:xfrm>
          <a:prstGeom prst="rect">
            <a:avLst/>
          </a:prstGeom>
          <a:noFill/>
        </p:spPr>
        <p:txBody>
          <a:bodyPr wrap="square" rtlCol="0">
            <a:spAutoFit/>
          </a:bodyPr>
          <a:lstStyle/>
          <a:p>
            <a:pPr algn="ctr"/>
            <a:r>
              <a:rPr lang="it-IT" sz="2000" b="1">
                <a:latin typeface="+mj-lt"/>
              </a:rPr>
              <a:t>Pedaggio</a:t>
            </a:r>
            <a:endParaRPr lang="en-GB" sz="2000" b="1">
              <a:latin typeface="+mj-lt"/>
            </a:endParaRPr>
          </a:p>
        </p:txBody>
      </p:sp>
      <p:sp>
        <p:nvSpPr>
          <p:cNvPr id="81" name="TextBox 80">
            <a:extLst>
              <a:ext uri="{FF2B5EF4-FFF2-40B4-BE49-F238E27FC236}">
                <a16:creationId xmlns:a16="http://schemas.microsoft.com/office/drawing/2014/main" id="{BB5F857F-A1E5-E1C0-D031-29820B4B148D}"/>
              </a:ext>
            </a:extLst>
          </p:cNvPr>
          <p:cNvSpPr txBox="1"/>
          <p:nvPr/>
        </p:nvSpPr>
        <p:spPr>
          <a:xfrm>
            <a:off x="279132" y="2299037"/>
            <a:ext cx="3769085" cy="523220"/>
          </a:xfrm>
          <a:prstGeom prst="rect">
            <a:avLst/>
          </a:prstGeom>
          <a:noFill/>
        </p:spPr>
        <p:txBody>
          <a:bodyPr wrap="square">
            <a:spAutoFit/>
          </a:bodyPr>
          <a:lstStyle/>
          <a:p>
            <a:pPr algn="ctr">
              <a:spcAft>
                <a:spcPts val="1800"/>
              </a:spcAft>
            </a:pPr>
            <a:r>
              <a:rPr lang="it-IT" sz="1400">
                <a:solidFill>
                  <a:srgbClr val="002752"/>
                </a:solidFill>
                <a:latin typeface="+mj-lt"/>
                <a:cs typeface="Poppins Medium"/>
              </a:rPr>
              <a:t>Pagamento del pedaggio in tutta Italia saltando le lunghe code al casello</a:t>
            </a:r>
          </a:p>
        </p:txBody>
      </p:sp>
      <p:grpSp>
        <p:nvGrpSpPr>
          <p:cNvPr id="82" name="Group 81">
            <a:extLst>
              <a:ext uri="{FF2B5EF4-FFF2-40B4-BE49-F238E27FC236}">
                <a16:creationId xmlns:a16="http://schemas.microsoft.com/office/drawing/2014/main" id="{501FACFF-E576-59F5-1D47-4761B8D9CB40}"/>
              </a:ext>
            </a:extLst>
          </p:cNvPr>
          <p:cNvGrpSpPr/>
          <p:nvPr/>
        </p:nvGrpSpPr>
        <p:grpSpPr>
          <a:xfrm>
            <a:off x="394469" y="3454475"/>
            <a:ext cx="525325" cy="616135"/>
            <a:chOff x="495401" y="1610156"/>
            <a:chExt cx="551517" cy="681286"/>
          </a:xfrm>
        </p:grpSpPr>
        <p:pic>
          <p:nvPicPr>
            <p:cNvPr id="83" name="Graphic 82">
              <a:extLst>
                <a:ext uri="{FF2B5EF4-FFF2-40B4-BE49-F238E27FC236}">
                  <a16:creationId xmlns:a16="http://schemas.microsoft.com/office/drawing/2014/main" id="{8582EF75-394C-CCDE-E8FE-BA2175CB492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5401" y="1610156"/>
              <a:ext cx="551517" cy="681286"/>
            </a:xfrm>
            <a:prstGeom prst="rect">
              <a:avLst/>
            </a:prstGeom>
          </p:spPr>
        </p:pic>
        <p:sp>
          <p:nvSpPr>
            <p:cNvPr id="84" name="TextBox 18">
              <a:extLst>
                <a:ext uri="{FF2B5EF4-FFF2-40B4-BE49-F238E27FC236}">
                  <a16:creationId xmlns:a16="http://schemas.microsoft.com/office/drawing/2014/main" id="{2FAFD75A-55F7-6299-7ACB-74C16E70D743}"/>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mj-lt"/>
                  <a:cs typeface="Poppins" panose="00000500000000000000" pitchFamily="2" charset="0"/>
                </a:rPr>
                <a:t>4</a:t>
              </a:r>
              <a:endParaRPr kumimoji="0" lang="en-US" sz="2000" b="1" i="0" u="none" strike="noStrike" kern="1200" cap="none" spc="0" normalizeH="0" baseline="0" noProof="0">
                <a:ln>
                  <a:noFill/>
                </a:ln>
                <a:solidFill>
                  <a:srgbClr val="2059A8"/>
                </a:solidFill>
                <a:effectLst/>
                <a:uLnTx/>
                <a:uFillTx/>
                <a:latin typeface="+mj-lt"/>
                <a:ea typeface="+mn-ea"/>
                <a:cs typeface="Poppins" panose="00000500000000000000" pitchFamily="2" charset="0"/>
              </a:endParaRPr>
            </a:p>
          </p:txBody>
        </p:sp>
      </p:grpSp>
      <p:sp>
        <p:nvSpPr>
          <p:cNvPr id="86" name="TextBox 85">
            <a:extLst>
              <a:ext uri="{FF2B5EF4-FFF2-40B4-BE49-F238E27FC236}">
                <a16:creationId xmlns:a16="http://schemas.microsoft.com/office/drawing/2014/main" id="{A08E7DD4-B098-BAB1-2938-5C520B9DEC62}"/>
              </a:ext>
            </a:extLst>
          </p:cNvPr>
          <p:cNvSpPr txBox="1"/>
          <p:nvPr/>
        </p:nvSpPr>
        <p:spPr>
          <a:xfrm>
            <a:off x="1665170" y="3369980"/>
            <a:ext cx="2325415" cy="707886"/>
          </a:xfrm>
          <a:prstGeom prst="rect">
            <a:avLst/>
          </a:prstGeom>
          <a:noFill/>
        </p:spPr>
        <p:txBody>
          <a:bodyPr wrap="square" rtlCol="0">
            <a:spAutoFit/>
          </a:bodyPr>
          <a:lstStyle/>
          <a:p>
            <a:pPr algn="ctr"/>
            <a:r>
              <a:rPr lang="it-IT" sz="2000" b="1">
                <a:latin typeface="+mj-lt"/>
              </a:rPr>
              <a:t>ZTL</a:t>
            </a:r>
          </a:p>
          <a:p>
            <a:pPr algn="ctr"/>
            <a:r>
              <a:rPr lang="it-IT" sz="2000" b="1">
                <a:latin typeface="+mj-lt"/>
              </a:rPr>
              <a:t>(Area C Milano)</a:t>
            </a:r>
          </a:p>
        </p:txBody>
      </p:sp>
      <p:sp>
        <p:nvSpPr>
          <p:cNvPr id="87" name="TextBox 86">
            <a:extLst>
              <a:ext uri="{FF2B5EF4-FFF2-40B4-BE49-F238E27FC236}">
                <a16:creationId xmlns:a16="http://schemas.microsoft.com/office/drawing/2014/main" id="{4ABE45BA-6E4C-F9C6-3814-EEFBEA30F797}"/>
              </a:ext>
            </a:extLst>
          </p:cNvPr>
          <p:cNvSpPr txBox="1"/>
          <p:nvPr/>
        </p:nvSpPr>
        <p:spPr>
          <a:xfrm>
            <a:off x="394469" y="4324221"/>
            <a:ext cx="3537451" cy="523220"/>
          </a:xfrm>
          <a:prstGeom prst="rect">
            <a:avLst/>
          </a:prstGeom>
          <a:noFill/>
        </p:spPr>
        <p:txBody>
          <a:bodyPr wrap="square">
            <a:spAutoFit/>
          </a:bodyPr>
          <a:lstStyle/>
          <a:p>
            <a:pPr algn="ctr">
              <a:spcAft>
                <a:spcPts val="1800"/>
              </a:spcAft>
            </a:pPr>
            <a:r>
              <a:rPr lang="it-IT" sz="1400">
                <a:solidFill>
                  <a:srgbClr val="002752"/>
                </a:solidFill>
                <a:latin typeface="+mj-lt"/>
                <a:cs typeface="Poppins Medium"/>
              </a:rPr>
              <a:t>Pagamento in automatico l’Area C di Milano registrando la tua targa</a:t>
            </a:r>
          </a:p>
        </p:txBody>
      </p:sp>
      <p:grpSp>
        <p:nvGrpSpPr>
          <p:cNvPr id="88" name="Group 87">
            <a:extLst>
              <a:ext uri="{FF2B5EF4-FFF2-40B4-BE49-F238E27FC236}">
                <a16:creationId xmlns:a16="http://schemas.microsoft.com/office/drawing/2014/main" id="{53031938-4A9B-ED2A-0C63-E8CAC8809374}"/>
              </a:ext>
            </a:extLst>
          </p:cNvPr>
          <p:cNvGrpSpPr/>
          <p:nvPr/>
        </p:nvGrpSpPr>
        <p:grpSpPr>
          <a:xfrm>
            <a:off x="4327274" y="1429291"/>
            <a:ext cx="525325" cy="616135"/>
            <a:chOff x="495401" y="1610156"/>
            <a:chExt cx="551517" cy="681286"/>
          </a:xfrm>
        </p:grpSpPr>
        <p:pic>
          <p:nvPicPr>
            <p:cNvPr id="89" name="Graphic 88">
              <a:extLst>
                <a:ext uri="{FF2B5EF4-FFF2-40B4-BE49-F238E27FC236}">
                  <a16:creationId xmlns:a16="http://schemas.microsoft.com/office/drawing/2014/main" id="{80C78CC3-1EE5-DCA4-7366-B3E4F3EB98B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5401" y="1610156"/>
              <a:ext cx="551517" cy="681286"/>
            </a:xfrm>
            <a:prstGeom prst="rect">
              <a:avLst/>
            </a:prstGeom>
          </p:spPr>
        </p:pic>
        <p:sp>
          <p:nvSpPr>
            <p:cNvPr id="90" name="TextBox 18">
              <a:extLst>
                <a:ext uri="{FF2B5EF4-FFF2-40B4-BE49-F238E27FC236}">
                  <a16:creationId xmlns:a16="http://schemas.microsoft.com/office/drawing/2014/main" id="{642A9BB2-9480-0CB8-5D55-0060228488E7}"/>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mj-lt"/>
                  <a:cs typeface="Poppins" panose="00000500000000000000" pitchFamily="2" charset="0"/>
                </a:rPr>
                <a:t>2</a:t>
              </a:r>
              <a:endParaRPr kumimoji="0" lang="en-US" sz="2000" b="1" i="0" u="none" strike="noStrike" kern="1200" cap="none" spc="0" normalizeH="0" baseline="0" noProof="0">
                <a:ln>
                  <a:noFill/>
                </a:ln>
                <a:solidFill>
                  <a:srgbClr val="2059A8"/>
                </a:solidFill>
                <a:effectLst/>
                <a:uLnTx/>
                <a:uFillTx/>
                <a:latin typeface="+mj-lt"/>
                <a:ea typeface="+mn-ea"/>
                <a:cs typeface="Poppins" panose="00000500000000000000" pitchFamily="2" charset="0"/>
              </a:endParaRPr>
            </a:p>
          </p:txBody>
        </p:sp>
      </p:grpSp>
      <p:sp>
        <p:nvSpPr>
          <p:cNvPr id="92" name="TextBox 91">
            <a:extLst>
              <a:ext uri="{FF2B5EF4-FFF2-40B4-BE49-F238E27FC236}">
                <a16:creationId xmlns:a16="http://schemas.microsoft.com/office/drawing/2014/main" id="{12FE5D81-400E-950E-977D-922729FC9458}"/>
              </a:ext>
            </a:extLst>
          </p:cNvPr>
          <p:cNvSpPr txBox="1"/>
          <p:nvPr/>
        </p:nvSpPr>
        <p:spPr>
          <a:xfrm>
            <a:off x="5831986" y="1383300"/>
            <a:ext cx="1909890" cy="707886"/>
          </a:xfrm>
          <a:prstGeom prst="rect">
            <a:avLst/>
          </a:prstGeom>
          <a:noFill/>
        </p:spPr>
        <p:txBody>
          <a:bodyPr wrap="square" rtlCol="0">
            <a:spAutoFit/>
          </a:bodyPr>
          <a:lstStyle/>
          <a:p>
            <a:pPr algn="ctr"/>
            <a:r>
              <a:rPr lang="it-IT" sz="2000" b="1">
                <a:latin typeface="+mj-lt"/>
              </a:rPr>
              <a:t>Parcheggio in struttura</a:t>
            </a:r>
            <a:endParaRPr lang="en-GB" sz="2000" b="1">
              <a:latin typeface="+mj-lt"/>
            </a:endParaRPr>
          </a:p>
        </p:txBody>
      </p:sp>
      <p:sp>
        <p:nvSpPr>
          <p:cNvPr id="93" name="TextBox 92">
            <a:extLst>
              <a:ext uri="{FF2B5EF4-FFF2-40B4-BE49-F238E27FC236}">
                <a16:creationId xmlns:a16="http://schemas.microsoft.com/office/drawing/2014/main" id="{1CE99DA7-1F2A-654A-1837-096F34DFB6C3}"/>
              </a:ext>
            </a:extLst>
          </p:cNvPr>
          <p:cNvSpPr txBox="1"/>
          <p:nvPr/>
        </p:nvSpPr>
        <p:spPr>
          <a:xfrm>
            <a:off x="4327274" y="2299037"/>
            <a:ext cx="3537451" cy="738664"/>
          </a:xfrm>
          <a:prstGeom prst="rect">
            <a:avLst/>
          </a:prstGeom>
          <a:noFill/>
        </p:spPr>
        <p:txBody>
          <a:bodyPr wrap="square">
            <a:spAutoFit/>
          </a:bodyPr>
          <a:lstStyle/>
          <a:p>
            <a:pPr algn="ctr">
              <a:spcAft>
                <a:spcPts val="1800"/>
              </a:spcAft>
            </a:pPr>
            <a:r>
              <a:rPr lang="it-IT" sz="1400" dirty="0">
                <a:solidFill>
                  <a:srgbClr val="002752"/>
                </a:solidFill>
                <a:latin typeface="+mj-lt"/>
                <a:cs typeface="Poppins Medium"/>
              </a:rPr>
              <a:t>Accesso a più </a:t>
            </a:r>
            <a:r>
              <a:rPr lang="it-IT" sz="1400">
                <a:solidFill>
                  <a:srgbClr val="002752"/>
                </a:solidFill>
                <a:latin typeface="+mj-lt"/>
                <a:cs typeface="Poppins Medium"/>
              </a:rPr>
              <a:t>di 380 </a:t>
            </a:r>
            <a:r>
              <a:rPr lang="it-IT" sz="1400" dirty="0">
                <a:solidFill>
                  <a:srgbClr val="002752"/>
                </a:solidFill>
                <a:latin typeface="+mj-lt"/>
                <a:cs typeface="Poppins Medium"/>
              </a:rPr>
              <a:t>Parcheggi Convenzionati di aeroporti, stazioni e fiere</a:t>
            </a:r>
          </a:p>
        </p:txBody>
      </p:sp>
      <p:grpSp>
        <p:nvGrpSpPr>
          <p:cNvPr id="94" name="Group 93">
            <a:extLst>
              <a:ext uri="{FF2B5EF4-FFF2-40B4-BE49-F238E27FC236}">
                <a16:creationId xmlns:a16="http://schemas.microsoft.com/office/drawing/2014/main" id="{A92D3CAD-32C3-19C7-496C-015856C615DD}"/>
              </a:ext>
            </a:extLst>
          </p:cNvPr>
          <p:cNvGrpSpPr/>
          <p:nvPr/>
        </p:nvGrpSpPr>
        <p:grpSpPr>
          <a:xfrm>
            <a:off x="4327274" y="3454475"/>
            <a:ext cx="525325" cy="616135"/>
            <a:chOff x="495401" y="1610156"/>
            <a:chExt cx="551517" cy="681286"/>
          </a:xfrm>
        </p:grpSpPr>
        <p:pic>
          <p:nvPicPr>
            <p:cNvPr id="95" name="Graphic 94">
              <a:extLst>
                <a:ext uri="{FF2B5EF4-FFF2-40B4-BE49-F238E27FC236}">
                  <a16:creationId xmlns:a16="http://schemas.microsoft.com/office/drawing/2014/main" id="{315E5AE9-DDEB-FE4C-D1FB-152B7026414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5401" y="1610156"/>
              <a:ext cx="551517" cy="681286"/>
            </a:xfrm>
            <a:prstGeom prst="rect">
              <a:avLst/>
            </a:prstGeom>
          </p:spPr>
        </p:pic>
        <p:sp>
          <p:nvSpPr>
            <p:cNvPr id="96" name="TextBox 18">
              <a:extLst>
                <a:ext uri="{FF2B5EF4-FFF2-40B4-BE49-F238E27FC236}">
                  <a16:creationId xmlns:a16="http://schemas.microsoft.com/office/drawing/2014/main" id="{49B44CFB-A83E-E521-53BC-78D5A9F8E3DB}"/>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mj-lt"/>
                  <a:cs typeface="Poppins" panose="00000500000000000000" pitchFamily="2" charset="0"/>
                </a:rPr>
                <a:t>5</a:t>
              </a:r>
              <a:endParaRPr kumimoji="0" lang="en-US" sz="2000" b="1" i="0" u="none" strike="noStrike" kern="1200" cap="none" spc="0" normalizeH="0" baseline="0" noProof="0">
                <a:ln>
                  <a:noFill/>
                </a:ln>
                <a:solidFill>
                  <a:srgbClr val="2059A8"/>
                </a:solidFill>
                <a:effectLst/>
                <a:uLnTx/>
                <a:uFillTx/>
                <a:latin typeface="+mj-lt"/>
                <a:ea typeface="+mn-ea"/>
                <a:cs typeface="Poppins" panose="00000500000000000000" pitchFamily="2" charset="0"/>
              </a:endParaRPr>
            </a:p>
          </p:txBody>
        </p:sp>
      </p:grpSp>
      <p:sp>
        <p:nvSpPr>
          <p:cNvPr id="98" name="TextBox 97">
            <a:extLst>
              <a:ext uri="{FF2B5EF4-FFF2-40B4-BE49-F238E27FC236}">
                <a16:creationId xmlns:a16="http://schemas.microsoft.com/office/drawing/2014/main" id="{4613DCC7-2AB1-7C3B-C445-72642630961F}"/>
              </a:ext>
            </a:extLst>
          </p:cNvPr>
          <p:cNvSpPr txBox="1"/>
          <p:nvPr/>
        </p:nvSpPr>
        <p:spPr>
          <a:xfrm>
            <a:off x="5831986" y="3446987"/>
            <a:ext cx="1909890" cy="707886"/>
          </a:xfrm>
          <a:prstGeom prst="rect">
            <a:avLst/>
          </a:prstGeom>
          <a:noFill/>
        </p:spPr>
        <p:txBody>
          <a:bodyPr wrap="square" rtlCol="0">
            <a:spAutoFit/>
          </a:bodyPr>
          <a:lstStyle/>
          <a:p>
            <a:pPr algn="ctr"/>
            <a:r>
              <a:rPr lang="it-IT" sz="2000" b="1">
                <a:latin typeface="+mj-lt"/>
              </a:rPr>
              <a:t>Viaggi in Europa</a:t>
            </a:r>
            <a:endParaRPr lang="en-GB" sz="2000" b="1">
              <a:latin typeface="+mj-lt"/>
            </a:endParaRPr>
          </a:p>
        </p:txBody>
      </p:sp>
      <p:sp>
        <p:nvSpPr>
          <p:cNvPr id="99" name="TextBox 98">
            <a:extLst>
              <a:ext uri="{FF2B5EF4-FFF2-40B4-BE49-F238E27FC236}">
                <a16:creationId xmlns:a16="http://schemas.microsoft.com/office/drawing/2014/main" id="{E3D5C6FD-AB5B-B3C0-3B30-2033D9A8A1C6}"/>
              </a:ext>
            </a:extLst>
          </p:cNvPr>
          <p:cNvSpPr txBox="1"/>
          <p:nvPr/>
        </p:nvSpPr>
        <p:spPr>
          <a:xfrm>
            <a:off x="4327274" y="4324221"/>
            <a:ext cx="3537451" cy="523220"/>
          </a:xfrm>
          <a:prstGeom prst="rect">
            <a:avLst/>
          </a:prstGeom>
          <a:noFill/>
        </p:spPr>
        <p:txBody>
          <a:bodyPr wrap="square">
            <a:spAutoFit/>
          </a:bodyPr>
          <a:lstStyle/>
          <a:p>
            <a:pPr algn="ctr">
              <a:spcAft>
                <a:spcPts val="1800"/>
              </a:spcAft>
            </a:pPr>
            <a:r>
              <a:rPr lang="it-IT" sz="1400">
                <a:solidFill>
                  <a:srgbClr val="002752"/>
                </a:solidFill>
                <a:latin typeface="+mj-lt"/>
                <a:cs typeface="Poppins Medium"/>
              </a:rPr>
              <a:t>Viaggi in Europa e acquisto Vignette elettroniche direttamente in app</a:t>
            </a:r>
          </a:p>
        </p:txBody>
      </p:sp>
      <p:grpSp>
        <p:nvGrpSpPr>
          <p:cNvPr id="100" name="Group 99">
            <a:extLst>
              <a:ext uri="{FF2B5EF4-FFF2-40B4-BE49-F238E27FC236}">
                <a16:creationId xmlns:a16="http://schemas.microsoft.com/office/drawing/2014/main" id="{3AA9BA56-0CB3-867F-D7B3-2E013297FAD4}"/>
              </a:ext>
            </a:extLst>
          </p:cNvPr>
          <p:cNvGrpSpPr/>
          <p:nvPr/>
        </p:nvGrpSpPr>
        <p:grpSpPr>
          <a:xfrm>
            <a:off x="8260080" y="1429291"/>
            <a:ext cx="525325" cy="616135"/>
            <a:chOff x="495401" y="1610156"/>
            <a:chExt cx="551517" cy="681286"/>
          </a:xfrm>
        </p:grpSpPr>
        <p:pic>
          <p:nvPicPr>
            <p:cNvPr id="101" name="Graphic 100">
              <a:extLst>
                <a:ext uri="{FF2B5EF4-FFF2-40B4-BE49-F238E27FC236}">
                  <a16:creationId xmlns:a16="http://schemas.microsoft.com/office/drawing/2014/main" id="{5810A680-78BE-220D-97F3-15BB45AC54F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5401" y="1610156"/>
              <a:ext cx="551517" cy="681286"/>
            </a:xfrm>
            <a:prstGeom prst="rect">
              <a:avLst/>
            </a:prstGeom>
          </p:spPr>
        </p:pic>
        <p:sp>
          <p:nvSpPr>
            <p:cNvPr id="102" name="TextBox 18">
              <a:extLst>
                <a:ext uri="{FF2B5EF4-FFF2-40B4-BE49-F238E27FC236}">
                  <a16:creationId xmlns:a16="http://schemas.microsoft.com/office/drawing/2014/main" id="{8C4FCC54-F1A8-188B-A617-5778B1D0C693}"/>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mj-lt"/>
                  <a:cs typeface="Poppins" panose="00000500000000000000" pitchFamily="2" charset="0"/>
                </a:rPr>
                <a:t>3</a:t>
              </a:r>
              <a:endParaRPr kumimoji="0" lang="en-US" sz="2000" b="1" i="0" u="none" strike="noStrike" kern="1200" cap="none" spc="0" normalizeH="0" baseline="0" noProof="0">
                <a:ln>
                  <a:noFill/>
                </a:ln>
                <a:solidFill>
                  <a:srgbClr val="2059A8"/>
                </a:solidFill>
                <a:effectLst/>
                <a:uLnTx/>
                <a:uFillTx/>
                <a:latin typeface="+mj-lt"/>
                <a:ea typeface="+mn-ea"/>
                <a:cs typeface="Poppins" panose="00000500000000000000" pitchFamily="2" charset="0"/>
              </a:endParaRPr>
            </a:p>
          </p:txBody>
        </p:sp>
      </p:grpSp>
      <p:sp>
        <p:nvSpPr>
          <p:cNvPr id="104" name="TextBox 103">
            <a:extLst>
              <a:ext uri="{FF2B5EF4-FFF2-40B4-BE49-F238E27FC236}">
                <a16:creationId xmlns:a16="http://schemas.microsoft.com/office/drawing/2014/main" id="{C37DDEDC-F730-81DA-8267-CD6DACF194D1}"/>
              </a:ext>
            </a:extLst>
          </p:cNvPr>
          <p:cNvSpPr txBox="1"/>
          <p:nvPr/>
        </p:nvSpPr>
        <p:spPr>
          <a:xfrm>
            <a:off x="9764792" y="1383302"/>
            <a:ext cx="1909890" cy="707886"/>
          </a:xfrm>
          <a:prstGeom prst="rect">
            <a:avLst/>
          </a:prstGeom>
          <a:noFill/>
        </p:spPr>
        <p:txBody>
          <a:bodyPr wrap="square" rtlCol="0">
            <a:spAutoFit/>
          </a:bodyPr>
          <a:lstStyle/>
          <a:p>
            <a:pPr algn="ctr"/>
            <a:r>
              <a:rPr lang="it-IT" sz="2000" b="1">
                <a:latin typeface="+mj-lt"/>
              </a:rPr>
              <a:t>Stretto di Messina</a:t>
            </a:r>
            <a:endParaRPr lang="en-GB" sz="2000" b="1">
              <a:latin typeface="+mj-lt"/>
            </a:endParaRPr>
          </a:p>
        </p:txBody>
      </p:sp>
      <p:sp>
        <p:nvSpPr>
          <p:cNvPr id="105" name="TextBox 104">
            <a:extLst>
              <a:ext uri="{FF2B5EF4-FFF2-40B4-BE49-F238E27FC236}">
                <a16:creationId xmlns:a16="http://schemas.microsoft.com/office/drawing/2014/main" id="{A64763F7-22EE-D982-6FF3-AD81FA96BAA6}"/>
              </a:ext>
            </a:extLst>
          </p:cNvPr>
          <p:cNvSpPr txBox="1"/>
          <p:nvPr/>
        </p:nvSpPr>
        <p:spPr>
          <a:xfrm>
            <a:off x="8260080" y="2299037"/>
            <a:ext cx="3537451" cy="523220"/>
          </a:xfrm>
          <a:prstGeom prst="rect">
            <a:avLst/>
          </a:prstGeom>
          <a:noFill/>
        </p:spPr>
        <p:txBody>
          <a:bodyPr wrap="square">
            <a:spAutoFit/>
          </a:bodyPr>
          <a:lstStyle/>
          <a:p>
            <a:pPr algn="ctr">
              <a:spcAft>
                <a:spcPts val="1800"/>
              </a:spcAft>
            </a:pPr>
            <a:r>
              <a:rPr lang="it-IT" sz="1400">
                <a:solidFill>
                  <a:srgbClr val="002752"/>
                </a:solidFill>
                <a:latin typeface="+mj-lt"/>
                <a:cs typeface="Poppins Medium"/>
              </a:rPr>
              <a:t>Imbarco sul Traghetto per lo Stretto di Messina usando solo il dispositivo</a:t>
            </a:r>
          </a:p>
        </p:txBody>
      </p:sp>
      <p:grpSp>
        <p:nvGrpSpPr>
          <p:cNvPr id="106" name="Group 105">
            <a:extLst>
              <a:ext uri="{FF2B5EF4-FFF2-40B4-BE49-F238E27FC236}">
                <a16:creationId xmlns:a16="http://schemas.microsoft.com/office/drawing/2014/main" id="{8E100ABB-995C-B1FF-49C4-3DB0B393A1FD}"/>
              </a:ext>
            </a:extLst>
          </p:cNvPr>
          <p:cNvGrpSpPr/>
          <p:nvPr/>
        </p:nvGrpSpPr>
        <p:grpSpPr>
          <a:xfrm>
            <a:off x="8260080" y="3454475"/>
            <a:ext cx="525325" cy="616135"/>
            <a:chOff x="495401" y="1610156"/>
            <a:chExt cx="551517" cy="681286"/>
          </a:xfrm>
        </p:grpSpPr>
        <p:pic>
          <p:nvPicPr>
            <p:cNvPr id="107" name="Graphic 106">
              <a:extLst>
                <a:ext uri="{FF2B5EF4-FFF2-40B4-BE49-F238E27FC236}">
                  <a16:creationId xmlns:a16="http://schemas.microsoft.com/office/drawing/2014/main" id="{404B4CB0-3359-4F83-B04C-793A7B64C60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5401" y="1610156"/>
              <a:ext cx="551517" cy="681286"/>
            </a:xfrm>
            <a:prstGeom prst="rect">
              <a:avLst/>
            </a:prstGeom>
          </p:spPr>
        </p:pic>
        <p:sp>
          <p:nvSpPr>
            <p:cNvPr id="108" name="TextBox 18">
              <a:extLst>
                <a:ext uri="{FF2B5EF4-FFF2-40B4-BE49-F238E27FC236}">
                  <a16:creationId xmlns:a16="http://schemas.microsoft.com/office/drawing/2014/main" id="{5CBDB7C9-670E-CDD0-6B16-1EFB309BE02D}"/>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mj-lt"/>
                  <a:cs typeface="Poppins" panose="00000500000000000000" pitchFamily="2" charset="0"/>
                </a:rPr>
                <a:t>6</a:t>
              </a:r>
              <a:endParaRPr kumimoji="0" lang="en-US" sz="2000" b="1" i="0" u="none" strike="noStrike" kern="1200" cap="none" spc="0" normalizeH="0" baseline="0" noProof="0">
                <a:ln>
                  <a:noFill/>
                </a:ln>
                <a:solidFill>
                  <a:srgbClr val="2059A8"/>
                </a:solidFill>
                <a:effectLst/>
                <a:uLnTx/>
                <a:uFillTx/>
                <a:latin typeface="+mj-lt"/>
                <a:ea typeface="+mn-ea"/>
                <a:cs typeface="Poppins" panose="00000500000000000000" pitchFamily="2" charset="0"/>
              </a:endParaRPr>
            </a:p>
          </p:txBody>
        </p:sp>
      </p:grpSp>
      <p:sp>
        <p:nvSpPr>
          <p:cNvPr id="110" name="TextBox 109">
            <a:extLst>
              <a:ext uri="{FF2B5EF4-FFF2-40B4-BE49-F238E27FC236}">
                <a16:creationId xmlns:a16="http://schemas.microsoft.com/office/drawing/2014/main" id="{40C41B03-B833-900C-2275-A2E3EEAEB26C}"/>
              </a:ext>
            </a:extLst>
          </p:cNvPr>
          <p:cNvSpPr txBox="1"/>
          <p:nvPr/>
        </p:nvSpPr>
        <p:spPr>
          <a:xfrm>
            <a:off x="9764792" y="3523987"/>
            <a:ext cx="1909890" cy="707886"/>
          </a:xfrm>
          <a:prstGeom prst="rect">
            <a:avLst/>
          </a:prstGeom>
          <a:noFill/>
        </p:spPr>
        <p:txBody>
          <a:bodyPr wrap="square" rtlCol="0">
            <a:spAutoFit/>
          </a:bodyPr>
          <a:lstStyle/>
          <a:p>
            <a:pPr algn="ctr"/>
            <a:r>
              <a:rPr lang="it-IT" sz="2000" b="1">
                <a:latin typeface="+mj-lt"/>
              </a:rPr>
              <a:t>Convenzioni pedaggi</a:t>
            </a:r>
            <a:endParaRPr lang="en-GB" sz="2000" b="1">
              <a:latin typeface="+mj-lt"/>
            </a:endParaRPr>
          </a:p>
        </p:txBody>
      </p:sp>
      <p:sp>
        <p:nvSpPr>
          <p:cNvPr id="111" name="TextBox 110">
            <a:extLst>
              <a:ext uri="{FF2B5EF4-FFF2-40B4-BE49-F238E27FC236}">
                <a16:creationId xmlns:a16="http://schemas.microsoft.com/office/drawing/2014/main" id="{E75BB692-3AFD-F51E-27FB-AE2C546BE63E}"/>
              </a:ext>
            </a:extLst>
          </p:cNvPr>
          <p:cNvSpPr txBox="1"/>
          <p:nvPr/>
        </p:nvSpPr>
        <p:spPr>
          <a:xfrm>
            <a:off x="8260080" y="4324221"/>
            <a:ext cx="3537451" cy="523220"/>
          </a:xfrm>
          <a:prstGeom prst="rect">
            <a:avLst/>
          </a:prstGeom>
          <a:noFill/>
        </p:spPr>
        <p:txBody>
          <a:bodyPr wrap="square">
            <a:spAutoFit/>
          </a:bodyPr>
          <a:lstStyle/>
          <a:p>
            <a:pPr algn="ctr">
              <a:spcAft>
                <a:spcPts val="1800"/>
              </a:spcAft>
            </a:pPr>
            <a:r>
              <a:rPr lang="it-IT" sz="1400">
                <a:solidFill>
                  <a:srgbClr val="002752"/>
                </a:solidFill>
                <a:latin typeface="+mj-lt"/>
                <a:cs typeface="Poppins Medium"/>
              </a:rPr>
              <a:t>Sconti su numerose tratte autostradali convenzionate</a:t>
            </a:r>
          </a:p>
        </p:txBody>
      </p:sp>
      <p:pic>
        <p:nvPicPr>
          <p:cNvPr id="112" name="Picture 111" descr="A blue sign with a white border&#10;&#10;Description automatically generated with medium confidence">
            <a:extLst>
              <a:ext uri="{FF2B5EF4-FFF2-40B4-BE49-F238E27FC236}">
                <a16:creationId xmlns:a16="http://schemas.microsoft.com/office/drawing/2014/main" id="{01A2F253-7B49-D52E-3D22-D011F1A5B17A}"/>
              </a:ext>
            </a:extLst>
          </p:cNvPr>
          <p:cNvPicPr>
            <a:picLocks noChangeAspect="1"/>
          </p:cNvPicPr>
          <p:nvPr/>
        </p:nvPicPr>
        <p:blipFill rotWithShape="1">
          <a:blip r:embed="rId7">
            <a:extLst>
              <a:ext uri="{28A0092B-C50C-407E-A947-70E740481C1C}">
                <a14:useLocalDpi xmlns:a14="http://schemas.microsoft.com/office/drawing/2010/main"/>
              </a:ext>
            </a:extLst>
          </a:blip>
          <a:srcRect b="25673"/>
          <a:stretch/>
        </p:blipFill>
        <p:spPr>
          <a:xfrm>
            <a:off x="4741714" y="1348005"/>
            <a:ext cx="1075188" cy="836456"/>
          </a:xfrm>
          <a:prstGeom prst="rect">
            <a:avLst/>
          </a:prstGeom>
        </p:spPr>
      </p:pic>
      <p:pic>
        <p:nvPicPr>
          <p:cNvPr id="113" name="Picture 112" descr="A yellow and blue ship&#10;&#10;Description automatically generated">
            <a:extLst>
              <a:ext uri="{FF2B5EF4-FFF2-40B4-BE49-F238E27FC236}">
                <a16:creationId xmlns:a16="http://schemas.microsoft.com/office/drawing/2014/main" id="{67976F0A-F3D6-EE7E-FA79-7047482F2226}"/>
              </a:ext>
            </a:extLst>
          </p:cNvPr>
          <p:cNvPicPr>
            <a:picLocks noChangeAspect="1"/>
          </p:cNvPicPr>
          <p:nvPr/>
        </p:nvPicPr>
        <p:blipFill rotWithShape="1">
          <a:blip r:embed="rId8">
            <a:extLst>
              <a:ext uri="{28A0092B-C50C-407E-A947-70E740481C1C}">
                <a14:useLocalDpi xmlns:a14="http://schemas.microsoft.com/office/drawing/2010/main"/>
              </a:ext>
            </a:extLst>
          </a:blip>
          <a:srcRect b="25673"/>
          <a:stretch/>
        </p:blipFill>
        <p:spPr>
          <a:xfrm>
            <a:off x="8825469" y="1299409"/>
            <a:ext cx="1075188" cy="836456"/>
          </a:xfrm>
          <a:prstGeom prst="rect">
            <a:avLst/>
          </a:prstGeom>
        </p:spPr>
      </p:pic>
      <p:pic>
        <p:nvPicPr>
          <p:cNvPr id="114" name="Picture 113" descr="A blue circle with a white letter on it&#10;&#10;Description automatically generated">
            <a:extLst>
              <a:ext uri="{FF2B5EF4-FFF2-40B4-BE49-F238E27FC236}">
                <a16:creationId xmlns:a16="http://schemas.microsoft.com/office/drawing/2014/main" id="{CD54846A-FC0F-76F6-67AC-06A9E99ADBE0}"/>
              </a:ext>
            </a:extLst>
          </p:cNvPr>
          <p:cNvPicPr>
            <a:picLocks noChangeAspect="1"/>
          </p:cNvPicPr>
          <p:nvPr/>
        </p:nvPicPr>
        <p:blipFill rotWithShape="1">
          <a:blip r:embed="rId9">
            <a:extLst>
              <a:ext uri="{28A0092B-C50C-407E-A947-70E740481C1C}">
                <a14:useLocalDpi xmlns:a14="http://schemas.microsoft.com/office/drawing/2010/main"/>
              </a:ext>
            </a:extLst>
          </a:blip>
          <a:srcRect b="25673"/>
          <a:stretch/>
        </p:blipFill>
        <p:spPr>
          <a:xfrm>
            <a:off x="851304" y="3383937"/>
            <a:ext cx="1075188" cy="836456"/>
          </a:xfrm>
          <a:prstGeom prst="rect">
            <a:avLst/>
          </a:prstGeom>
        </p:spPr>
      </p:pic>
      <p:pic>
        <p:nvPicPr>
          <p:cNvPr id="115" name="Immagine 5" descr="Immagine che contiene simbolo, schermata, Segnale stradale, Rettangolo&#10;&#10;Descrizione generata automaticamente">
            <a:extLst>
              <a:ext uri="{FF2B5EF4-FFF2-40B4-BE49-F238E27FC236}">
                <a16:creationId xmlns:a16="http://schemas.microsoft.com/office/drawing/2014/main" id="{AB75AF21-F35C-8E2E-8A69-AC8ACE57001E}"/>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5016193" y="3431308"/>
            <a:ext cx="662467" cy="662467"/>
          </a:xfrm>
          <a:prstGeom prst="rect">
            <a:avLst/>
          </a:prstGeom>
        </p:spPr>
      </p:pic>
      <p:pic>
        <p:nvPicPr>
          <p:cNvPr id="116" name="Picture 115" descr="A car with a wifi signal&#10;&#10;Description automatically generated">
            <a:extLst>
              <a:ext uri="{FF2B5EF4-FFF2-40B4-BE49-F238E27FC236}">
                <a16:creationId xmlns:a16="http://schemas.microsoft.com/office/drawing/2014/main" id="{AC2384FD-45DE-692D-0B66-84D55A05FDDD}"/>
              </a:ext>
            </a:extLst>
          </p:cNvPr>
          <p:cNvPicPr>
            <a:picLocks noChangeAspect="1"/>
          </p:cNvPicPr>
          <p:nvPr/>
        </p:nvPicPr>
        <p:blipFill rotWithShape="1">
          <a:blip r:embed="rId11">
            <a:extLst>
              <a:ext uri="{28A0092B-C50C-407E-A947-70E740481C1C}">
                <a14:useLocalDpi xmlns:a14="http://schemas.microsoft.com/office/drawing/2010/main"/>
              </a:ext>
            </a:extLst>
          </a:blip>
          <a:srcRect b="25673"/>
          <a:stretch/>
        </p:blipFill>
        <p:spPr>
          <a:xfrm>
            <a:off x="8794657" y="3369980"/>
            <a:ext cx="1075188" cy="836456"/>
          </a:xfrm>
          <a:prstGeom prst="rect">
            <a:avLst/>
          </a:prstGeom>
        </p:spPr>
      </p:pic>
      <p:sp>
        <p:nvSpPr>
          <p:cNvPr id="117" name="CasellaDiTesto 10">
            <a:extLst>
              <a:ext uri="{FF2B5EF4-FFF2-40B4-BE49-F238E27FC236}">
                <a16:creationId xmlns:a16="http://schemas.microsoft.com/office/drawing/2014/main" id="{33A19AD5-1EEE-407C-EBEC-141BF1B6E21C}"/>
              </a:ext>
            </a:extLst>
          </p:cNvPr>
          <p:cNvSpPr txBox="1"/>
          <p:nvPr/>
        </p:nvSpPr>
        <p:spPr>
          <a:xfrm>
            <a:off x="934726" y="5603104"/>
            <a:ext cx="2687244" cy="923330"/>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a:solidFill>
                  <a:srgbClr val="002752"/>
                </a:solidFill>
                <a:latin typeface="+mj-lt"/>
                <a:cs typeface="Poppins Medium"/>
              </a:rPr>
              <a:t>Inoltre, potrai usufruire di ulteriori servizi Assicurativi</a:t>
            </a:r>
          </a:p>
        </p:txBody>
      </p:sp>
      <p:pic>
        <p:nvPicPr>
          <p:cNvPr id="118" name="Picture 117" descr="A cartoon of a tow truck&#10;&#10;Description automatically generated">
            <a:extLst>
              <a:ext uri="{FF2B5EF4-FFF2-40B4-BE49-F238E27FC236}">
                <a16:creationId xmlns:a16="http://schemas.microsoft.com/office/drawing/2014/main" id="{30890643-67E3-A0EB-CAAC-CE5349D666DA}"/>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4741714" y="5348166"/>
            <a:ext cx="936946" cy="936946"/>
          </a:xfrm>
          <a:prstGeom prst="rect">
            <a:avLst/>
          </a:prstGeom>
        </p:spPr>
      </p:pic>
      <p:pic>
        <p:nvPicPr>
          <p:cNvPr id="119" name="Picture 118" descr="A blue shield with white text&#10;&#10;Description automatically generated">
            <a:extLst>
              <a:ext uri="{FF2B5EF4-FFF2-40B4-BE49-F238E27FC236}">
                <a16:creationId xmlns:a16="http://schemas.microsoft.com/office/drawing/2014/main" id="{849CA86B-3B7D-670A-A9D7-6087224D2CFB}"/>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7488323" y="5509335"/>
            <a:ext cx="703940" cy="703940"/>
          </a:xfrm>
          <a:prstGeom prst="rect">
            <a:avLst/>
          </a:prstGeom>
        </p:spPr>
      </p:pic>
      <p:sp>
        <p:nvSpPr>
          <p:cNvPr id="120" name="TextBox 119">
            <a:extLst>
              <a:ext uri="{FF2B5EF4-FFF2-40B4-BE49-F238E27FC236}">
                <a16:creationId xmlns:a16="http://schemas.microsoft.com/office/drawing/2014/main" id="{18AFD35A-9223-4021-2E27-C9FB5A4291A0}"/>
              </a:ext>
            </a:extLst>
          </p:cNvPr>
          <p:cNvSpPr txBox="1"/>
          <p:nvPr/>
        </p:nvSpPr>
        <p:spPr>
          <a:xfrm>
            <a:off x="3869794" y="6191142"/>
            <a:ext cx="2768100" cy="400110"/>
          </a:xfrm>
          <a:prstGeom prst="rect">
            <a:avLst/>
          </a:prstGeom>
          <a:noFill/>
        </p:spPr>
        <p:txBody>
          <a:bodyPr wrap="square" rtlCol="0">
            <a:spAutoFit/>
          </a:bodyPr>
          <a:lstStyle/>
          <a:p>
            <a:pPr algn="ctr"/>
            <a:r>
              <a:rPr lang="it-IT" sz="2000" b="1">
                <a:latin typeface="+mj-lt"/>
              </a:rPr>
              <a:t>Assistenza stradale</a:t>
            </a:r>
            <a:endParaRPr lang="en-GB" sz="2000" b="1">
              <a:latin typeface="+mj-lt"/>
            </a:endParaRPr>
          </a:p>
        </p:txBody>
      </p:sp>
      <p:sp>
        <p:nvSpPr>
          <p:cNvPr id="121" name="TextBox 120">
            <a:extLst>
              <a:ext uri="{FF2B5EF4-FFF2-40B4-BE49-F238E27FC236}">
                <a16:creationId xmlns:a16="http://schemas.microsoft.com/office/drawing/2014/main" id="{D08E9CF8-0D92-DB33-6C07-24C879340F96}"/>
              </a:ext>
            </a:extLst>
          </p:cNvPr>
          <p:cNvSpPr txBox="1"/>
          <p:nvPr/>
        </p:nvSpPr>
        <p:spPr>
          <a:xfrm>
            <a:off x="7052686" y="6191142"/>
            <a:ext cx="1546386" cy="400110"/>
          </a:xfrm>
          <a:prstGeom prst="rect">
            <a:avLst/>
          </a:prstGeom>
          <a:noFill/>
        </p:spPr>
        <p:txBody>
          <a:bodyPr wrap="square" rtlCol="0">
            <a:spAutoFit/>
          </a:bodyPr>
          <a:lstStyle/>
          <a:p>
            <a:pPr algn="ctr"/>
            <a:r>
              <a:rPr lang="it-IT" sz="2000" b="1">
                <a:latin typeface="+mj-lt"/>
              </a:rPr>
              <a:t>RC Auto</a:t>
            </a:r>
            <a:endParaRPr lang="en-GB" sz="2000" b="1">
              <a:latin typeface="+mj-lt"/>
            </a:endParaRPr>
          </a:p>
        </p:txBody>
      </p:sp>
      <p:sp>
        <p:nvSpPr>
          <p:cNvPr id="122" name="TextBox 121">
            <a:extLst>
              <a:ext uri="{FF2B5EF4-FFF2-40B4-BE49-F238E27FC236}">
                <a16:creationId xmlns:a16="http://schemas.microsoft.com/office/drawing/2014/main" id="{36491956-9234-A0CE-8628-EAF26CCFB227}"/>
              </a:ext>
            </a:extLst>
          </p:cNvPr>
          <p:cNvSpPr txBox="1"/>
          <p:nvPr/>
        </p:nvSpPr>
        <p:spPr>
          <a:xfrm>
            <a:off x="8750352" y="5467607"/>
            <a:ext cx="2300610" cy="1046440"/>
          </a:xfrm>
          <a:prstGeom prst="rect">
            <a:avLst/>
          </a:prstGeom>
          <a:noFill/>
        </p:spPr>
        <p:txBody>
          <a:bodyPr wrap="square" rtlCol="0">
            <a:spAutoFit/>
          </a:bodyPr>
          <a:lstStyle/>
          <a:p>
            <a:pPr algn="ctr"/>
            <a:r>
              <a:rPr lang="it-IT" sz="2000" b="1">
                <a:latin typeface="+mj-lt"/>
              </a:rPr>
              <a:t>…e altre</a:t>
            </a:r>
          </a:p>
          <a:p>
            <a:pPr algn="ctr"/>
            <a:r>
              <a:rPr lang="it-IT" sz="1400">
                <a:solidFill>
                  <a:schemeClr val="accent5"/>
                </a:solidFill>
                <a:latin typeface="+mj-lt"/>
              </a:rPr>
              <a:t>Viaggi</a:t>
            </a:r>
          </a:p>
          <a:p>
            <a:pPr algn="ctr"/>
            <a:r>
              <a:rPr lang="it-IT" sz="1400">
                <a:solidFill>
                  <a:schemeClr val="accent5"/>
                </a:solidFill>
                <a:latin typeface="+mj-lt"/>
              </a:rPr>
              <a:t>Infortuni</a:t>
            </a:r>
          </a:p>
          <a:p>
            <a:pPr algn="ctr"/>
            <a:r>
              <a:rPr lang="it-IT" sz="1400" err="1">
                <a:solidFill>
                  <a:schemeClr val="accent5"/>
                </a:solidFill>
                <a:latin typeface="+mj-lt"/>
              </a:rPr>
              <a:t>Collision</a:t>
            </a:r>
            <a:endParaRPr lang="en-GB" sz="1400">
              <a:solidFill>
                <a:schemeClr val="accent5"/>
              </a:solidFill>
              <a:latin typeface="+mj-lt"/>
            </a:endParaRPr>
          </a:p>
        </p:txBody>
      </p:sp>
      <p:grpSp>
        <p:nvGrpSpPr>
          <p:cNvPr id="10" name="Group 9">
            <a:extLst>
              <a:ext uri="{FF2B5EF4-FFF2-40B4-BE49-F238E27FC236}">
                <a16:creationId xmlns:a16="http://schemas.microsoft.com/office/drawing/2014/main" id="{42772DF5-BAC0-C52F-F2E8-E2CF81B0FCEC}"/>
              </a:ext>
            </a:extLst>
          </p:cNvPr>
          <p:cNvGrpSpPr/>
          <p:nvPr/>
        </p:nvGrpSpPr>
        <p:grpSpPr>
          <a:xfrm>
            <a:off x="8470605" y="269358"/>
            <a:ext cx="2590802" cy="602126"/>
            <a:chOff x="8470605" y="269358"/>
            <a:chExt cx="2590802" cy="602126"/>
          </a:xfrm>
        </p:grpSpPr>
        <p:sp>
          <p:nvSpPr>
            <p:cNvPr id="11" name="TextBox 10">
              <a:extLst>
                <a:ext uri="{FF2B5EF4-FFF2-40B4-BE49-F238E27FC236}">
                  <a16:creationId xmlns:a16="http://schemas.microsoft.com/office/drawing/2014/main" id="{97D11C7C-3958-6F9D-F46D-5EFE2EAFAD58}"/>
                </a:ext>
              </a:extLst>
            </p:cNvPr>
            <p:cNvSpPr txBox="1"/>
            <p:nvPr/>
          </p:nvSpPr>
          <p:spPr>
            <a:xfrm>
              <a:off x="8470605" y="271320"/>
              <a:ext cx="2590802" cy="600164"/>
            </a:xfrm>
            <a:prstGeom prst="rect">
              <a:avLst/>
            </a:prstGeom>
            <a:noFill/>
          </p:spPr>
          <p:txBody>
            <a:bodyPr wrap="square" rtlCol="0">
              <a:spAutoFit/>
            </a:bodyPr>
            <a:lstStyle/>
            <a:p>
              <a:pPr algn="ctr">
                <a:spcAft>
                  <a:spcPts val="1800"/>
                </a:spcAft>
              </a:pPr>
              <a:r>
                <a:rPr lang="it-IT" sz="1100" i="1">
                  <a:solidFill>
                    <a:srgbClr val="002752"/>
                  </a:solidFill>
                  <a:latin typeface="Poppins Medium"/>
                  <a:cs typeface="Poppins Medium"/>
                </a:rPr>
                <a:t>Per dettaglio su costi e funzionalità consulta la scheda prodotto a slide successive </a:t>
              </a:r>
            </a:p>
          </p:txBody>
        </p:sp>
        <p:cxnSp>
          <p:nvCxnSpPr>
            <p:cNvPr id="12" name="Straight Connector 11">
              <a:extLst>
                <a:ext uri="{FF2B5EF4-FFF2-40B4-BE49-F238E27FC236}">
                  <a16:creationId xmlns:a16="http://schemas.microsoft.com/office/drawing/2014/main" id="{63372656-7AB4-A46A-DEC2-15B2534153E5}"/>
                </a:ext>
              </a:extLst>
            </p:cNvPr>
            <p:cNvCxnSpPr/>
            <p:nvPr/>
          </p:nvCxnSpPr>
          <p:spPr>
            <a:xfrm>
              <a:off x="8839201" y="269358"/>
              <a:ext cx="1885507" cy="0"/>
            </a:xfrm>
            <a:prstGeom prst="line">
              <a:avLst/>
            </a:prstGeom>
            <a:ln w="76200" cmpd="dbl"/>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DB0DDFD-A2C9-52C3-B00D-C51B1C6C81EA}"/>
                </a:ext>
              </a:extLst>
            </p:cNvPr>
            <p:cNvCxnSpPr/>
            <p:nvPr/>
          </p:nvCxnSpPr>
          <p:spPr>
            <a:xfrm>
              <a:off x="8839201" y="861541"/>
              <a:ext cx="1885507" cy="0"/>
            </a:xfrm>
            <a:prstGeom prst="line">
              <a:avLst/>
            </a:prstGeom>
            <a:ln w="76200" cmpd="dbl"/>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8565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227CF7FC-E73F-769D-76B2-B91EE66F6604}"/>
              </a:ext>
            </a:extLst>
          </p:cNvPr>
          <p:cNvSpPr>
            <a:spLocks noGrp="1"/>
          </p:cNvSpPr>
          <p:nvPr>
            <p:ph type="sldNum" sz="quarter" idx="2"/>
          </p:nvPr>
        </p:nvSpPr>
        <p:spPr>
          <a:xfrm>
            <a:off x="11614996" y="6443521"/>
            <a:ext cx="409933" cy="272589"/>
          </a:xfrm>
        </p:spPr>
        <p:txBody>
          <a:bodyPr/>
          <a:lstStyle/>
          <a:p>
            <a:fld id="{86CB4B4D-7CA3-9044-876B-883B54F8677D}" type="slidenum">
              <a:rPr lang="it-IT" noProof="0" smtClean="0"/>
              <a:pPr/>
              <a:t>4</a:t>
            </a:fld>
            <a:endParaRPr lang="it-IT" noProof="0"/>
          </a:p>
        </p:txBody>
      </p:sp>
      <p:sp>
        <p:nvSpPr>
          <p:cNvPr id="7" name="Text Placeholder 26">
            <a:extLst>
              <a:ext uri="{FF2B5EF4-FFF2-40B4-BE49-F238E27FC236}">
                <a16:creationId xmlns:a16="http://schemas.microsoft.com/office/drawing/2014/main" id="{F096A11D-6D55-81A6-8956-E8B2F95001F6}"/>
              </a:ext>
            </a:extLst>
          </p:cNvPr>
          <p:cNvSpPr>
            <a:spLocks noGrp="1"/>
          </p:cNvSpPr>
          <p:nvPr>
            <p:ph type="body" sz="quarter" idx="11"/>
          </p:nvPr>
        </p:nvSpPr>
        <p:spPr>
          <a:xfrm>
            <a:off x="686902" y="158901"/>
            <a:ext cx="10260000" cy="782638"/>
          </a:xfrm>
        </p:spPr>
        <p:txBody>
          <a:bodyPr anchor="ctr">
            <a:normAutofit/>
          </a:bodyPr>
          <a:lstStyle/>
          <a:p>
            <a:r>
              <a:rPr lang="it-IT" b="1">
                <a:latin typeface="Poppins" panose="00000500000000000000" pitchFamily="2" charset="0"/>
              </a:rPr>
              <a:t>Telepass Base</a:t>
            </a:r>
          </a:p>
          <a:p>
            <a:r>
              <a:rPr lang="it-IT" sz="1600" b="1">
                <a:solidFill>
                  <a:schemeClr val="bg1">
                    <a:lumMod val="65000"/>
                  </a:schemeClr>
                </a:solidFill>
                <a:latin typeface="Poppins" panose="00000500000000000000" pitchFamily="2" charset="0"/>
              </a:rPr>
              <a:t>I VANTAGGI</a:t>
            </a:r>
          </a:p>
        </p:txBody>
      </p:sp>
      <p:sp>
        <p:nvSpPr>
          <p:cNvPr id="2" name="Free-form: Shape 1">
            <a:extLst>
              <a:ext uri="{FF2B5EF4-FFF2-40B4-BE49-F238E27FC236}">
                <a16:creationId xmlns:a16="http://schemas.microsoft.com/office/drawing/2014/main" id="{45AD607F-D606-052A-1FE1-50AD2EB78722}"/>
              </a:ext>
            </a:extLst>
          </p:cNvPr>
          <p:cNvSpPr/>
          <p:nvPr/>
        </p:nvSpPr>
        <p:spPr>
          <a:xfrm>
            <a:off x="958910" y="1360967"/>
            <a:ext cx="10546945" cy="4746467"/>
          </a:xfrm>
          <a:custGeom>
            <a:avLst/>
            <a:gdLst>
              <a:gd name="connsiteX0" fmla="*/ 4732437 w 10546945"/>
              <a:gd name="connsiteY0" fmla="*/ 722474 h 5292043"/>
              <a:gd name="connsiteX1" fmla="*/ 7223845 w 10546945"/>
              <a:gd name="connsiteY1" fmla="*/ 39987 h 5292043"/>
              <a:gd name="connsiteX2" fmla="*/ 8197880 w 10546945"/>
              <a:gd name="connsiteY2" fmla="*/ 212266 h 5292043"/>
              <a:gd name="connsiteX3" fmla="*/ 8423167 w 10546945"/>
              <a:gd name="connsiteY3" fmla="*/ 1298944 h 5292043"/>
              <a:gd name="connsiteX4" fmla="*/ 7283480 w 10546945"/>
              <a:gd name="connsiteY4" fmla="*/ 1829031 h 5292043"/>
              <a:gd name="connsiteX5" fmla="*/ 4076454 w 10546945"/>
              <a:gd name="connsiteY5" fmla="*/ 2306109 h 5292043"/>
              <a:gd name="connsiteX6" fmla="*/ 4811950 w 10546945"/>
              <a:gd name="connsiteY6" fmla="*/ 3478927 h 5292043"/>
              <a:gd name="connsiteX7" fmla="*/ 6693759 w 10546945"/>
              <a:gd name="connsiteY7" fmla="*/ 3260266 h 5292043"/>
              <a:gd name="connsiteX8" fmla="*/ 8078611 w 10546945"/>
              <a:gd name="connsiteY8" fmla="*/ 2485014 h 5292043"/>
              <a:gd name="connsiteX9" fmla="*/ 9145411 w 10546945"/>
              <a:gd name="connsiteY9" fmla="*/ 2392248 h 5292043"/>
              <a:gd name="connsiteX10" fmla="*/ 10318228 w 10546945"/>
              <a:gd name="connsiteY10" fmla="*/ 2889205 h 5292043"/>
              <a:gd name="connsiteX11" fmla="*/ 10503759 w 10546945"/>
              <a:gd name="connsiteY11" fmla="*/ 3916248 h 5292043"/>
              <a:gd name="connsiteX12" fmla="*/ 9768263 w 10546945"/>
              <a:gd name="connsiteY12" fmla="*/ 4757761 h 5292043"/>
              <a:gd name="connsiteX13" fmla="*/ 9205045 w 10546945"/>
              <a:gd name="connsiteY13" fmla="*/ 5095692 h 5292043"/>
              <a:gd name="connsiteX14" fmla="*/ 7813567 w 10546945"/>
              <a:gd name="connsiteY14" fmla="*/ 4956544 h 5292043"/>
              <a:gd name="connsiteX15" fmla="*/ 6899167 w 10546945"/>
              <a:gd name="connsiteY15" fmla="*/ 4525848 h 5292043"/>
              <a:gd name="connsiteX16" fmla="*/ 5130002 w 10546945"/>
              <a:gd name="connsiteY16" fmla="*/ 4307187 h 5292043"/>
              <a:gd name="connsiteX17" fmla="*/ 3864419 w 10546945"/>
              <a:gd name="connsiteY17" fmla="*/ 4671622 h 5292043"/>
              <a:gd name="connsiteX18" fmla="*/ 3049411 w 10546945"/>
              <a:gd name="connsiteY18" fmla="*/ 5287848 h 5292043"/>
              <a:gd name="connsiteX19" fmla="*/ 1505532 w 10546945"/>
              <a:gd name="connsiteY19" fmla="*/ 4903535 h 5292043"/>
              <a:gd name="connsiteX20" fmla="*/ 21289 w 10546945"/>
              <a:gd name="connsiteY20" fmla="*/ 4168040 h 529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546945" h="5292043">
                <a:moveTo>
                  <a:pt x="4732437" y="722474"/>
                </a:moveTo>
                <a:cubicBezTo>
                  <a:pt x="5689354" y="423748"/>
                  <a:pt x="6646271" y="125022"/>
                  <a:pt x="7223845" y="39987"/>
                </a:cubicBezTo>
                <a:cubicBezTo>
                  <a:pt x="7801419" y="-45048"/>
                  <a:pt x="7997993" y="2440"/>
                  <a:pt x="8197880" y="212266"/>
                </a:cubicBezTo>
                <a:cubicBezTo>
                  <a:pt x="8397767" y="422092"/>
                  <a:pt x="8575567" y="1029483"/>
                  <a:pt x="8423167" y="1298944"/>
                </a:cubicBezTo>
                <a:cubicBezTo>
                  <a:pt x="8270767" y="1568405"/>
                  <a:pt x="8007932" y="1661170"/>
                  <a:pt x="7283480" y="1829031"/>
                </a:cubicBezTo>
                <a:cubicBezTo>
                  <a:pt x="6559028" y="1996892"/>
                  <a:pt x="4488376" y="2031126"/>
                  <a:pt x="4076454" y="2306109"/>
                </a:cubicBezTo>
                <a:cubicBezTo>
                  <a:pt x="3664532" y="2581092"/>
                  <a:pt x="4375733" y="3319901"/>
                  <a:pt x="4811950" y="3478927"/>
                </a:cubicBezTo>
                <a:cubicBezTo>
                  <a:pt x="5248167" y="3637953"/>
                  <a:pt x="6149316" y="3425918"/>
                  <a:pt x="6693759" y="3260266"/>
                </a:cubicBezTo>
                <a:cubicBezTo>
                  <a:pt x="7238202" y="3094614"/>
                  <a:pt x="7670002" y="2629684"/>
                  <a:pt x="8078611" y="2485014"/>
                </a:cubicBezTo>
                <a:cubicBezTo>
                  <a:pt x="8487220" y="2340344"/>
                  <a:pt x="8772142" y="2324883"/>
                  <a:pt x="9145411" y="2392248"/>
                </a:cubicBezTo>
                <a:cubicBezTo>
                  <a:pt x="9518680" y="2459613"/>
                  <a:pt x="10091837" y="2635205"/>
                  <a:pt x="10318228" y="2889205"/>
                </a:cubicBezTo>
                <a:cubicBezTo>
                  <a:pt x="10544619" y="3143205"/>
                  <a:pt x="10595420" y="3604822"/>
                  <a:pt x="10503759" y="3916248"/>
                </a:cubicBezTo>
                <a:cubicBezTo>
                  <a:pt x="10412098" y="4227674"/>
                  <a:pt x="9984715" y="4561187"/>
                  <a:pt x="9768263" y="4757761"/>
                </a:cubicBezTo>
                <a:cubicBezTo>
                  <a:pt x="9551811" y="4954335"/>
                  <a:pt x="9530828" y="5062562"/>
                  <a:pt x="9205045" y="5095692"/>
                </a:cubicBezTo>
                <a:cubicBezTo>
                  <a:pt x="8879262" y="5128822"/>
                  <a:pt x="8197880" y="5051518"/>
                  <a:pt x="7813567" y="4956544"/>
                </a:cubicBezTo>
                <a:cubicBezTo>
                  <a:pt x="7429254" y="4861570"/>
                  <a:pt x="7346428" y="4634074"/>
                  <a:pt x="6899167" y="4525848"/>
                </a:cubicBezTo>
                <a:cubicBezTo>
                  <a:pt x="6451906" y="4417622"/>
                  <a:pt x="5635793" y="4282891"/>
                  <a:pt x="5130002" y="4307187"/>
                </a:cubicBezTo>
                <a:cubicBezTo>
                  <a:pt x="4624211" y="4331483"/>
                  <a:pt x="4211184" y="4508179"/>
                  <a:pt x="3864419" y="4671622"/>
                </a:cubicBezTo>
                <a:cubicBezTo>
                  <a:pt x="3517654" y="4835065"/>
                  <a:pt x="3442559" y="5249196"/>
                  <a:pt x="3049411" y="5287848"/>
                </a:cubicBezTo>
                <a:cubicBezTo>
                  <a:pt x="2656263" y="5326500"/>
                  <a:pt x="2010219" y="5090170"/>
                  <a:pt x="1505532" y="4903535"/>
                </a:cubicBezTo>
                <a:cubicBezTo>
                  <a:pt x="1000845" y="4716900"/>
                  <a:pt x="-171972" y="4475049"/>
                  <a:pt x="21289" y="4168040"/>
                </a:cubicBezTo>
              </a:path>
            </a:pathLst>
          </a:custGeom>
          <a:noFill/>
          <a:ln w="57150">
            <a:solidFill>
              <a:schemeClr val="bg1">
                <a:lumMod val="9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pic>
        <p:nvPicPr>
          <p:cNvPr id="4" name="Image 0" descr=" ">
            <a:extLst>
              <a:ext uri="{FF2B5EF4-FFF2-40B4-BE49-F238E27FC236}">
                <a16:creationId xmlns:a16="http://schemas.microsoft.com/office/drawing/2014/main" id="{15333BB0-546B-5A7D-C751-C278B975F0A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5400000">
            <a:off x="428497" y="653110"/>
            <a:ext cx="3264894" cy="4121892"/>
          </a:xfrm>
          <a:prstGeom prst="rect">
            <a:avLst/>
          </a:prstGeom>
        </p:spPr>
      </p:pic>
      <p:sp>
        <p:nvSpPr>
          <p:cNvPr id="5" name="CasellaDiTesto 10">
            <a:extLst>
              <a:ext uri="{FF2B5EF4-FFF2-40B4-BE49-F238E27FC236}">
                <a16:creationId xmlns:a16="http://schemas.microsoft.com/office/drawing/2014/main" id="{8B166052-FEEA-D063-CC25-B7C6606B2491}"/>
              </a:ext>
            </a:extLst>
          </p:cNvPr>
          <p:cNvSpPr txBox="1"/>
          <p:nvPr/>
        </p:nvSpPr>
        <p:spPr>
          <a:xfrm>
            <a:off x="8955057" y="3634081"/>
            <a:ext cx="2412991" cy="73866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2060"/>
                </a:solidFill>
                <a:effectLst/>
                <a:uLnTx/>
                <a:uFillTx/>
                <a:latin typeface="Poppins"/>
                <a:ea typeface="+mn-ea"/>
                <a:cs typeface="Poppins"/>
              </a:rPr>
              <a:t>17 convenzioni di sconto sul pedaggio in tutta Italia</a:t>
            </a:r>
          </a:p>
        </p:txBody>
      </p:sp>
      <p:sp>
        <p:nvSpPr>
          <p:cNvPr id="6" name="CasellaDiTesto 10">
            <a:extLst>
              <a:ext uri="{FF2B5EF4-FFF2-40B4-BE49-F238E27FC236}">
                <a16:creationId xmlns:a16="http://schemas.microsoft.com/office/drawing/2014/main" id="{28E97F8A-5409-A75D-160F-B025FED47593}"/>
              </a:ext>
            </a:extLst>
          </p:cNvPr>
          <p:cNvSpPr txBox="1"/>
          <p:nvPr/>
        </p:nvSpPr>
        <p:spPr>
          <a:xfrm>
            <a:off x="4207103" y="6008799"/>
            <a:ext cx="2725225"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a:ln>
                  <a:noFill/>
                </a:ln>
                <a:solidFill>
                  <a:srgbClr val="002060"/>
                </a:solidFill>
                <a:effectLst/>
                <a:uLnTx/>
                <a:uFillTx/>
                <a:latin typeface="Poppins"/>
                <a:ea typeface="+mn-ea"/>
                <a:cs typeface="Poppins"/>
              </a:rPr>
              <a:t>Paghi trimestralmente e Disdici quando vuoi senza vincoli e penalità</a:t>
            </a:r>
          </a:p>
        </p:txBody>
      </p:sp>
      <p:sp>
        <p:nvSpPr>
          <p:cNvPr id="9" name="CasellaDiTesto 10">
            <a:extLst>
              <a:ext uri="{FF2B5EF4-FFF2-40B4-BE49-F238E27FC236}">
                <a16:creationId xmlns:a16="http://schemas.microsoft.com/office/drawing/2014/main" id="{3FAEC4BB-EDCA-D86B-CF11-C6507756E3A8}"/>
              </a:ext>
            </a:extLst>
          </p:cNvPr>
          <p:cNvSpPr txBox="1"/>
          <p:nvPr/>
        </p:nvSpPr>
        <p:spPr>
          <a:xfrm>
            <a:off x="8646370" y="1957743"/>
            <a:ext cx="2586133"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a:ln>
                  <a:noFill/>
                </a:ln>
                <a:solidFill>
                  <a:srgbClr val="002060"/>
                </a:solidFill>
                <a:effectLst/>
                <a:uLnTx/>
                <a:uFillTx/>
                <a:latin typeface="Poppins"/>
                <a:ea typeface="+mn-ea"/>
                <a:cs typeface="Poppins"/>
              </a:rPr>
              <a:t>Sostituzione gratuita del dispositivo</a:t>
            </a:r>
          </a:p>
        </p:txBody>
      </p:sp>
      <p:sp>
        <p:nvSpPr>
          <p:cNvPr id="10" name="CasellaDiTesto 10">
            <a:extLst>
              <a:ext uri="{FF2B5EF4-FFF2-40B4-BE49-F238E27FC236}">
                <a16:creationId xmlns:a16="http://schemas.microsoft.com/office/drawing/2014/main" id="{B99D9EE3-6D14-E309-93F3-FC3657928BFF}"/>
              </a:ext>
            </a:extLst>
          </p:cNvPr>
          <p:cNvSpPr txBox="1"/>
          <p:nvPr/>
        </p:nvSpPr>
        <p:spPr>
          <a:xfrm>
            <a:off x="5316410" y="2062091"/>
            <a:ext cx="2594974" cy="523220"/>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a:ln>
                  <a:noFill/>
                </a:ln>
                <a:solidFill>
                  <a:srgbClr val="002060"/>
                </a:solidFill>
                <a:effectLst/>
                <a:uLnTx/>
                <a:uFillTx/>
                <a:latin typeface="Poppins"/>
                <a:ea typeface="+mn-ea"/>
                <a:cs typeface="Poppins"/>
              </a:rPr>
              <a:t>Fino a 2 targhe </a:t>
            </a:r>
            <a:br>
              <a:rPr kumimoji="0" lang="it-IT" sz="1400" b="0" i="0" u="none" strike="noStrike" kern="1200" cap="none" spc="0" normalizeH="0" baseline="0" noProof="0">
                <a:ln>
                  <a:noFill/>
                </a:ln>
                <a:solidFill>
                  <a:srgbClr val="002060"/>
                </a:solidFill>
                <a:effectLst/>
                <a:uLnTx/>
                <a:uFillTx/>
                <a:latin typeface="Poppins"/>
                <a:ea typeface="+mn-ea"/>
                <a:cs typeface="Poppins"/>
              </a:rPr>
            </a:br>
            <a:r>
              <a:rPr kumimoji="0" lang="it-IT" sz="1400" b="0" i="0" u="none" strike="noStrike" kern="1200" cap="none" spc="0" normalizeH="0" baseline="0" noProof="0">
                <a:ln>
                  <a:noFill/>
                </a:ln>
                <a:solidFill>
                  <a:srgbClr val="002060"/>
                </a:solidFill>
                <a:effectLst/>
                <a:uLnTx/>
                <a:uFillTx/>
                <a:latin typeface="Poppins"/>
                <a:ea typeface="+mn-ea"/>
                <a:cs typeface="Poppins"/>
              </a:rPr>
              <a:t>per ogni dispositivo</a:t>
            </a:r>
          </a:p>
        </p:txBody>
      </p:sp>
      <p:sp>
        <p:nvSpPr>
          <p:cNvPr id="11" name="CasellaDiTesto 10">
            <a:extLst>
              <a:ext uri="{FF2B5EF4-FFF2-40B4-BE49-F238E27FC236}">
                <a16:creationId xmlns:a16="http://schemas.microsoft.com/office/drawing/2014/main" id="{C6C7A63C-0C61-0B59-C3B4-E560C77392E1}"/>
              </a:ext>
            </a:extLst>
          </p:cNvPr>
          <p:cNvSpPr txBox="1"/>
          <p:nvPr/>
        </p:nvSpPr>
        <p:spPr>
          <a:xfrm>
            <a:off x="453498" y="5431742"/>
            <a:ext cx="2740568" cy="1369606"/>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it-IT" sz="1400" b="0" i="0" u="none" strike="noStrike" kern="1200" cap="none" spc="0" normalizeH="0" baseline="0" noProof="0">
                <a:ln>
                  <a:noFill/>
                </a:ln>
                <a:solidFill>
                  <a:srgbClr val="002060"/>
                </a:solidFill>
                <a:effectLst/>
                <a:uLnTx/>
                <a:uFillTx/>
                <a:latin typeface="Poppins"/>
                <a:ea typeface="+mn-ea"/>
                <a:cs typeface="Poppins"/>
              </a:rPr>
              <a:t>Oltre 1000 parcheggi in struttura dove pagare senza scendere dall’auto</a:t>
            </a:r>
            <a:endParaRPr kumimoji="0" lang="en-US" sz="1600" b="0" i="0" u="none" strike="noStrike" kern="1200" cap="none" spc="0" normalizeH="0" baseline="0" noProof="0">
              <a:ln>
                <a:noFill/>
              </a:ln>
              <a:solidFill>
                <a:srgbClr val="0057B7"/>
              </a:solidFill>
              <a:effectLst/>
              <a:uLnTx/>
              <a:uFillTx/>
              <a:latin typeface="Poppins"/>
              <a:ea typeface="+mn-ea"/>
              <a:cs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0" i="0" u="none" strike="noStrike" kern="1200" cap="none" spc="0" normalizeH="0" baseline="0" noProof="0">
                <a:ln>
                  <a:noFill/>
                </a:ln>
                <a:solidFill>
                  <a:srgbClr val="002060"/>
                </a:solidFill>
                <a:effectLst/>
                <a:uLnTx/>
                <a:uFillTx/>
                <a:latin typeface="Poppins"/>
                <a:ea typeface="+mn-ea"/>
                <a:cs typeface="Poppins"/>
              </a:rPr>
              <a:t>in</a:t>
            </a:r>
            <a:r>
              <a:rPr kumimoji="0" lang="it-IT" sz="1100" b="0" i="0" u="none" strike="noStrike" kern="1200" cap="none" spc="0" normalizeH="0" baseline="0" noProof="0">
                <a:ln>
                  <a:noFill/>
                </a:ln>
                <a:solidFill>
                  <a:srgbClr val="002060"/>
                </a:solidFill>
                <a:effectLst/>
                <a:uLnTx/>
                <a:uFillTx/>
                <a:latin typeface="Poppins"/>
                <a:ea typeface="+mn-lt"/>
                <a:cs typeface="Poppins"/>
              </a:rPr>
              <a:t> Italia (+360), Francia (416), </a:t>
            </a:r>
            <a:br>
              <a:rPr kumimoji="0" lang="it-IT" sz="1100" b="0" i="0" u="none" strike="noStrike" kern="1200" cap="none" spc="0" normalizeH="0" baseline="0" noProof="0">
                <a:ln>
                  <a:noFill/>
                </a:ln>
                <a:solidFill>
                  <a:srgbClr val="0057B7"/>
                </a:solidFill>
                <a:effectLst/>
                <a:uLnTx/>
                <a:uFillTx/>
                <a:latin typeface="Poppins"/>
                <a:ea typeface="+mn-lt"/>
                <a:cs typeface="Poppins"/>
              </a:rPr>
            </a:br>
            <a:r>
              <a:rPr kumimoji="0" lang="it-IT" sz="1100" b="0" i="0" u="none" strike="noStrike" kern="1200" cap="none" spc="0" normalizeH="0" baseline="0" noProof="0">
                <a:ln>
                  <a:noFill/>
                </a:ln>
                <a:solidFill>
                  <a:srgbClr val="002060"/>
                </a:solidFill>
                <a:effectLst/>
                <a:uLnTx/>
                <a:uFillTx/>
                <a:latin typeface="Poppins"/>
                <a:ea typeface="+mn-lt"/>
                <a:cs typeface="Poppins"/>
              </a:rPr>
              <a:t>Spagna (90) e Portogallo (190)</a:t>
            </a:r>
            <a:endParaRPr kumimoji="0" lang="it-IT" sz="1600" b="0" i="0" u="none" strike="noStrike" kern="1200" cap="none" spc="0" normalizeH="0" baseline="0" noProof="0">
              <a:ln>
                <a:noFill/>
              </a:ln>
              <a:solidFill>
                <a:srgbClr val="0057B7"/>
              </a:solidFill>
              <a:effectLst/>
              <a:uLnTx/>
              <a:uFillTx/>
              <a:latin typeface="Poppins"/>
              <a:ea typeface="+mn-ea"/>
              <a:cs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400" b="0" i="0" u="none" strike="noStrike" kern="1200" cap="none" spc="0" normalizeH="0" baseline="0" noProof="0">
              <a:ln>
                <a:noFill/>
              </a:ln>
              <a:solidFill>
                <a:srgbClr val="002060"/>
              </a:solidFill>
              <a:effectLst/>
              <a:uLnTx/>
              <a:uFillTx/>
              <a:latin typeface="Poppins"/>
              <a:ea typeface="+mn-ea"/>
              <a:cs typeface="Poppins"/>
            </a:endParaRPr>
          </a:p>
        </p:txBody>
      </p:sp>
      <p:sp>
        <p:nvSpPr>
          <p:cNvPr id="12" name="CasellaDiTesto 10">
            <a:extLst>
              <a:ext uri="{FF2B5EF4-FFF2-40B4-BE49-F238E27FC236}">
                <a16:creationId xmlns:a16="http://schemas.microsoft.com/office/drawing/2014/main" id="{9E1B653E-61C5-FA5C-4A01-8B06F99EF50F}"/>
              </a:ext>
            </a:extLst>
          </p:cNvPr>
          <p:cNvSpPr txBox="1"/>
          <p:nvPr/>
        </p:nvSpPr>
        <p:spPr>
          <a:xfrm>
            <a:off x="7858375" y="5754907"/>
            <a:ext cx="3509673" cy="89255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a:ln>
                  <a:noFill/>
                </a:ln>
                <a:solidFill>
                  <a:srgbClr val="002060"/>
                </a:solidFill>
                <a:effectLst/>
                <a:uLnTx/>
                <a:uFillTx/>
                <a:latin typeface="Poppins"/>
                <a:ea typeface="+mn-ea"/>
                <a:cs typeface="Poppins"/>
              </a:rPr>
              <a:t>Valido per pagare elettronicamente il pedaggio e vignette elettroniche </a:t>
            </a:r>
            <a:br>
              <a:rPr kumimoji="0" lang="it-IT" sz="1400" b="0" i="0" u="none" strike="noStrike" kern="1200" cap="none" spc="0" normalizeH="0" baseline="0" noProof="0">
                <a:ln>
                  <a:noFill/>
                </a:ln>
                <a:solidFill>
                  <a:srgbClr val="0057B7"/>
                </a:solidFill>
                <a:effectLst/>
                <a:uLnTx/>
                <a:uFillTx/>
                <a:latin typeface="Poppins"/>
                <a:ea typeface="+mn-ea"/>
                <a:cs typeface="Poppins"/>
              </a:rPr>
            </a:br>
            <a:r>
              <a:rPr kumimoji="0" lang="it-IT" sz="1100" b="0" i="0" u="none" strike="noStrike" kern="1200" cap="none" spc="0" normalizeH="0" baseline="0" noProof="0">
                <a:ln>
                  <a:noFill/>
                </a:ln>
                <a:solidFill>
                  <a:srgbClr val="002060"/>
                </a:solidFill>
                <a:effectLst/>
                <a:uLnTx/>
                <a:uFillTx/>
                <a:latin typeface="Poppins"/>
                <a:ea typeface="+mn-ea"/>
                <a:cs typeface="Poppins"/>
              </a:rPr>
              <a:t>Anche in Svizzera, Austria, </a:t>
            </a:r>
            <a:br>
              <a:rPr kumimoji="0" lang="it-IT" sz="1100" b="0" i="0" u="none" strike="noStrike" kern="1200" cap="none" spc="0" normalizeH="0" baseline="0" noProof="0">
                <a:ln>
                  <a:noFill/>
                </a:ln>
                <a:solidFill>
                  <a:srgbClr val="002060"/>
                </a:solidFill>
                <a:effectLst/>
                <a:uLnTx/>
                <a:uFillTx/>
                <a:latin typeface="Poppins"/>
                <a:ea typeface="+mn-ea"/>
                <a:cs typeface="Poppins"/>
              </a:rPr>
            </a:br>
            <a:r>
              <a:rPr kumimoji="0" lang="it-IT" sz="1100" b="0" i="0" u="none" strike="noStrike" kern="1200" cap="none" spc="0" normalizeH="0" baseline="0" noProof="0">
                <a:ln>
                  <a:noFill/>
                </a:ln>
                <a:solidFill>
                  <a:srgbClr val="002060"/>
                </a:solidFill>
                <a:effectLst/>
                <a:uLnTx/>
                <a:uFillTx/>
                <a:latin typeface="Poppins"/>
                <a:ea typeface="+mn-ea"/>
                <a:cs typeface="Poppins"/>
              </a:rPr>
              <a:t>Slovenia e Repubblica Ceca</a:t>
            </a:r>
            <a:endParaRPr kumimoji="0" lang="it-IT" sz="1100" b="0" i="1" u="none" strike="noStrike" kern="1200" cap="none" spc="0" normalizeH="0" baseline="0" noProof="0">
              <a:ln>
                <a:noFill/>
              </a:ln>
              <a:solidFill>
                <a:srgbClr val="002060"/>
              </a:solidFill>
              <a:effectLst/>
              <a:uLnTx/>
              <a:uFillTx/>
              <a:latin typeface="Poppins"/>
              <a:ea typeface="Calibri"/>
              <a:cs typeface="Poppins"/>
            </a:endParaRPr>
          </a:p>
        </p:txBody>
      </p:sp>
      <p:pic>
        <p:nvPicPr>
          <p:cNvPr id="14" name="Immagine 2" descr="Immagine che contiene schermata, simbolo, logo, Elementi grafici&#10;&#10;Descrizione generata automaticamente">
            <a:extLst>
              <a:ext uri="{FF2B5EF4-FFF2-40B4-BE49-F238E27FC236}">
                <a16:creationId xmlns:a16="http://schemas.microsoft.com/office/drawing/2014/main" id="{FD7AC6A4-83C8-1014-3D9B-261214110CC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11271" y="4556216"/>
            <a:ext cx="881743" cy="881743"/>
          </a:xfrm>
          <a:prstGeom prst="rect">
            <a:avLst/>
          </a:prstGeom>
        </p:spPr>
      </p:pic>
      <p:pic>
        <p:nvPicPr>
          <p:cNvPr id="15" name="Immagine 4" descr="Immagine che contiene testo, schermata, logo, Carattere&#10;&#10;Descrizione generata automaticamente">
            <a:extLst>
              <a:ext uri="{FF2B5EF4-FFF2-40B4-BE49-F238E27FC236}">
                <a16:creationId xmlns:a16="http://schemas.microsoft.com/office/drawing/2014/main" id="{C9ECEF09-BA26-96AF-FA40-590C74791AF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316410" y="1231750"/>
            <a:ext cx="881743" cy="966108"/>
          </a:xfrm>
          <a:prstGeom prst="rect">
            <a:avLst/>
          </a:prstGeom>
        </p:spPr>
      </p:pic>
      <p:pic>
        <p:nvPicPr>
          <p:cNvPr id="16" name="Immagine 5" descr="Immagine che contiene simbolo, schermata, Segnale stradale, Rettangolo&#10;&#10;Descrizione generata automaticamente">
            <a:extLst>
              <a:ext uri="{FF2B5EF4-FFF2-40B4-BE49-F238E27FC236}">
                <a16:creationId xmlns:a16="http://schemas.microsoft.com/office/drawing/2014/main" id="{346204C0-4F39-95B8-A338-622C4D432B7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911384" y="4881784"/>
            <a:ext cx="881743" cy="881743"/>
          </a:xfrm>
          <a:prstGeom prst="rect">
            <a:avLst/>
          </a:prstGeom>
        </p:spPr>
      </p:pic>
      <p:pic>
        <p:nvPicPr>
          <p:cNvPr id="17" name="Immagine 7" descr="Immagine che contiene giallo, schermata, simbolo&#10;&#10;Descrizione generata automaticamente">
            <a:extLst>
              <a:ext uri="{FF2B5EF4-FFF2-40B4-BE49-F238E27FC236}">
                <a16:creationId xmlns:a16="http://schemas.microsoft.com/office/drawing/2014/main" id="{B0EA143E-5C42-76DA-3F9E-916F5F81A062}"/>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955057" y="2758543"/>
            <a:ext cx="881743" cy="881743"/>
          </a:xfrm>
          <a:prstGeom prst="rect">
            <a:avLst/>
          </a:prstGeom>
        </p:spPr>
      </p:pic>
      <p:pic>
        <p:nvPicPr>
          <p:cNvPr id="18" name="Immagine 9" descr="Immagine che contiene testo, calligrafia, Elementi grafici, design&#10;&#10;Descrizione generata automaticamente">
            <a:extLst>
              <a:ext uri="{FF2B5EF4-FFF2-40B4-BE49-F238E27FC236}">
                <a16:creationId xmlns:a16="http://schemas.microsoft.com/office/drawing/2014/main" id="{0FCBC24A-0CD8-07AB-FE19-2FE7EB4D1B1C}"/>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207103" y="5139685"/>
            <a:ext cx="881743" cy="881743"/>
          </a:xfrm>
          <a:prstGeom prst="rect">
            <a:avLst/>
          </a:prstGeom>
        </p:spPr>
      </p:pic>
      <p:pic>
        <p:nvPicPr>
          <p:cNvPr id="19" name="Immagine 10" descr="Immagine che contiene testo, schermata, logo, simbolo&#10;&#10;Descrizione generata automaticamente">
            <a:extLst>
              <a:ext uri="{FF2B5EF4-FFF2-40B4-BE49-F238E27FC236}">
                <a16:creationId xmlns:a16="http://schemas.microsoft.com/office/drawing/2014/main" id="{A8376B81-13B1-FBD3-295E-1CA7F1071E7A}"/>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694313" y="1081608"/>
            <a:ext cx="881743" cy="881743"/>
          </a:xfrm>
          <a:prstGeom prst="rect">
            <a:avLst/>
          </a:prstGeom>
        </p:spPr>
      </p:pic>
      <p:sp>
        <p:nvSpPr>
          <p:cNvPr id="20" name="CasellaDiTesto 10">
            <a:extLst>
              <a:ext uri="{FF2B5EF4-FFF2-40B4-BE49-F238E27FC236}">
                <a16:creationId xmlns:a16="http://schemas.microsoft.com/office/drawing/2014/main" id="{DD523871-4C8F-5364-A47B-FD1905F880C5}"/>
              </a:ext>
            </a:extLst>
          </p:cNvPr>
          <p:cNvSpPr txBox="1"/>
          <p:nvPr/>
        </p:nvSpPr>
        <p:spPr>
          <a:xfrm>
            <a:off x="4374597" y="3715935"/>
            <a:ext cx="2896225"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2060"/>
                </a:solidFill>
                <a:effectLst/>
                <a:uLnTx/>
                <a:uFillTx/>
                <a:latin typeface="Poppins"/>
                <a:ea typeface="+mn-ea"/>
                <a:cs typeface="Poppins"/>
              </a:rPr>
              <a:t>Rete distributiva e di supporto di +1000 punti in tutta Italia</a:t>
            </a:r>
          </a:p>
        </p:txBody>
      </p:sp>
      <p:pic>
        <p:nvPicPr>
          <p:cNvPr id="22" name="Picture 21" descr="A screen shot of a phone&#10;&#10;Description automatically generated">
            <a:extLst>
              <a:ext uri="{FF2B5EF4-FFF2-40B4-BE49-F238E27FC236}">
                <a16:creationId xmlns:a16="http://schemas.microsoft.com/office/drawing/2014/main" id="{057A90D7-50F6-2741-7335-EC8E1B5C6E9D}"/>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4375810" y="3014775"/>
            <a:ext cx="797903" cy="611066"/>
          </a:xfrm>
          <a:prstGeom prst="rect">
            <a:avLst/>
          </a:prstGeom>
        </p:spPr>
      </p:pic>
      <p:sp>
        <p:nvSpPr>
          <p:cNvPr id="23" name="TextBox 22">
            <a:extLst>
              <a:ext uri="{FF2B5EF4-FFF2-40B4-BE49-F238E27FC236}">
                <a16:creationId xmlns:a16="http://schemas.microsoft.com/office/drawing/2014/main" id="{98DC32BC-DF9D-9E76-B33F-D156CA88658D}"/>
              </a:ext>
            </a:extLst>
          </p:cNvPr>
          <p:cNvSpPr txBox="1"/>
          <p:nvPr/>
        </p:nvSpPr>
        <p:spPr>
          <a:xfrm>
            <a:off x="351043" y="1445672"/>
            <a:ext cx="3370352" cy="2130583"/>
          </a:xfrm>
          <a:prstGeom prst="rect">
            <a:avLst/>
          </a:prstGeom>
          <a:noFill/>
        </p:spPr>
        <p:txBody>
          <a:bodyPr wrap="square" rtlCol="0">
            <a:spAutoFit/>
          </a:bodyPr>
          <a:lstStyle/>
          <a:p>
            <a:pPr>
              <a:lnSpc>
                <a:spcPct val="150000"/>
              </a:lnSpc>
            </a:pPr>
            <a:r>
              <a:rPr lang="it-IT" b="1" i="1">
                <a:solidFill>
                  <a:srgbClr val="002060"/>
                </a:solidFill>
                <a:latin typeface="Poppins"/>
                <a:cs typeface="Poppins"/>
              </a:rPr>
              <a:t>Con l’offerta base di Telepass ci sono numerosi vantaggi distintivi </a:t>
            </a:r>
          </a:p>
          <a:p>
            <a:pPr>
              <a:lnSpc>
                <a:spcPct val="150000"/>
              </a:lnSpc>
            </a:pPr>
            <a:r>
              <a:rPr lang="it-IT" b="1" i="1">
                <a:solidFill>
                  <a:srgbClr val="002060"/>
                </a:solidFill>
                <a:latin typeface="Poppins"/>
                <a:cs typeface="Poppins"/>
              </a:rPr>
              <a:t>rispetto ai </a:t>
            </a:r>
          </a:p>
          <a:p>
            <a:pPr>
              <a:lnSpc>
                <a:spcPct val="150000"/>
              </a:lnSpc>
            </a:pPr>
            <a:r>
              <a:rPr lang="it-IT" b="1" i="1">
                <a:solidFill>
                  <a:srgbClr val="002060"/>
                </a:solidFill>
                <a:latin typeface="Poppins"/>
                <a:cs typeface="Poppins"/>
              </a:rPr>
              <a:t>competitor</a:t>
            </a:r>
            <a:endParaRPr lang="en-GB" b="1" i="1">
              <a:solidFill>
                <a:srgbClr val="002060"/>
              </a:solidFill>
              <a:latin typeface="Poppins"/>
              <a:cs typeface="Poppins"/>
            </a:endParaRPr>
          </a:p>
        </p:txBody>
      </p:sp>
    </p:spTree>
    <p:extLst>
      <p:ext uri="{BB962C8B-B14F-4D97-AF65-F5344CB8AC3E}">
        <p14:creationId xmlns:p14="http://schemas.microsoft.com/office/powerpoint/2010/main" val="2005966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4CF8796-E637-41CC-8EA2-4FA9A2FC7E43}"/>
              </a:ext>
            </a:extLst>
          </p:cNvPr>
          <p:cNvSpPr>
            <a:spLocks noGrp="1"/>
          </p:cNvSpPr>
          <p:nvPr>
            <p:ph type="sldNum" sz="quarter" idx="2"/>
          </p:nvPr>
        </p:nvSpPr>
        <p:spPr>
          <a:xfrm>
            <a:off x="11614996" y="6443521"/>
            <a:ext cx="409933" cy="272589"/>
          </a:xfrm>
        </p:spPr>
        <p:txBody>
          <a:bodyPr/>
          <a:lstStyle/>
          <a:p>
            <a:fld id="{86CB4B4D-7CA3-9044-876B-883B54F8677D}" type="slidenum">
              <a:rPr lang="it-IT" smtClean="0"/>
              <a:pPr/>
              <a:t>5</a:t>
            </a:fld>
            <a:endParaRPr lang="it-IT"/>
          </a:p>
        </p:txBody>
      </p:sp>
      <p:sp>
        <p:nvSpPr>
          <p:cNvPr id="36" name="Text Placeholder 26">
            <a:extLst>
              <a:ext uri="{FF2B5EF4-FFF2-40B4-BE49-F238E27FC236}">
                <a16:creationId xmlns:a16="http://schemas.microsoft.com/office/drawing/2014/main" id="{029ED233-637F-2386-1970-84AC34C53EE0}"/>
              </a:ext>
            </a:extLst>
          </p:cNvPr>
          <p:cNvSpPr>
            <a:spLocks noGrp="1"/>
          </p:cNvSpPr>
          <p:nvPr>
            <p:ph type="body" sz="quarter" idx="11"/>
          </p:nvPr>
        </p:nvSpPr>
        <p:spPr>
          <a:xfrm>
            <a:off x="686902" y="158901"/>
            <a:ext cx="10260000" cy="782638"/>
          </a:xfrm>
        </p:spPr>
        <p:txBody>
          <a:bodyPr anchor="ctr">
            <a:normAutofit/>
          </a:bodyPr>
          <a:lstStyle/>
          <a:p>
            <a:r>
              <a:rPr lang="it-IT" b="1">
                <a:latin typeface="Poppins" panose="00000500000000000000" pitchFamily="2" charset="0"/>
              </a:rPr>
              <a:t>Convenzioni sconti pedaggio</a:t>
            </a:r>
          </a:p>
          <a:p>
            <a:r>
              <a:rPr lang="it-IT" sz="1600" b="1">
                <a:solidFill>
                  <a:schemeClr val="bg1">
                    <a:lumMod val="65000"/>
                  </a:schemeClr>
                </a:solidFill>
                <a:latin typeface="Poppins" panose="00000500000000000000" pitchFamily="2" charset="0"/>
              </a:rPr>
              <a:t>TARIFFE AGEVOLATE</a:t>
            </a:r>
          </a:p>
        </p:txBody>
      </p:sp>
      <p:graphicFrame>
        <p:nvGraphicFramePr>
          <p:cNvPr id="37" name="Table 36">
            <a:extLst>
              <a:ext uri="{FF2B5EF4-FFF2-40B4-BE49-F238E27FC236}">
                <a16:creationId xmlns:a16="http://schemas.microsoft.com/office/drawing/2014/main" id="{0B28259B-0041-2434-CCA1-7FA8324D60DA}"/>
              </a:ext>
            </a:extLst>
          </p:cNvPr>
          <p:cNvGraphicFramePr>
            <a:graphicFrameLocks noGrp="1"/>
          </p:cNvGraphicFramePr>
          <p:nvPr>
            <p:extLst>
              <p:ext uri="{D42A27DB-BD31-4B8C-83A1-F6EECF244321}">
                <p14:modId xmlns:p14="http://schemas.microsoft.com/office/powerpoint/2010/main" val="2536060571"/>
              </p:ext>
            </p:extLst>
          </p:nvPr>
        </p:nvGraphicFramePr>
        <p:xfrm>
          <a:off x="470196" y="1357621"/>
          <a:ext cx="11251608" cy="5029200"/>
        </p:xfrm>
        <a:graphic>
          <a:graphicData uri="http://schemas.openxmlformats.org/drawingml/2006/table">
            <a:tbl>
              <a:tblPr firstRow="1" bandRow="1">
                <a:tableStyleId>{5C22544A-7EE6-4342-B048-85BDC9FD1C3A}</a:tableStyleId>
              </a:tblPr>
              <a:tblGrid>
                <a:gridCol w="2334437">
                  <a:extLst>
                    <a:ext uri="{9D8B030D-6E8A-4147-A177-3AD203B41FA5}">
                      <a16:colId xmlns:a16="http://schemas.microsoft.com/office/drawing/2014/main" val="1164534111"/>
                    </a:ext>
                  </a:extLst>
                </a:gridCol>
                <a:gridCol w="6960781">
                  <a:extLst>
                    <a:ext uri="{9D8B030D-6E8A-4147-A177-3AD203B41FA5}">
                      <a16:colId xmlns:a16="http://schemas.microsoft.com/office/drawing/2014/main" val="1107972763"/>
                    </a:ext>
                  </a:extLst>
                </a:gridCol>
                <a:gridCol w="1956390">
                  <a:extLst>
                    <a:ext uri="{9D8B030D-6E8A-4147-A177-3AD203B41FA5}">
                      <a16:colId xmlns:a16="http://schemas.microsoft.com/office/drawing/2014/main" val="3290064624"/>
                    </a:ext>
                  </a:extLst>
                </a:gridCol>
              </a:tblGrid>
              <a:tr h="260864">
                <a:tc>
                  <a:txBody>
                    <a:bodyPr/>
                    <a:lstStyle/>
                    <a:p>
                      <a:pPr algn="l"/>
                      <a:r>
                        <a:rPr lang="it-IT" sz="1200"/>
                        <a:t>Regione</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it-IT" sz="1200"/>
                        <a:t>Tratta</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it-IT" sz="1200"/>
                        <a:t>Sconto</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90952565"/>
                  </a:ext>
                </a:extLst>
              </a:tr>
              <a:tr h="260864">
                <a:tc rowSpan="4">
                  <a:txBody>
                    <a:bodyPr/>
                    <a:lstStyle/>
                    <a:p>
                      <a:pPr algn="l"/>
                      <a:r>
                        <a:rPr lang="it-IT" sz="1200" b="1">
                          <a:solidFill>
                            <a:schemeClr val="accent5"/>
                          </a:solidFill>
                        </a:rPr>
                        <a:t>Lombardia</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Pedemontana Lombarda - tratte A36 - A59 - A60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20%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2883592"/>
                  </a:ext>
                </a:extLst>
              </a:tr>
              <a:tr h="260864">
                <a:tc vMerge="1">
                  <a:txBody>
                    <a:bodyPr/>
                    <a:lstStyle/>
                    <a:p>
                      <a:pPr algn="l"/>
                      <a:endParaRPr lang="it-IT" sz="1200">
                        <a:solidFill>
                          <a:schemeClr val="accent5"/>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BREBEMI/TEEM - tratte A35 - A58</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dirty="0">
                          <a:solidFill>
                            <a:schemeClr val="accent5"/>
                          </a:solidFill>
                        </a:rPr>
                        <a:t>30%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8829105"/>
                  </a:ext>
                </a:extLst>
              </a:tr>
              <a:tr h="260864">
                <a:tc vMerge="1">
                  <a:txBody>
                    <a:bodyPr/>
                    <a:lstStyle/>
                    <a:p>
                      <a:pPr algn="l"/>
                      <a:endParaRPr lang="it-IT" sz="1200">
                        <a:solidFill>
                          <a:schemeClr val="accent5"/>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Best Price - tratta A58</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20%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7384977"/>
                  </a:ext>
                </a:extLst>
              </a:tr>
              <a:tr h="260864">
                <a:tc vMerge="1">
                  <a:txBody>
                    <a:bodyPr/>
                    <a:lstStyle/>
                    <a:p>
                      <a:pPr algn="l"/>
                      <a:endParaRPr lang="it-IT" sz="1200">
                        <a:solidFill>
                          <a:schemeClr val="accent5"/>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Scontami - tratte A50 - A51 - A52</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35%</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9816635"/>
                  </a:ext>
                </a:extLst>
              </a:tr>
              <a:tr h="287050">
                <a:tc rowSpan="2">
                  <a:txBody>
                    <a:bodyPr/>
                    <a:lstStyle/>
                    <a:p>
                      <a:pPr algn="l"/>
                      <a:r>
                        <a:rPr lang="it-IT" sz="1200" b="1">
                          <a:solidFill>
                            <a:schemeClr val="accent5"/>
                          </a:solidFill>
                        </a:rPr>
                        <a:t>Piemonte</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dirty="0">
                          <a:solidFill>
                            <a:schemeClr val="accent5"/>
                          </a:solidFill>
                        </a:rPr>
                        <a:t>SITAF - Società Italiana Autostrade del Frejus</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Abbonamenti disponibili</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8757447"/>
                  </a:ext>
                </a:extLst>
              </a:tr>
              <a:tr h="287050">
                <a:tc vMerge="1">
                  <a:txBody>
                    <a:bodyPr/>
                    <a:lstStyle/>
                    <a:p>
                      <a:pPr algn="l"/>
                      <a:endParaRPr lang="it-IT" sz="1200">
                        <a:solidFill>
                          <a:schemeClr val="accent5"/>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Tangenziale di Torino</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Abbonamenti disponibili</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0297873"/>
                  </a:ext>
                </a:extLst>
              </a:tr>
              <a:tr h="260864">
                <a:tc rowSpan="2">
                  <a:txBody>
                    <a:bodyPr/>
                    <a:lstStyle/>
                    <a:p>
                      <a:pPr algn="l"/>
                      <a:r>
                        <a:rPr lang="it-IT" sz="1200" b="1" dirty="0">
                          <a:solidFill>
                            <a:schemeClr val="accent5"/>
                          </a:solidFill>
                        </a:rPr>
                        <a:t>Val D’Aosta</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Convenzione residenti - Raccordo Autostradale Valle d'Aosta (RAV)</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50%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767242"/>
                  </a:ext>
                </a:extLst>
              </a:tr>
              <a:tr h="260864">
                <a:tc vMerge="1">
                  <a:txBody>
                    <a:bodyPr/>
                    <a:lstStyle/>
                    <a:p>
                      <a:pPr algn="l"/>
                      <a:endParaRPr lang="it-IT" sz="1200">
                        <a:solidFill>
                          <a:schemeClr val="accent5"/>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Convenzione residenti - Società Autostrade Valdostane (SAV)</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50%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216972"/>
                  </a:ext>
                </a:extLst>
              </a:tr>
              <a:tr h="260864">
                <a:tc rowSpan="2">
                  <a:txBody>
                    <a:bodyPr/>
                    <a:lstStyle/>
                    <a:p>
                      <a:pPr algn="l"/>
                      <a:r>
                        <a:rPr lang="it-IT" sz="1200" b="1">
                          <a:solidFill>
                            <a:schemeClr val="accent5"/>
                          </a:solidFill>
                        </a:rPr>
                        <a:t>Veneto</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Padova Est - Miralo </a:t>
                      </a:r>
                      <a:r>
                        <a:rPr lang="it-IT" sz="1200" err="1">
                          <a:solidFill>
                            <a:schemeClr val="accent5"/>
                          </a:solidFill>
                        </a:rPr>
                        <a:t>Dolov</a:t>
                      </a:r>
                      <a:r>
                        <a:rPr lang="it-IT" sz="1200">
                          <a:solidFill>
                            <a:schemeClr val="accent5"/>
                          </a:solidFill>
                        </a:rPr>
                        <a:t>(CAV)</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40%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5902141"/>
                  </a:ext>
                </a:extLst>
              </a:tr>
              <a:tr h="260864">
                <a:tc vMerge="1">
                  <a:txBody>
                    <a:bodyPr/>
                    <a:lstStyle/>
                    <a:p>
                      <a:pPr algn="l"/>
                      <a:endParaRPr lang="it-IT" sz="1200">
                        <a:solidFill>
                          <a:schemeClr val="accent5"/>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Tunnel </a:t>
                      </a:r>
                      <a:r>
                        <a:rPr lang="it-IT" sz="1200" err="1">
                          <a:solidFill>
                            <a:schemeClr val="accent5"/>
                          </a:solidFill>
                        </a:rPr>
                        <a:t>Schivio</a:t>
                      </a:r>
                      <a:r>
                        <a:rPr lang="it-IT" sz="1200">
                          <a:solidFill>
                            <a:schemeClr val="accent5"/>
                          </a:solidFill>
                        </a:rPr>
                        <a:t>-Valdagno</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50%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2375963"/>
                  </a:ext>
                </a:extLst>
              </a:tr>
              <a:tr h="260864">
                <a:tc rowSpan="3">
                  <a:txBody>
                    <a:bodyPr/>
                    <a:lstStyle/>
                    <a:p>
                      <a:pPr algn="l"/>
                      <a:r>
                        <a:rPr lang="it-IT" sz="1200" b="1">
                          <a:solidFill>
                            <a:schemeClr val="accent5"/>
                          </a:solidFill>
                        </a:rPr>
                        <a:t>Trentino Alto Adige</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Brenner Pass - tratta A22</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20%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7316990"/>
                  </a:ext>
                </a:extLst>
              </a:tr>
              <a:tr h="260864">
                <a:tc vMerge="1">
                  <a:txBody>
                    <a:bodyPr/>
                    <a:lstStyle/>
                    <a:p>
                      <a:pPr algn="l"/>
                      <a:endParaRPr lang="it-IT" sz="1200">
                        <a:solidFill>
                          <a:schemeClr val="accent5"/>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Urban Pass - tratta A22</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100%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8405690"/>
                  </a:ext>
                </a:extLst>
              </a:tr>
              <a:tr h="260864">
                <a:tc vMerge="1">
                  <a:txBody>
                    <a:bodyPr/>
                    <a:lstStyle/>
                    <a:p>
                      <a:pPr algn="l"/>
                      <a:endParaRPr lang="it-IT" sz="1200">
                        <a:solidFill>
                          <a:schemeClr val="accent5"/>
                        </a:solidFill>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Urban Pass Bolzano - tratta A22</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100%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9542401"/>
                  </a:ext>
                </a:extLst>
              </a:tr>
              <a:tr h="260864">
                <a:tc>
                  <a:txBody>
                    <a:bodyPr/>
                    <a:lstStyle/>
                    <a:p>
                      <a:pPr algn="l"/>
                      <a:r>
                        <a:rPr lang="it-IT" sz="1200" b="1">
                          <a:solidFill>
                            <a:schemeClr val="accent5"/>
                          </a:solidFill>
                        </a:rPr>
                        <a:t>Liguria</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SALT - tratte A11- A12- A15</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20%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790920"/>
                  </a:ext>
                </a:extLst>
              </a:tr>
              <a:tr h="260864">
                <a:tc>
                  <a:txBody>
                    <a:bodyPr/>
                    <a:lstStyle/>
                    <a:p>
                      <a:pPr algn="l"/>
                      <a:r>
                        <a:rPr lang="it-IT" sz="1200" b="1">
                          <a:solidFill>
                            <a:schemeClr val="accent5"/>
                          </a:solidFill>
                        </a:rPr>
                        <a:t>Toscana</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Convenzione residenti nei 10 comuni della Bassa Val di Cecina</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a:solidFill>
                            <a:schemeClr val="accent5"/>
                          </a:solidFill>
                        </a:rPr>
                        <a:t>Fino a 100%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3277298"/>
                  </a:ext>
                </a:extLst>
              </a:tr>
              <a:tr h="260864">
                <a:tc>
                  <a:txBody>
                    <a:bodyPr/>
                    <a:lstStyle/>
                    <a:p>
                      <a:pPr algn="l"/>
                      <a:r>
                        <a:rPr lang="it-IT" sz="1200" b="1">
                          <a:solidFill>
                            <a:schemeClr val="accent5"/>
                          </a:solidFill>
                        </a:rPr>
                        <a:t>Campania</a:t>
                      </a:r>
                    </a:p>
                  </a:txBody>
                  <a:tcPr anchor="ctr">
                    <a:lnL w="63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t-IT" sz="1200">
                          <a:solidFill>
                            <a:schemeClr val="accent5"/>
                          </a:solidFill>
                        </a:rPr>
                        <a:t>Tariffa differenziata, tratta Salerno-Pompei- Napoli - SPN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it-IT" sz="1200" dirty="0">
                          <a:solidFill>
                            <a:schemeClr val="accent5"/>
                          </a:solidFill>
                        </a:rPr>
                        <a:t>Modulazione tariffe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256567"/>
                  </a:ext>
                </a:extLst>
              </a:tr>
            </a:tbl>
          </a:graphicData>
        </a:graphic>
      </p:graphicFrame>
    </p:spTree>
    <p:extLst>
      <p:ext uri="{BB962C8B-B14F-4D97-AF65-F5344CB8AC3E}">
        <p14:creationId xmlns:p14="http://schemas.microsoft.com/office/powerpoint/2010/main" val="3088814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 0" descr=" ">
            <a:extLst>
              <a:ext uri="{FF2B5EF4-FFF2-40B4-BE49-F238E27FC236}">
                <a16:creationId xmlns:a16="http://schemas.microsoft.com/office/drawing/2014/main" id="{A97C474B-F4DF-49E8-3365-3E577987C99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7373" r="27992"/>
          <a:stretch/>
        </p:blipFill>
        <p:spPr>
          <a:xfrm rot="10800000">
            <a:off x="0" y="1136745"/>
            <a:ext cx="12192000" cy="1861851"/>
          </a:xfrm>
          <a:prstGeom prst="rect">
            <a:avLst/>
          </a:prstGeom>
        </p:spPr>
      </p:pic>
      <p:sp>
        <p:nvSpPr>
          <p:cNvPr id="2" name="Text Placeholder 26">
            <a:extLst>
              <a:ext uri="{FF2B5EF4-FFF2-40B4-BE49-F238E27FC236}">
                <a16:creationId xmlns:a16="http://schemas.microsoft.com/office/drawing/2014/main" id="{583C5BA4-93FC-4D3F-C594-1622AC83DFD9}"/>
              </a:ext>
            </a:extLst>
          </p:cNvPr>
          <p:cNvSpPr txBox="1">
            <a:spLocks/>
          </p:cNvSpPr>
          <p:nvPr/>
        </p:nvSpPr>
        <p:spPr>
          <a:xfrm>
            <a:off x="686902" y="158901"/>
            <a:ext cx="10260000" cy="782638"/>
          </a:xfrm>
          <a:prstGeom prst="rect">
            <a:avLst/>
          </a:prstGeom>
        </p:spPr>
        <p:txBody>
          <a:bodyPr anchor="ctr">
            <a:normAutofit/>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a:latin typeface="Poppins" panose="00000500000000000000" pitchFamily="2" charset="0"/>
              </a:rPr>
              <a:t>Telepass Europeo</a:t>
            </a:r>
          </a:p>
          <a:p>
            <a:r>
              <a:rPr lang="it-IT" sz="1600" b="1">
                <a:solidFill>
                  <a:schemeClr val="bg1">
                    <a:lumMod val="65000"/>
                  </a:schemeClr>
                </a:solidFill>
                <a:latin typeface="Poppins" panose="00000500000000000000" pitchFamily="2" charset="0"/>
              </a:rPr>
              <a:t>I VANTAGGI</a:t>
            </a:r>
          </a:p>
        </p:txBody>
      </p:sp>
      <p:pic>
        <p:nvPicPr>
          <p:cNvPr id="3" name="Immagine 5" descr="Immagine che contiene simbolo, schermata, Segnale stradale, Rettangolo&#10;&#10;Descrizione generata automaticamente">
            <a:extLst>
              <a:ext uri="{FF2B5EF4-FFF2-40B4-BE49-F238E27FC236}">
                <a16:creationId xmlns:a16="http://schemas.microsoft.com/office/drawing/2014/main" id="{E129C3DA-3616-28D7-EF07-90C7E872CD4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9248" y="5382696"/>
            <a:ext cx="973906" cy="973906"/>
          </a:xfrm>
          <a:prstGeom prst="rect">
            <a:avLst/>
          </a:prstGeom>
        </p:spPr>
      </p:pic>
      <p:pic>
        <p:nvPicPr>
          <p:cNvPr id="5" name="Picture 4" descr="A blue sign with a white border&#10;&#10;Description automatically generated with medium confidence">
            <a:extLst>
              <a:ext uri="{FF2B5EF4-FFF2-40B4-BE49-F238E27FC236}">
                <a16:creationId xmlns:a16="http://schemas.microsoft.com/office/drawing/2014/main" id="{95A191CF-7AB7-8BFF-D872-FABDE523D257}"/>
              </a:ext>
            </a:extLst>
          </p:cNvPr>
          <p:cNvPicPr>
            <a:picLocks noChangeAspect="1"/>
          </p:cNvPicPr>
          <p:nvPr/>
        </p:nvPicPr>
        <p:blipFill rotWithShape="1">
          <a:blip r:embed="rId5">
            <a:extLst>
              <a:ext uri="{28A0092B-C50C-407E-A947-70E740481C1C}">
                <a14:useLocalDpi xmlns:a14="http://schemas.microsoft.com/office/drawing/2010/main"/>
              </a:ext>
            </a:extLst>
          </a:blip>
          <a:srcRect b="25673"/>
          <a:stretch/>
        </p:blipFill>
        <p:spPr>
          <a:xfrm>
            <a:off x="179496" y="4049315"/>
            <a:ext cx="1350604" cy="1050719"/>
          </a:xfrm>
          <a:prstGeom prst="rect">
            <a:avLst/>
          </a:prstGeom>
        </p:spPr>
      </p:pic>
      <p:pic>
        <p:nvPicPr>
          <p:cNvPr id="6" name="Picture 5" descr="A screenshot of a mobile device&#10;&#10;Description automatically generated">
            <a:extLst>
              <a:ext uri="{FF2B5EF4-FFF2-40B4-BE49-F238E27FC236}">
                <a16:creationId xmlns:a16="http://schemas.microsoft.com/office/drawing/2014/main" id="{FF76B43E-7834-0649-B5CD-57264E31FCE3}"/>
              </a:ext>
            </a:extLst>
          </p:cNvPr>
          <p:cNvPicPr>
            <a:picLocks noChangeAspect="1"/>
          </p:cNvPicPr>
          <p:nvPr/>
        </p:nvPicPr>
        <p:blipFill rotWithShape="1">
          <a:blip r:embed="rId6">
            <a:extLst>
              <a:ext uri="{28A0092B-C50C-407E-A947-70E740481C1C}">
                <a14:useLocalDpi xmlns:a14="http://schemas.microsoft.com/office/drawing/2010/main"/>
              </a:ext>
            </a:extLst>
          </a:blip>
          <a:srcRect b="25673"/>
          <a:stretch/>
        </p:blipFill>
        <p:spPr>
          <a:xfrm>
            <a:off x="179496" y="2998596"/>
            <a:ext cx="1350604" cy="1050719"/>
          </a:xfrm>
          <a:prstGeom prst="rect">
            <a:avLst/>
          </a:prstGeom>
        </p:spPr>
      </p:pic>
      <p:pic>
        <p:nvPicPr>
          <p:cNvPr id="9" name="Picture 8" descr="A close-up of a telephone receiver&#10;&#10;Description automatically generated">
            <a:extLst>
              <a:ext uri="{FF2B5EF4-FFF2-40B4-BE49-F238E27FC236}">
                <a16:creationId xmlns:a16="http://schemas.microsoft.com/office/drawing/2014/main" id="{561A9BC6-CEA9-652D-0562-F5CC1C3A8C7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39478" y="1314807"/>
            <a:ext cx="2402958" cy="1351664"/>
          </a:xfrm>
          <a:prstGeom prst="rect">
            <a:avLst/>
          </a:prstGeom>
        </p:spPr>
      </p:pic>
      <p:pic>
        <p:nvPicPr>
          <p:cNvPr id="10" name="Picture 4" descr="Icona arrotondata della bandiera dell'Europa vettore di bandiera europea  isolato con la conservazione dei colori standard e delle proporzioni adatte  per la stampa di illustrazioni di banner di siti Web 2392799 Arte">
            <a:extLst>
              <a:ext uri="{FF2B5EF4-FFF2-40B4-BE49-F238E27FC236}">
                <a16:creationId xmlns:a16="http://schemas.microsoft.com/office/drawing/2014/main" id="{37242BEA-BED3-8C61-39BF-CD8396E34D51}"/>
              </a:ext>
            </a:extLst>
          </p:cNvPr>
          <p:cNvPicPr>
            <a:picLocks noChangeAspect="1" noChangeArrowheads="1"/>
          </p:cNvPicPr>
          <p:nvPr/>
        </p:nvPicPr>
        <p:blipFill>
          <a:blip r:embed="rId8" cstate="screen">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708837" y="1314807"/>
            <a:ext cx="730101" cy="730101"/>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D9ABEE7D-9382-2BC8-351E-57756346E50D}"/>
              </a:ext>
            </a:extLst>
          </p:cNvPr>
          <p:cNvCxnSpPr>
            <a:cxnSpLocks/>
          </p:cNvCxnSpPr>
          <p:nvPr/>
        </p:nvCxnSpPr>
        <p:spPr>
          <a:xfrm>
            <a:off x="432900" y="4013913"/>
            <a:ext cx="11376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C5E92E1-E3B2-021E-01A8-7D0B05CCEDE6}"/>
              </a:ext>
            </a:extLst>
          </p:cNvPr>
          <p:cNvCxnSpPr>
            <a:cxnSpLocks/>
          </p:cNvCxnSpPr>
          <p:nvPr/>
        </p:nvCxnSpPr>
        <p:spPr>
          <a:xfrm>
            <a:off x="432900" y="5218936"/>
            <a:ext cx="11376000"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CasellaDiTesto 10">
            <a:extLst>
              <a:ext uri="{FF2B5EF4-FFF2-40B4-BE49-F238E27FC236}">
                <a16:creationId xmlns:a16="http://schemas.microsoft.com/office/drawing/2014/main" id="{E567A8DD-D2CA-FA91-2435-09590DDF6B8D}"/>
              </a:ext>
            </a:extLst>
          </p:cNvPr>
          <p:cNvSpPr txBox="1"/>
          <p:nvPr/>
        </p:nvSpPr>
        <p:spPr>
          <a:xfrm>
            <a:off x="2489272" y="1525336"/>
            <a:ext cx="2664370" cy="1015663"/>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a:ln>
                  <a:noFill/>
                </a:ln>
                <a:solidFill>
                  <a:srgbClr val="002060"/>
                </a:solidFill>
                <a:effectLst/>
                <a:uLnTx/>
                <a:uFillTx/>
                <a:latin typeface="Poppins Medium" panose="00000600000000000000" pitchFamily="2" charset="0"/>
                <a:cs typeface="Poppins Medium" panose="00000600000000000000" pitchFamily="2" charset="0"/>
              </a:rPr>
              <a:t>Valido per viaggiare in 5 paesi</a:t>
            </a:r>
          </a:p>
        </p:txBody>
      </p:sp>
      <p:grpSp>
        <p:nvGrpSpPr>
          <p:cNvPr id="26" name="Group 25">
            <a:extLst>
              <a:ext uri="{FF2B5EF4-FFF2-40B4-BE49-F238E27FC236}">
                <a16:creationId xmlns:a16="http://schemas.microsoft.com/office/drawing/2014/main" id="{5CDF83E6-CC75-0ED5-C9E1-2B78666F1103}"/>
              </a:ext>
            </a:extLst>
          </p:cNvPr>
          <p:cNvGrpSpPr/>
          <p:nvPr/>
        </p:nvGrpSpPr>
        <p:grpSpPr>
          <a:xfrm>
            <a:off x="5582250" y="1358883"/>
            <a:ext cx="6170272" cy="1263513"/>
            <a:chOff x="5582250" y="1360584"/>
            <a:chExt cx="6170272" cy="1263513"/>
          </a:xfrm>
        </p:grpSpPr>
        <p:pic>
          <p:nvPicPr>
            <p:cNvPr id="17" name="Picture 16">
              <a:extLst>
                <a:ext uri="{FF2B5EF4-FFF2-40B4-BE49-F238E27FC236}">
                  <a16:creationId xmlns:a16="http://schemas.microsoft.com/office/drawing/2014/main" id="{DAEE9080-929C-3085-90CE-C889F56B0795}"/>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7548171" y="1376786"/>
              <a:ext cx="779750" cy="519833"/>
            </a:xfrm>
            <a:prstGeom prst="rect">
              <a:avLst/>
            </a:prstGeom>
          </p:spPr>
        </p:pic>
        <p:pic>
          <p:nvPicPr>
            <p:cNvPr id="1032" name="Picture 8" descr="Bandiera della Spagna - Wikipedia">
              <a:extLst>
                <a:ext uri="{FF2B5EF4-FFF2-40B4-BE49-F238E27FC236}">
                  <a16:creationId xmlns:a16="http://schemas.microsoft.com/office/drawing/2014/main" id="{6666B03D-EFA4-9134-03DA-ED24A3DE414D}"/>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7548171" y="2100424"/>
              <a:ext cx="785752" cy="52367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7424EF89-DE0D-47A2-CD38-4D9945A68F61}"/>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726300" y="2099563"/>
              <a:ext cx="786032" cy="524021"/>
            </a:xfrm>
            <a:prstGeom prst="rect">
              <a:avLst/>
            </a:prstGeom>
          </p:spPr>
        </p:pic>
        <p:pic>
          <p:nvPicPr>
            <p:cNvPr id="1036" name="Picture 12" descr="Croazia - Wikipedia">
              <a:extLst>
                <a:ext uri="{FF2B5EF4-FFF2-40B4-BE49-F238E27FC236}">
                  <a16:creationId xmlns:a16="http://schemas.microsoft.com/office/drawing/2014/main" id="{CEB91818-2AED-6D8C-B85A-2995EC4FE058}"/>
                </a:ext>
              </a:extLst>
            </p:cNvPr>
            <p:cNvPicPr>
              <a:picLocks noChangeAspect="1" noChangeArrowheads="1"/>
            </p:cNvPicPr>
            <p:nvPr/>
          </p:nvPicPr>
          <p:blipFill rotWithShape="1">
            <a:blip r:embed="rId13" cstate="screen">
              <a:extLst>
                <a:ext uri="{28A0092B-C50C-407E-A947-70E740481C1C}">
                  <a14:useLocalDpi xmlns:a14="http://schemas.microsoft.com/office/drawing/2010/main"/>
                </a:ext>
              </a:extLst>
            </a:blip>
            <a:srcRect l="18605" r="2318"/>
            <a:stretch/>
          </p:blipFill>
          <p:spPr bwMode="auto">
            <a:xfrm>
              <a:off x="9726300" y="1360584"/>
              <a:ext cx="777772" cy="52385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Bandiera d'Italia - Wikipedia">
              <a:extLst>
                <a:ext uri="{FF2B5EF4-FFF2-40B4-BE49-F238E27FC236}">
                  <a16:creationId xmlns:a16="http://schemas.microsoft.com/office/drawing/2014/main" id="{024E27DB-757A-69B1-042D-985AC7305205}"/>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5582250" y="1761171"/>
              <a:ext cx="786032" cy="52386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B18972E1-546C-147F-88C4-19308B02DC55}"/>
                </a:ext>
              </a:extLst>
            </p:cNvPr>
            <p:cNvSpPr txBox="1"/>
            <p:nvPr/>
          </p:nvSpPr>
          <p:spPr>
            <a:xfrm>
              <a:off x="6368282" y="1851116"/>
              <a:ext cx="961399" cy="307777"/>
            </a:xfrm>
            <a:prstGeom prst="rect">
              <a:avLst/>
            </a:prstGeom>
            <a:noFill/>
          </p:spPr>
          <p:txBody>
            <a:bodyPr wrap="square" rtlCol="0">
              <a:spAutoFit/>
            </a:bodyPr>
            <a:lstStyle/>
            <a:p>
              <a:r>
                <a:rPr lang="it-IT" sz="1400" b="1"/>
                <a:t>Italia</a:t>
              </a:r>
              <a:endParaRPr lang="en-GB" sz="1400" b="1"/>
            </a:p>
          </p:txBody>
        </p:sp>
        <p:sp>
          <p:nvSpPr>
            <p:cNvPr id="22" name="TextBox 21">
              <a:extLst>
                <a:ext uri="{FF2B5EF4-FFF2-40B4-BE49-F238E27FC236}">
                  <a16:creationId xmlns:a16="http://schemas.microsoft.com/office/drawing/2014/main" id="{7AEC098C-6E45-30A5-8ECC-99C091BA80D5}"/>
                </a:ext>
              </a:extLst>
            </p:cNvPr>
            <p:cNvSpPr txBox="1"/>
            <p:nvPr/>
          </p:nvSpPr>
          <p:spPr>
            <a:xfrm>
              <a:off x="8336293" y="1479022"/>
              <a:ext cx="961399" cy="307777"/>
            </a:xfrm>
            <a:prstGeom prst="rect">
              <a:avLst/>
            </a:prstGeom>
            <a:noFill/>
          </p:spPr>
          <p:txBody>
            <a:bodyPr wrap="square" rtlCol="0">
              <a:spAutoFit/>
            </a:bodyPr>
            <a:lstStyle/>
            <a:p>
              <a:r>
                <a:rPr lang="it-IT" sz="1400" b="1"/>
                <a:t>Francia</a:t>
              </a:r>
              <a:endParaRPr lang="en-GB" sz="1400" b="1"/>
            </a:p>
          </p:txBody>
        </p:sp>
        <p:sp>
          <p:nvSpPr>
            <p:cNvPr id="23" name="TextBox 22">
              <a:extLst>
                <a:ext uri="{FF2B5EF4-FFF2-40B4-BE49-F238E27FC236}">
                  <a16:creationId xmlns:a16="http://schemas.microsoft.com/office/drawing/2014/main" id="{DCE348DA-C46D-8FED-FD74-7F2416045511}"/>
                </a:ext>
              </a:extLst>
            </p:cNvPr>
            <p:cNvSpPr txBox="1"/>
            <p:nvPr/>
          </p:nvSpPr>
          <p:spPr>
            <a:xfrm>
              <a:off x="8336293" y="2207684"/>
              <a:ext cx="961399" cy="307777"/>
            </a:xfrm>
            <a:prstGeom prst="rect">
              <a:avLst/>
            </a:prstGeom>
            <a:noFill/>
          </p:spPr>
          <p:txBody>
            <a:bodyPr wrap="square" rtlCol="0">
              <a:spAutoFit/>
            </a:bodyPr>
            <a:lstStyle/>
            <a:p>
              <a:r>
                <a:rPr lang="it-IT" sz="1400" b="1"/>
                <a:t>Spagna</a:t>
              </a:r>
              <a:endParaRPr lang="en-GB" sz="1400" b="1"/>
            </a:p>
          </p:txBody>
        </p:sp>
        <p:sp>
          <p:nvSpPr>
            <p:cNvPr id="24" name="TextBox 23">
              <a:extLst>
                <a:ext uri="{FF2B5EF4-FFF2-40B4-BE49-F238E27FC236}">
                  <a16:creationId xmlns:a16="http://schemas.microsoft.com/office/drawing/2014/main" id="{B09FDC1C-2BF2-94B2-4487-4A1FA73CA3AC}"/>
                </a:ext>
              </a:extLst>
            </p:cNvPr>
            <p:cNvSpPr txBox="1"/>
            <p:nvPr/>
          </p:nvSpPr>
          <p:spPr>
            <a:xfrm>
              <a:off x="10521764" y="1479022"/>
              <a:ext cx="961399" cy="307777"/>
            </a:xfrm>
            <a:prstGeom prst="rect">
              <a:avLst/>
            </a:prstGeom>
            <a:noFill/>
          </p:spPr>
          <p:txBody>
            <a:bodyPr wrap="square" rtlCol="0">
              <a:spAutoFit/>
            </a:bodyPr>
            <a:lstStyle/>
            <a:p>
              <a:r>
                <a:rPr lang="it-IT" sz="1400" b="1"/>
                <a:t>Croazia</a:t>
              </a:r>
              <a:endParaRPr lang="en-GB" sz="1400" b="1"/>
            </a:p>
          </p:txBody>
        </p:sp>
        <p:sp>
          <p:nvSpPr>
            <p:cNvPr id="25" name="TextBox 24">
              <a:extLst>
                <a:ext uri="{FF2B5EF4-FFF2-40B4-BE49-F238E27FC236}">
                  <a16:creationId xmlns:a16="http://schemas.microsoft.com/office/drawing/2014/main" id="{6C65B0D5-3ED5-9386-7E4B-747CC6C27077}"/>
                </a:ext>
              </a:extLst>
            </p:cNvPr>
            <p:cNvSpPr txBox="1"/>
            <p:nvPr/>
          </p:nvSpPr>
          <p:spPr>
            <a:xfrm>
              <a:off x="10521764" y="2207684"/>
              <a:ext cx="1230758" cy="307777"/>
            </a:xfrm>
            <a:prstGeom prst="rect">
              <a:avLst/>
            </a:prstGeom>
            <a:noFill/>
          </p:spPr>
          <p:txBody>
            <a:bodyPr wrap="square" rtlCol="0">
              <a:spAutoFit/>
            </a:bodyPr>
            <a:lstStyle/>
            <a:p>
              <a:r>
                <a:rPr lang="it-IT" sz="1400" b="1"/>
                <a:t>Portogallo</a:t>
              </a:r>
              <a:endParaRPr lang="en-GB" sz="1400" b="1"/>
            </a:p>
          </p:txBody>
        </p:sp>
      </p:grpSp>
      <p:sp>
        <p:nvSpPr>
          <p:cNvPr id="29" name="CasellaDiTesto 10">
            <a:extLst>
              <a:ext uri="{FF2B5EF4-FFF2-40B4-BE49-F238E27FC236}">
                <a16:creationId xmlns:a16="http://schemas.microsoft.com/office/drawing/2014/main" id="{32F9D3D0-946C-AFFB-862E-C9D9C093604F}"/>
              </a:ext>
            </a:extLst>
          </p:cNvPr>
          <p:cNvSpPr txBox="1"/>
          <p:nvPr/>
        </p:nvSpPr>
        <p:spPr>
          <a:xfrm>
            <a:off x="1377699" y="3258807"/>
            <a:ext cx="10305201" cy="523220"/>
          </a:xfrm>
          <a:prstGeom prst="rect">
            <a:avLst/>
          </a:prstGeom>
          <a:noFill/>
        </p:spPr>
        <p:txBody>
          <a:bodyPr wrap="square" lIns="91440" tIns="45720" rIns="91440" bIns="4572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err="1">
                <a:ln>
                  <a:noFill/>
                </a:ln>
                <a:solidFill>
                  <a:srgbClr val="002060"/>
                </a:solidFill>
                <a:effectLst/>
                <a:uLnTx/>
                <a:uFillTx/>
                <a:latin typeface="Poppins"/>
                <a:ea typeface="+mn-ea"/>
                <a:cs typeface="Poppins"/>
              </a:rPr>
              <a:t>ll</a:t>
            </a:r>
            <a:r>
              <a:rPr kumimoji="0" lang="it-IT" sz="1400" b="0" i="0" u="none" strike="noStrike" kern="1200" cap="none" spc="0" normalizeH="0" baseline="0" noProof="0" dirty="0">
                <a:ln>
                  <a:noFill/>
                </a:ln>
                <a:solidFill>
                  <a:srgbClr val="002060"/>
                </a:solidFill>
                <a:effectLst/>
                <a:uLnTx/>
                <a:uFillTx/>
                <a:latin typeface="Poppins"/>
                <a:ea typeface="+mn-ea"/>
                <a:cs typeface="Poppins"/>
              </a:rPr>
              <a:t> servizio ha un costo di attivazione di 10€ (IVA inclusa). Il canone mensile del Telepass è di 3,90€ (IVA inclusa), in più se viaggi in Europa ha un costo di 2,40€ (IVA inclusa) al mese per nazione, per ogni mese di effettivo utilizzo. </a:t>
            </a:r>
          </a:p>
        </p:txBody>
      </p:sp>
      <p:sp>
        <p:nvSpPr>
          <p:cNvPr id="30" name="CasellaDiTesto 10">
            <a:extLst>
              <a:ext uri="{FF2B5EF4-FFF2-40B4-BE49-F238E27FC236}">
                <a16:creationId xmlns:a16="http://schemas.microsoft.com/office/drawing/2014/main" id="{D0848C76-A033-0ECF-DA9B-C9485D5212C1}"/>
              </a:ext>
            </a:extLst>
          </p:cNvPr>
          <p:cNvSpPr txBox="1"/>
          <p:nvPr/>
        </p:nvSpPr>
        <p:spPr>
          <a:xfrm>
            <a:off x="1393935" y="4500115"/>
            <a:ext cx="10484098" cy="307777"/>
          </a:xfrm>
          <a:prstGeom prst="rect">
            <a:avLst/>
          </a:prstGeom>
          <a:noFill/>
        </p:spPr>
        <p:txBody>
          <a:bodyPr wrap="square" lIns="91440" tIns="45720" rIns="91440" bIns="4572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a:ln>
                  <a:noFill/>
                </a:ln>
                <a:solidFill>
                  <a:srgbClr val="002060"/>
                </a:solidFill>
                <a:effectLst/>
                <a:uLnTx/>
                <a:uFillTx/>
                <a:latin typeface="Poppins"/>
                <a:ea typeface="+mn-ea"/>
                <a:cs typeface="Poppins"/>
              </a:rPr>
              <a:t>Pagamento automatico dei parcheggi convenzionati</a:t>
            </a:r>
          </a:p>
        </p:txBody>
      </p:sp>
      <p:sp>
        <p:nvSpPr>
          <p:cNvPr id="31" name="CasellaDiTesto 10">
            <a:extLst>
              <a:ext uri="{FF2B5EF4-FFF2-40B4-BE49-F238E27FC236}">
                <a16:creationId xmlns:a16="http://schemas.microsoft.com/office/drawing/2014/main" id="{AB1CA12D-6E4E-F542-74C0-B493562562F4}"/>
              </a:ext>
            </a:extLst>
          </p:cNvPr>
          <p:cNvSpPr txBox="1"/>
          <p:nvPr/>
        </p:nvSpPr>
        <p:spPr>
          <a:xfrm>
            <a:off x="1363109" y="5574365"/>
            <a:ext cx="10484098" cy="307777"/>
          </a:xfrm>
          <a:prstGeom prst="rect">
            <a:avLst/>
          </a:prstGeom>
          <a:noFill/>
        </p:spPr>
        <p:txBody>
          <a:bodyPr wrap="square" lIns="91440" tIns="45720" rIns="91440" bIns="4572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a:ln>
                  <a:noFill/>
                </a:ln>
                <a:solidFill>
                  <a:srgbClr val="002060"/>
                </a:solidFill>
                <a:effectLst/>
                <a:uLnTx/>
                <a:uFillTx/>
                <a:latin typeface="Poppins"/>
                <a:ea typeface="+mn-ea"/>
                <a:cs typeface="Poppins"/>
              </a:rPr>
              <a:t>Disponibili in App Telepass le Vignette Elettroniche per viaggiare anche in…</a:t>
            </a:r>
          </a:p>
        </p:txBody>
      </p:sp>
      <p:pic>
        <p:nvPicPr>
          <p:cNvPr id="1040" name="Picture 16" descr="Bandiera Svizzera">
            <a:extLst>
              <a:ext uri="{FF2B5EF4-FFF2-40B4-BE49-F238E27FC236}">
                <a16:creationId xmlns:a16="http://schemas.microsoft.com/office/drawing/2014/main" id="{DAF597B4-7B47-8756-164D-5B34B53E0828}"/>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879600" y="6139901"/>
            <a:ext cx="523416" cy="349283"/>
          </a:xfrm>
          <a:prstGeom prst="rect">
            <a:avLst/>
          </a:prstGeom>
          <a:noFill/>
          <a:extLst>
            <a:ext uri="{909E8E84-426E-40DD-AFC4-6F175D3DCCD1}">
              <a14:hiddenFill xmlns:a14="http://schemas.microsoft.com/office/drawing/2010/main">
                <a:solidFill>
                  <a:srgbClr val="FFFFFF"/>
                </a:solidFill>
              </a14:hiddenFill>
            </a:ext>
          </a:extLst>
        </p:spPr>
      </p:pic>
      <p:sp>
        <p:nvSpPr>
          <p:cNvPr id="1024" name="TextBox 1023">
            <a:extLst>
              <a:ext uri="{FF2B5EF4-FFF2-40B4-BE49-F238E27FC236}">
                <a16:creationId xmlns:a16="http://schemas.microsoft.com/office/drawing/2014/main" id="{4AC83AA9-097A-7ACE-9DC5-478057DF20C5}"/>
              </a:ext>
            </a:extLst>
          </p:cNvPr>
          <p:cNvSpPr txBox="1"/>
          <p:nvPr/>
        </p:nvSpPr>
        <p:spPr>
          <a:xfrm>
            <a:off x="2361736" y="6160653"/>
            <a:ext cx="961399" cy="307777"/>
          </a:xfrm>
          <a:prstGeom prst="rect">
            <a:avLst/>
          </a:prstGeom>
          <a:noFill/>
        </p:spPr>
        <p:txBody>
          <a:bodyPr wrap="square" rtlCol="0">
            <a:spAutoFit/>
          </a:bodyPr>
          <a:lstStyle/>
          <a:p>
            <a:r>
              <a:rPr lang="it-IT" sz="1400" b="1"/>
              <a:t>Svizzera</a:t>
            </a:r>
            <a:endParaRPr lang="en-GB" sz="1400" b="1"/>
          </a:p>
        </p:txBody>
      </p:sp>
      <p:sp>
        <p:nvSpPr>
          <p:cNvPr id="1025" name="TextBox 1024">
            <a:extLst>
              <a:ext uri="{FF2B5EF4-FFF2-40B4-BE49-F238E27FC236}">
                <a16:creationId xmlns:a16="http://schemas.microsoft.com/office/drawing/2014/main" id="{7F2F8DA5-F177-BB0B-2724-F9A299BD10F3}"/>
              </a:ext>
            </a:extLst>
          </p:cNvPr>
          <p:cNvSpPr txBox="1"/>
          <p:nvPr/>
        </p:nvSpPr>
        <p:spPr>
          <a:xfrm>
            <a:off x="4192243" y="6160653"/>
            <a:ext cx="961399" cy="307777"/>
          </a:xfrm>
          <a:prstGeom prst="rect">
            <a:avLst/>
          </a:prstGeom>
          <a:noFill/>
        </p:spPr>
        <p:txBody>
          <a:bodyPr wrap="square" rtlCol="0">
            <a:spAutoFit/>
          </a:bodyPr>
          <a:lstStyle/>
          <a:p>
            <a:r>
              <a:rPr lang="it-IT" sz="1400" b="1"/>
              <a:t>Austria</a:t>
            </a:r>
            <a:endParaRPr lang="en-GB" sz="1400" b="1"/>
          </a:p>
        </p:txBody>
      </p:sp>
      <p:pic>
        <p:nvPicPr>
          <p:cNvPr id="1027" name="Picture 18" descr="Bandiera dell'Austria - Wikipedia">
            <a:extLst>
              <a:ext uri="{FF2B5EF4-FFF2-40B4-BE49-F238E27FC236}">
                <a16:creationId xmlns:a16="http://schemas.microsoft.com/office/drawing/2014/main" id="{7033485B-2243-2444-7521-D3DB667FD146}"/>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3710108" y="6139902"/>
            <a:ext cx="523416" cy="348836"/>
          </a:xfrm>
          <a:prstGeom prst="rect">
            <a:avLst/>
          </a:prstGeom>
          <a:noFill/>
          <a:extLst>
            <a:ext uri="{909E8E84-426E-40DD-AFC4-6F175D3DCCD1}">
              <a14:hiddenFill xmlns:a14="http://schemas.microsoft.com/office/drawing/2010/main">
                <a:solidFill>
                  <a:srgbClr val="FFFFFF"/>
                </a:solidFill>
              </a14:hiddenFill>
            </a:ext>
          </a:extLst>
        </p:spPr>
      </p:pic>
      <p:sp>
        <p:nvSpPr>
          <p:cNvPr id="1029" name="TextBox 1028">
            <a:extLst>
              <a:ext uri="{FF2B5EF4-FFF2-40B4-BE49-F238E27FC236}">
                <a16:creationId xmlns:a16="http://schemas.microsoft.com/office/drawing/2014/main" id="{5ECDF852-A685-BA93-D980-552CC8D1B434}"/>
              </a:ext>
            </a:extLst>
          </p:cNvPr>
          <p:cNvSpPr txBox="1"/>
          <p:nvPr/>
        </p:nvSpPr>
        <p:spPr>
          <a:xfrm>
            <a:off x="5824603" y="6160653"/>
            <a:ext cx="1142648" cy="307777"/>
          </a:xfrm>
          <a:prstGeom prst="rect">
            <a:avLst/>
          </a:prstGeom>
          <a:noFill/>
        </p:spPr>
        <p:txBody>
          <a:bodyPr wrap="square" rtlCol="0">
            <a:spAutoFit/>
          </a:bodyPr>
          <a:lstStyle/>
          <a:p>
            <a:r>
              <a:rPr lang="it-IT" sz="1400" b="1"/>
              <a:t>Slovenia</a:t>
            </a:r>
            <a:endParaRPr lang="en-GB" sz="1400" b="1"/>
          </a:p>
        </p:txBody>
      </p:sp>
      <p:pic>
        <p:nvPicPr>
          <p:cNvPr id="1030" name="Picture 20" descr="Bandiera della Slovenia - Wikipedia">
            <a:extLst>
              <a:ext uri="{FF2B5EF4-FFF2-40B4-BE49-F238E27FC236}">
                <a16:creationId xmlns:a16="http://schemas.microsoft.com/office/drawing/2014/main" id="{502433A3-B059-19ED-2AD0-AFC51E42B838}"/>
              </a:ext>
            </a:extLst>
          </p:cNvPr>
          <p:cNvPicPr>
            <a:picLocks noChangeAspect="1" noChangeArrowheads="1"/>
          </p:cNvPicPr>
          <p:nvPr/>
        </p:nvPicPr>
        <p:blipFill>
          <a:blip r:embed="rId17" cstate="screen">
            <a:extLst>
              <a:ext uri="{28A0092B-C50C-407E-A947-70E740481C1C}">
                <a14:useLocalDpi xmlns:a14="http://schemas.microsoft.com/office/drawing/2010/main"/>
              </a:ext>
            </a:extLst>
          </a:blip>
          <a:srcRect/>
          <a:stretch>
            <a:fillRect/>
          </a:stretch>
        </p:blipFill>
        <p:spPr bwMode="auto">
          <a:xfrm>
            <a:off x="5338679" y="6135427"/>
            <a:ext cx="523417" cy="333003"/>
          </a:xfrm>
          <a:prstGeom prst="rect">
            <a:avLst/>
          </a:prstGeom>
          <a:noFill/>
          <a:ln>
            <a:solidFill>
              <a:schemeClr val="bg1">
                <a:lumMod val="95000"/>
              </a:schemeClr>
            </a:solidFill>
          </a:ln>
          <a:extLst>
            <a:ext uri="{909E8E84-426E-40DD-AFC4-6F175D3DCCD1}">
              <a14:hiddenFill xmlns:a14="http://schemas.microsoft.com/office/drawing/2010/main">
                <a:solidFill>
                  <a:srgbClr val="FFFFFF"/>
                </a:solidFill>
              </a14:hiddenFill>
            </a:ext>
          </a:extLst>
        </p:spPr>
      </p:pic>
      <p:sp>
        <p:nvSpPr>
          <p:cNvPr id="1031" name="TextBox 1030">
            <a:extLst>
              <a:ext uri="{FF2B5EF4-FFF2-40B4-BE49-F238E27FC236}">
                <a16:creationId xmlns:a16="http://schemas.microsoft.com/office/drawing/2014/main" id="{5B3690F0-5036-C82F-2A57-7AF25121C255}"/>
              </a:ext>
            </a:extLst>
          </p:cNvPr>
          <p:cNvSpPr txBox="1"/>
          <p:nvPr/>
        </p:nvSpPr>
        <p:spPr>
          <a:xfrm>
            <a:off x="7477778" y="6160653"/>
            <a:ext cx="2244399" cy="307777"/>
          </a:xfrm>
          <a:prstGeom prst="rect">
            <a:avLst/>
          </a:prstGeom>
          <a:noFill/>
        </p:spPr>
        <p:txBody>
          <a:bodyPr wrap="square" rtlCol="0">
            <a:spAutoFit/>
          </a:bodyPr>
          <a:lstStyle/>
          <a:p>
            <a:r>
              <a:rPr lang="it-IT" sz="1400" b="1"/>
              <a:t>Repubblica Ceca</a:t>
            </a:r>
            <a:endParaRPr lang="en-GB" sz="1400" b="1"/>
          </a:p>
        </p:txBody>
      </p:sp>
      <p:pic>
        <p:nvPicPr>
          <p:cNvPr id="1033" name="Picture 22" descr="Bandiera della Repubblica Ceca - Wikipedia">
            <a:extLst>
              <a:ext uri="{FF2B5EF4-FFF2-40B4-BE49-F238E27FC236}">
                <a16:creationId xmlns:a16="http://schemas.microsoft.com/office/drawing/2014/main" id="{9BC0AA95-A4AF-EAD2-4751-823F0DAEF60E}"/>
              </a:ext>
            </a:extLst>
          </p:cNvPr>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6988450" y="6134367"/>
            <a:ext cx="530609" cy="354371"/>
          </a:xfrm>
          <a:prstGeom prst="rect">
            <a:avLst/>
          </a:prstGeom>
          <a:noFill/>
          <a:ln>
            <a:solidFill>
              <a:schemeClr val="bg1">
                <a:lumMod val="95000"/>
              </a:schemeClr>
            </a:solidFill>
          </a:ln>
          <a:extLst>
            <a:ext uri="{909E8E84-426E-40DD-AFC4-6F175D3DCCD1}">
              <a14:hiddenFill xmlns:a14="http://schemas.microsoft.com/office/drawing/2010/main">
                <a:solidFill>
                  <a:srgbClr val="FFFFFF"/>
                </a:solidFill>
              </a14:hiddenFill>
            </a:ext>
          </a:extLst>
        </p:spPr>
      </p:pic>
      <p:sp>
        <p:nvSpPr>
          <p:cNvPr id="1034" name="Slide Number Placeholder 6">
            <a:extLst>
              <a:ext uri="{FF2B5EF4-FFF2-40B4-BE49-F238E27FC236}">
                <a16:creationId xmlns:a16="http://schemas.microsoft.com/office/drawing/2014/main" id="{55FD79C6-E450-0DD0-F6AB-33B24841F948}"/>
              </a:ext>
            </a:extLst>
          </p:cNvPr>
          <p:cNvSpPr>
            <a:spLocks noGrp="1"/>
          </p:cNvSpPr>
          <p:nvPr>
            <p:ph type="sldNum" sz="quarter" idx="2"/>
          </p:nvPr>
        </p:nvSpPr>
        <p:spPr>
          <a:xfrm>
            <a:off x="11614996" y="6443521"/>
            <a:ext cx="409933" cy="272589"/>
          </a:xfrm>
        </p:spPr>
        <p:txBody>
          <a:bodyPr/>
          <a:lstStyle/>
          <a:p>
            <a:fld id="{86CB4B4D-7CA3-9044-876B-883B54F8677D}" type="slidenum">
              <a:rPr lang="it-IT" smtClean="0"/>
              <a:pPr/>
              <a:t>6</a:t>
            </a:fld>
            <a:endParaRPr lang="it-IT"/>
          </a:p>
        </p:txBody>
      </p:sp>
      <p:pic>
        <p:nvPicPr>
          <p:cNvPr id="1048" name="Picture 24" descr="Icona dell'idea creativa della luce della lampadina | Vettore Premium">
            <a:extLst>
              <a:ext uri="{FF2B5EF4-FFF2-40B4-BE49-F238E27FC236}">
                <a16:creationId xmlns:a16="http://schemas.microsoft.com/office/drawing/2014/main" id="{37889982-26F1-23B8-ED5F-25EC028E5274}"/>
              </a:ext>
            </a:extLst>
          </p:cNvPr>
          <p:cNvPicPr>
            <a:picLocks noChangeAspect="1" noChangeArrowheads="1"/>
          </p:cNvPicPr>
          <p:nvPr/>
        </p:nvPicPr>
        <p:blipFill>
          <a:blip r:embed="rId19" cstate="screen">
            <a:extLst>
              <a:ext uri="{28A0092B-C50C-407E-A947-70E740481C1C}">
                <a14:useLocalDpi xmlns:a14="http://schemas.microsoft.com/office/drawing/2010/main"/>
              </a:ext>
            </a:extLst>
          </a:blip>
          <a:srcRect/>
          <a:stretch>
            <a:fillRect/>
          </a:stretch>
        </p:blipFill>
        <p:spPr bwMode="auto">
          <a:xfrm>
            <a:off x="4673501" y="224267"/>
            <a:ext cx="665178" cy="665178"/>
          </a:xfrm>
          <a:prstGeom prst="rect">
            <a:avLst/>
          </a:prstGeom>
          <a:noFill/>
          <a:extLst>
            <a:ext uri="{909E8E84-426E-40DD-AFC4-6F175D3DCCD1}">
              <a14:hiddenFill xmlns:a14="http://schemas.microsoft.com/office/drawing/2010/main">
                <a:solidFill>
                  <a:srgbClr val="FFFFFF"/>
                </a:solidFill>
              </a14:hiddenFill>
            </a:ext>
          </a:extLst>
        </p:spPr>
      </p:pic>
      <p:sp>
        <p:nvSpPr>
          <p:cNvPr id="1035" name="TextBox 1034">
            <a:extLst>
              <a:ext uri="{FF2B5EF4-FFF2-40B4-BE49-F238E27FC236}">
                <a16:creationId xmlns:a16="http://schemas.microsoft.com/office/drawing/2014/main" id="{E9557B7E-8E09-1E11-4E9D-FF378B9C6FE5}"/>
              </a:ext>
            </a:extLst>
          </p:cNvPr>
          <p:cNvSpPr txBox="1"/>
          <p:nvPr/>
        </p:nvSpPr>
        <p:spPr>
          <a:xfrm>
            <a:off x="5338679" y="300839"/>
            <a:ext cx="3170762" cy="523220"/>
          </a:xfrm>
          <a:prstGeom prst="rect">
            <a:avLst/>
          </a:prstGeom>
          <a:noFill/>
        </p:spPr>
        <p:txBody>
          <a:bodyPr wrap="square" rtlCol="0">
            <a:spAutoFit/>
          </a:bodyPr>
          <a:lstStyle/>
          <a:p>
            <a:r>
              <a:rPr lang="it-IT" sz="1400" b="1"/>
              <a:t>Servizio non offerto dagli altri competitor in Italia</a:t>
            </a:r>
            <a:endParaRPr lang="en-GB" sz="1400" b="1"/>
          </a:p>
        </p:txBody>
      </p:sp>
      <p:grpSp>
        <p:nvGrpSpPr>
          <p:cNvPr id="8" name="Group 7">
            <a:extLst>
              <a:ext uri="{FF2B5EF4-FFF2-40B4-BE49-F238E27FC236}">
                <a16:creationId xmlns:a16="http://schemas.microsoft.com/office/drawing/2014/main" id="{07E49BE0-D538-6C70-5200-880AE7E7FA72}"/>
              </a:ext>
            </a:extLst>
          </p:cNvPr>
          <p:cNvGrpSpPr/>
          <p:nvPr/>
        </p:nvGrpSpPr>
        <p:grpSpPr>
          <a:xfrm>
            <a:off x="8470605" y="269358"/>
            <a:ext cx="2590802" cy="602126"/>
            <a:chOff x="8470605" y="269358"/>
            <a:chExt cx="2590802" cy="602126"/>
          </a:xfrm>
        </p:grpSpPr>
        <p:sp>
          <p:nvSpPr>
            <p:cNvPr id="14" name="TextBox 13">
              <a:extLst>
                <a:ext uri="{FF2B5EF4-FFF2-40B4-BE49-F238E27FC236}">
                  <a16:creationId xmlns:a16="http://schemas.microsoft.com/office/drawing/2014/main" id="{BDBAF86D-0B33-8B5B-B4FB-5651EB3EC651}"/>
                </a:ext>
              </a:extLst>
            </p:cNvPr>
            <p:cNvSpPr txBox="1"/>
            <p:nvPr/>
          </p:nvSpPr>
          <p:spPr>
            <a:xfrm>
              <a:off x="8470605" y="271320"/>
              <a:ext cx="2590802" cy="600164"/>
            </a:xfrm>
            <a:prstGeom prst="rect">
              <a:avLst/>
            </a:prstGeom>
            <a:noFill/>
          </p:spPr>
          <p:txBody>
            <a:bodyPr wrap="square" rtlCol="0">
              <a:spAutoFit/>
            </a:bodyPr>
            <a:lstStyle/>
            <a:p>
              <a:pPr algn="ctr">
                <a:spcAft>
                  <a:spcPts val="1800"/>
                </a:spcAft>
              </a:pPr>
              <a:r>
                <a:rPr lang="it-IT" sz="1100" i="1">
                  <a:solidFill>
                    <a:srgbClr val="002752"/>
                  </a:solidFill>
                  <a:latin typeface="Poppins Medium"/>
                  <a:cs typeface="Poppins Medium"/>
                </a:rPr>
                <a:t>Per dettaglio su costi e funzionalità consulta la scheda prodotto a slide successive </a:t>
              </a:r>
            </a:p>
          </p:txBody>
        </p:sp>
        <p:cxnSp>
          <p:nvCxnSpPr>
            <p:cNvPr id="16" name="Straight Connector 15">
              <a:extLst>
                <a:ext uri="{FF2B5EF4-FFF2-40B4-BE49-F238E27FC236}">
                  <a16:creationId xmlns:a16="http://schemas.microsoft.com/office/drawing/2014/main" id="{2A6AA036-450E-95F0-59C1-EBDBF694DDAA}"/>
                </a:ext>
              </a:extLst>
            </p:cNvPr>
            <p:cNvCxnSpPr/>
            <p:nvPr/>
          </p:nvCxnSpPr>
          <p:spPr>
            <a:xfrm>
              <a:off x="8839201" y="269358"/>
              <a:ext cx="1885507" cy="0"/>
            </a:xfrm>
            <a:prstGeom prst="line">
              <a:avLst/>
            </a:prstGeom>
            <a:ln w="76200" cmpd="dbl"/>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BC1E6F5-A18C-BA7F-DBF1-5A73D6E1CA12}"/>
                </a:ext>
              </a:extLst>
            </p:cNvPr>
            <p:cNvCxnSpPr/>
            <p:nvPr/>
          </p:nvCxnSpPr>
          <p:spPr>
            <a:xfrm>
              <a:off x="8839201" y="861541"/>
              <a:ext cx="1885507" cy="0"/>
            </a:xfrm>
            <a:prstGeom prst="line">
              <a:avLst/>
            </a:prstGeom>
            <a:ln w="76200" cmpd="dbl"/>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70273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6">
            <a:extLst>
              <a:ext uri="{FF2B5EF4-FFF2-40B4-BE49-F238E27FC236}">
                <a16:creationId xmlns:a16="http://schemas.microsoft.com/office/drawing/2014/main" id="{583C5BA4-93FC-4D3F-C594-1622AC83DFD9}"/>
              </a:ext>
            </a:extLst>
          </p:cNvPr>
          <p:cNvSpPr txBox="1">
            <a:spLocks/>
          </p:cNvSpPr>
          <p:nvPr/>
        </p:nvSpPr>
        <p:spPr>
          <a:xfrm>
            <a:off x="686902" y="158901"/>
            <a:ext cx="10260000" cy="782638"/>
          </a:xfrm>
          <a:prstGeom prst="rect">
            <a:avLst/>
          </a:prstGeom>
        </p:spPr>
        <p:txBody>
          <a:bodyPr anchor="ctr">
            <a:normAutofit/>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a:latin typeface="Poppins" panose="00000500000000000000" pitchFamily="2" charset="0"/>
              </a:rPr>
              <a:t>Assistenza Stradale</a:t>
            </a:r>
          </a:p>
          <a:p>
            <a:r>
              <a:rPr lang="it-IT" sz="1600" b="1">
                <a:solidFill>
                  <a:schemeClr val="bg1">
                    <a:lumMod val="65000"/>
                  </a:schemeClr>
                </a:solidFill>
                <a:latin typeface="Poppins" panose="00000500000000000000" pitchFamily="2" charset="0"/>
              </a:rPr>
              <a:t>I VANTAGGI</a:t>
            </a:r>
          </a:p>
        </p:txBody>
      </p:sp>
      <p:sp>
        <p:nvSpPr>
          <p:cNvPr id="1034" name="Slide Number Placeholder 6">
            <a:extLst>
              <a:ext uri="{FF2B5EF4-FFF2-40B4-BE49-F238E27FC236}">
                <a16:creationId xmlns:a16="http://schemas.microsoft.com/office/drawing/2014/main" id="{55FD79C6-E450-0DD0-F6AB-33B24841F948}"/>
              </a:ext>
            </a:extLst>
          </p:cNvPr>
          <p:cNvSpPr>
            <a:spLocks noGrp="1"/>
          </p:cNvSpPr>
          <p:nvPr>
            <p:ph type="sldNum" sz="quarter" idx="2"/>
          </p:nvPr>
        </p:nvSpPr>
        <p:spPr>
          <a:xfrm>
            <a:off x="11614996" y="6443521"/>
            <a:ext cx="409933" cy="272589"/>
          </a:xfrm>
        </p:spPr>
        <p:txBody>
          <a:bodyPr/>
          <a:lstStyle/>
          <a:p>
            <a:fld id="{86CB4B4D-7CA3-9044-876B-883B54F8677D}" type="slidenum">
              <a:rPr lang="it-IT" smtClean="0"/>
              <a:pPr/>
              <a:t>7</a:t>
            </a:fld>
            <a:endParaRPr lang="it-IT"/>
          </a:p>
        </p:txBody>
      </p:sp>
      <p:pic>
        <p:nvPicPr>
          <p:cNvPr id="12" name="Picture 11">
            <a:extLst>
              <a:ext uri="{FF2B5EF4-FFF2-40B4-BE49-F238E27FC236}">
                <a16:creationId xmlns:a16="http://schemas.microsoft.com/office/drawing/2014/main" id="{B3A80D42-1BC0-BF14-B9B2-B73903F85E6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1002" y="1271934"/>
            <a:ext cx="1901025" cy="1252699"/>
          </a:xfrm>
          <a:prstGeom prst="rect">
            <a:avLst/>
          </a:prstGeom>
        </p:spPr>
      </p:pic>
      <p:sp>
        <p:nvSpPr>
          <p:cNvPr id="16" name="CasellaDiTesto 10">
            <a:extLst>
              <a:ext uri="{FF2B5EF4-FFF2-40B4-BE49-F238E27FC236}">
                <a16:creationId xmlns:a16="http://schemas.microsoft.com/office/drawing/2014/main" id="{E7E1B654-9564-7C04-C50A-C6B8CEDA1155}"/>
              </a:ext>
            </a:extLst>
          </p:cNvPr>
          <p:cNvSpPr txBox="1"/>
          <p:nvPr/>
        </p:nvSpPr>
        <p:spPr>
          <a:xfrm>
            <a:off x="2758850" y="1544340"/>
            <a:ext cx="8268298" cy="830997"/>
          </a:xfrm>
          <a:prstGeom prst="rect">
            <a:avLst/>
          </a:prstGeom>
          <a:noFill/>
        </p:spPr>
        <p:txBody>
          <a:bodyPr wrap="square" lIns="91440" tIns="45720" rIns="91440" bIns="45720" anchor="t">
            <a:spAutoFit/>
          </a:bodyPr>
          <a:lstStyle/>
          <a:p>
            <a:pPr>
              <a:defRPr/>
            </a:pPr>
            <a:r>
              <a:rPr lang="it-IT" sz="1600" b="1" dirty="0"/>
              <a:t>Il servizio di assistenza stradale è valido su </a:t>
            </a:r>
            <a:r>
              <a:rPr lang="it-IT" sz="1600" b="1" u="sng" dirty="0"/>
              <a:t>due veicoli </a:t>
            </a:r>
            <a:r>
              <a:rPr lang="it-IT" sz="1600" b="1" dirty="0"/>
              <a:t>sia in </a:t>
            </a:r>
            <a:r>
              <a:rPr lang="it-IT" sz="1600" b="1" u="sng" dirty="0"/>
              <a:t>Italia</a:t>
            </a:r>
            <a:r>
              <a:rPr lang="it-IT" sz="1600" b="1" dirty="0"/>
              <a:t> che in </a:t>
            </a:r>
            <a:r>
              <a:rPr lang="it-IT" sz="1600" b="1" u="sng" dirty="0"/>
              <a:t>Europa</a:t>
            </a:r>
            <a:r>
              <a:rPr lang="it-IT" sz="1600" b="1" dirty="0"/>
              <a:t> al costo di 3,60€/mese (43,20€/anno)</a:t>
            </a:r>
          </a:p>
          <a:p>
            <a:pPr>
              <a:defRPr/>
            </a:pPr>
            <a:r>
              <a:rPr lang="it-IT" sz="1600" dirty="0"/>
              <a:t>Inoltre hai la possibilità di modificare le targhe dei veicoli coperti (24h dopo)</a:t>
            </a:r>
          </a:p>
        </p:txBody>
      </p:sp>
      <p:sp>
        <p:nvSpPr>
          <p:cNvPr id="2073" name="Rectangle 2072">
            <a:extLst>
              <a:ext uri="{FF2B5EF4-FFF2-40B4-BE49-F238E27FC236}">
                <a16:creationId xmlns:a16="http://schemas.microsoft.com/office/drawing/2014/main" id="{73EE2970-9DC4-8C22-F3E0-40425EDD2376}"/>
              </a:ext>
            </a:extLst>
          </p:cNvPr>
          <p:cNvSpPr/>
          <p:nvPr/>
        </p:nvSpPr>
        <p:spPr>
          <a:xfrm>
            <a:off x="641002" y="2662165"/>
            <a:ext cx="3353753" cy="1724565"/>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74" name="Rectangle 2073">
            <a:extLst>
              <a:ext uri="{FF2B5EF4-FFF2-40B4-BE49-F238E27FC236}">
                <a16:creationId xmlns:a16="http://schemas.microsoft.com/office/drawing/2014/main" id="{9575B4B8-EA96-F63F-7C3C-C2FB57F6FF7C}"/>
              </a:ext>
            </a:extLst>
          </p:cNvPr>
          <p:cNvSpPr/>
          <p:nvPr/>
        </p:nvSpPr>
        <p:spPr>
          <a:xfrm>
            <a:off x="4323534" y="2662165"/>
            <a:ext cx="3353753" cy="1724565"/>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75" name="Rectangle 2074">
            <a:extLst>
              <a:ext uri="{FF2B5EF4-FFF2-40B4-BE49-F238E27FC236}">
                <a16:creationId xmlns:a16="http://schemas.microsoft.com/office/drawing/2014/main" id="{2CC58FE1-A1DC-3265-06DF-787DCF5DB969}"/>
              </a:ext>
            </a:extLst>
          </p:cNvPr>
          <p:cNvSpPr/>
          <p:nvPr/>
        </p:nvSpPr>
        <p:spPr>
          <a:xfrm>
            <a:off x="7956446" y="2662165"/>
            <a:ext cx="3353753" cy="1724565"/>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76" name="Rectangle 2075">
            <a:extLst>
              <a:ext uri="{FF2B5EF4-FFF2-40B4-BE49-F238E27FC236}">
                <a16:creationId xmlns:a16="http://schemas.microsoft.com/office/drawing/2014/main" id="{41B8BF3B-1E68-CDD3-339E-744FC4442F16}"/>
              </a:ext>
            </a:extLst>
          </p:cNvPr>
          <p:cNvSpPr/>
          <p:nvPr/>
        </p:nvSpPr>
        <p:spPr>
          <a:xfrm>
            <a:off x="641002" y="4697444"/>
            <a:ext cx="3353753" cy="1724565"/>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77" name="Rectangle 2076">
            <a:extLst>
              <a:ext uri="{FF2B5EF4-FFF2-40B4-BE49-F238E27FC236}">
                <a16:creationId xmlns:a16="http://schemas.microsoft.com/office/drawing/2014/main" id="{7785F7F0-197D-F007-307C-AA9F0A04BB81}"/>
              </a:ext>
            </a:extLst>
          </p:cNvPr>
          <p:cNvSpPr/>
          <p:nvPr/>
        </p:nvSpPr>
        <p:spPr>
          <a:xfrm>
            <a:off x="4323534" y="4697444"/>
            <a:ext cx="3353753" cy="1724565"/>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78" name="Rectangle 2077">
            <a:extLst>
              <a:ext uri="{FF2B5EF4-FFF2-40B4-BE49-F238E27FC236}">
                <a16:creationId xmlns:a16="http://schemas.microsoft.com/office/drawing/2014/main" id="{458B41DA-AA39-5E47-541E-B084B7984B11}"/>
              </a:ext>
            </a:extLst>
          </p:cNvPr>
          <p:cNvSpPr/>
          <p:nvPr/>
        </p:nvSpPr>
        <p:spPr>
          <a:xfrm>
            <a:off x="7956446" y="4697444"/>
            <a:ext cx="3353753" cy="1724565"/>
          </a:xfrm>
          <a:prstGeom prst="rect">
            <a:avLst/>
          </a:prstGeom>
          <a:solidFill>
            <a:schemeClr val="bg1"/>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2079" name="Group 2078">
            <a:extLst>
              <a:ext uri="{FF2B5EF4-FFF2-40B4-BE49-F238E27FC236}">
                <a16:creationId xmlns:a16="http://schemas.microsoft.com/office/drawing/2014/main" id="{D64B105C-EF1E-8EB5-E4B5-F42F54F4B9DB}"/>
              </a:ext>
            </a:extLst>
          </p:cNvPr>
          <p:cNvGrpSpPr/>
          <p:nvPr/>
        </p:nvGrpSpPr>
        <p:grpSpPr>
          <a:xfrm>
            <a:off x="526421" y="2746635"/>
            <a:ext cx="462222" cy="561660"/>
            <a:chOff x="495401" y="1610156"/>
            <a:chExt cx="551517" cy="681286"/>
          </a:xfrm>
        </p:grpSpPr>
        <p:pic>
          <p:nvPicPr>
            <p:cNvPr id="1026" name="Graphic 1025">
              <a:extLst>
                <a:ext uri="{FF2B5EF4-FFF2-40B4-BE49-F238E27FC236}">
                  <a16:creationId xmlns:a16="http://schemas.microsoft.com/office/drawing/2014/main" id="{824AA34E-9F5E-F6D0-C55A-08A328F8639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401" y="1610156"/>
              <a:ext cx="551517" cy="681286"/>
            </a:xfrm>
            <a:prstGeom prst="rect">
              <a:avLst/>
            </a:prstGeom>
          </p:spPr>
        </p:pic>
        <p:sp>
          <p:nvSpPr>
            <p:cNvPr id="1028" name="TextBox 18">
              <a:extLst>
                <a:ext uri="{FF2B5EF4-FFF2-40B4-BE49-F238E27FC236}">
                  <a16:creationId xmlns:a16="http://schemas.microsoft.com/office/drawing/2014/main" id="{7950A73E-0A2E-899C-FF56-2496D71422F3}"/>
                </a:ext>
              </a:extLst>
            </p:cNvPr>
            <p:cNvSpPr txBox="1"/>
            <p:nvPr/>
          </p:nvSpPr>
          <p:spPr>
            <a:xfrm>
              <a:off x="495401" y="1719967"/>
              <a:ext cx="551517"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2000" b="1" i="0" u="none" strike="noStrike" kern="1200" cap="none" spc="0" normalizeH="0" baseline="0" noProof="0">
                  <a:ln>
                    <a:noFill/>
                  </a:ln>
                  <a:solidFill>
                    <a:srgbClr val="2059A8"/>
                  </a:solidFill>
                  <a:effectLst/>
                  <a:uLnTx/>
                  <a:uFillTx/>
                  <a:latin typeface="Avenir Next LT Pro"/>
                  <a:ea typeface="+mn-ea"/>
                  <a:cs typeface="Poppins" panose="00000500000000000000" pitchFamily="2" charset="0"/>
                </a:rPr>
                <a:t>1</a:t>
              </a:r>
              <a:endParaRPr kumimoji="0" lang="en-US" sz="2000" b="1" i="0" u="none" strike="noStrike" kern="1200" cap="none" spc="0" normalizeH="0" baseline="0" noProof="0">
                <a:ln>
                  <a:noFill/>
                </a:ln>
                <a:solidFill>
                  <a:srgbClr val="2059A8"/>
                </a:solidFill>
                <a:effectLst/>
                <a:uLnTx/>
                <a:uFillTx/>
                <a:latin typeface="Avenir Next LT Pro"/>
                <a:ea typeface="+mn-ea"/>
                <a:cs typeface="Poppins" panose="00000500000000000000" pitchFamily="2" charset="0"/>
              </a:endParaRPr>
            </a:p>
          </p:txBody>
        </p:sp>
      </p:grpSp>
      <p:grpSp>
        <p:nvGrpSpPr>
          <p:cNvPr id="1037" name="Group 1036">
            <a:extLst>
              <a:ext uri="{FF2B5EF4-FFF2-40B4-BE49-F238E27FC236}">
                <a16:creationId xmlns:a16="http://schemas.microsoft.com/office/drawing/2014/main" id="{BD405221-6411-5367-4C9A-B7B14D6F1048}"/>
              </a:ext>
            </a:extLst>
          </p:cNvPr>
          <p:cNvGrpSpPr/>
          <p:nvPr/>
        </p:nvGrpSpPr>
        <p:grpSpPr>
          <a:xfrm>
            <a:off x="526421" y="4771819"/>
            <a:ext cx="462222" cy="561660"/>
            <a:chOff x="495401" y="1610156"/>
            <a:chExt cx="551517" cy="681286"/>
          </a:xfrm>
        </p:grpSpPr>
        <p:pic>
          <p:nvPicPr>
            <p:cNvPr id="1039" name="Graphic 1038">
              <a:extLst>
                <a:ext uri="{FF2B5EF4-FFF2-40B4-BE49-F238E27FC236}">
                  <a16:creationId xmlns:a16="http://schemas.microsoft.com/office/drawing/2014/main" id="{6D181C49-1BD3-D03F-C6E9-54D967EA1556}"/>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401" y="1610156"/>
              <a:ext cx="551517" cy="681286"/>
            </a:xfrm>
            <a:prstGeom prst="rect">
              <a:avLst/>
            </a:prstGeom>
          </p:spPr>
        </p:pic>
        <p:sp>
          <p:nvSpPr>
            <p:cNvPr id="1041" name="TextBox 18">
              <a:extLst>
                <a:ext uri="{FF2B5EF4-FFF2-40B4-BE49-F238E27FC236}">
                  <a16:creationId xmlns:a16="http://schemas.microsoft.com/office/drawing/2014/main" id="{26D00D32-4355-C242-FFD9-31A170B4E80B}"/>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Avenir Next LT Pro"/>
                  <a:cs typeface="Poppins" panose="00000500000000000000" pitchFamily="2" charset="0"/>
                </a:rPr>
                <a:t>4</a:t>
              </a:r>
              <a:endParaRPr kumimoji="0" lang="en-US" sz="2000" b="1" i="0" u="none" strike="noStrike" kern="1200" cap="none" spc="0" normalizeH="0" baseline="0" noProof="0">
                <a:ln>
                  <a:noFill/>
                </a:ln>
                <a:solidFill>
                  <a:srgbClr val="2059A8"/>
                </a:solidFill>
                <a:effectLst/>
                <a:uLnTx/>
                <a:uFillTx/>
                <a:latin typeface="Avenir Next LT Pro"/>
                <a:ea typeface="+mn-ea"/>
                <a:cs typeface="Poppins" panose="00000500000000000000" pitchFamily="2" charset="0"/>
              </a:endParaRPr>
            </a:p>
          </p:txBody>
        </p:sp>
      </p:grpSp>
      <p:grpSp>
        <p:nvGrpSpPr>
          <p:cNvPr id="1042" name="Group 1041">
            <a:extLst>
              <a:ext uri="{FF2B5EF4-FFF2-40B4-BE49-F238E27FC236}">
                <a16:creationId xmlns:a16="http://schemas.microsoft.com/office/drawing/2014/main" id="{79D52386-7E8D-5415-991F-19D6CEE7F5DC}"/>
              </a:ext>
            </a:extLst>
          </p:cNvPr>
          <p:cNvGrpSpPr/>
          <p:nvPr/>
        </p:nvGrpSpPr>
        <p:grpSpPr>
          <a:xfrm>
            <a:off x="4204049" y="2746635"/>
            <a:ext cx="462222" cy="561660"/>
            <a:chOff x="495401" y="1610156"/>
            <a:chExt cx="551517" cy="681286"/>
          </a:xfrm>
        </p:grpSpPr>
        <p:pic>
          <p:nvPicPr>
            <p:cNvPr id="1043" name="Graphic 1042">
              <a:extLst>
                <a:ext uri="{FF2B5EF4-FFF2-40B4-BE49-F238E27FC236}">
                  <a16:creationId xmlns:a16="http://schemas.microsoft.com/office/drawing/2014/main" id="{BAA3F63A-2097-3975-3654-78047C27676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401" y="1610156"/>
              <a:ext cx="551517" cy="681286"/>
            </a:xfrm>
            <a:prstGeom prst="rect">
              <a:avLst/>
            </a:prstGeom>
          </p:spPr>
        </p:pic>
        <p:sp>
          <p:nvSpPr>
            <p:cNvPr id="1044" name="TextBox 18">
              <a:extLst>
                <a:ext uri="{FF2B5EF4-FFF2-40B4-BE49-F238E27FC236}">
                  <a16:creationId xmlns:a16="http://schemas.microsoft.com/office/drawing/2014/main" id="{DD362636-BBEC-2458-7374-EE304ED75F0D}"/>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Avenir Next LT Pro"/>
                  <a:cs typeface="Poppins" panose="00000500000000000000" pitchFamily="2" charset="0"/>
                </a:rPr>
                <a:t>2</a:t>
              </a:r>
              <a:endParaRPr kumimoji="0" lang="en-US" sz="2000" b="1" i="0" u="none" strike="noStrike" kern="1200" cap="none" spc="0" normalizeH="0" baseline="0" noProof="0">
                <a:ln>
                  <a:noFill/>
                </a:ln>
                <a:solidFill>
                  <a:srgbClr val="2059A8"/>
                </a:solidFill>
                <a:effectLst/>
                <a:uLnTx/>
                <a:uFillTx/>
                <a:latin typeface="Avenir Next LT Pro"/>
                <a:ea typeface="+mn-ea"/>
                <a:cs typeface="Poppins" panose="00000500000000000000" pitchFamily="2" charset="0"/>
              </a:endParaRPr>
            </a:p>
          </p:txBody>
        </p:sp>
      </p:grpSp>
      <p:grpSp>
        <p:nvGrpSpPr>
          <p:cNvPr id="1045" name="Group 1044">
            <a:extLst>
              <a:ext uri="{FF2B5EF4-FFF2-40B4-BE49-F238E27FC236}">
                <a16:creationId xmlns:a16="http://schemas.microsoft.com/office/drawing/2014/main" id="{F7827A4B-6635-4E0B-86CF-75B7779ED580}"/>
              </a:ext>
            </a:extLst>
          </p:cNvPr>
          <p:cNvGrpSpPr/>
          <p:nvPr/>
        </p:nvGrpSpPr>
        <p:grpSpPr>
          <a:xfrm>
            <a:off x="4204049" y="4771819"/>
            <a:ext cx="462222" cy="561660"/>
            <a:chOff x="495401" y="1610156"/>
            <a:chExt cx="551517" cy="681286"/>
          </a:xfrm>
        </p:grpSpPr>
        <p:pic>
          <p:nvPicPr>
            <p:cNvPr id="1046" name="Graphic 1045">
              <a:extLst>
                <a:ext uri="{FF2B5EF4-FFF2-40B4-BE49-F238E27FC236}">
                  <a16:creationId xmlns:a16="http://schemas.microsoft.com/office/drawing/2014/main" id="{151D2450-36E6-FE90-0A52-BE0A74D64F7A}"/>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401" y="1610156"/>
              <a:ext cx="551517" cy="681286"/>
            </a:xfrm>
            <a:prstGeom prst="rect">
              <a:avLst/>
            </a:prstGeom>
          </p:spPr>
        </p:pic>
        <p:sp>
          <p:nvSpPr>
            <p:cNvPr id="1047" name="TextBox 18">
              <a:extLst>
                <a:ext uri="{FF2B5EF4-FFF2-40B4-BE49-F238E27FC236}">
                  <a16:creationId xmlns:a16="http://schemas.microsoft.com/office/drawing/2014/main" id="{B5972D7E-C8DF-D28E-A537-AA9989693AD9}"/>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Avenir Next LT Pro"/>
                  <a:cs typeface="Poppins" panose="00000500000000000000" pitchFamily="2" charset="0"/>
                </a:rPr>
                <a:t>5</a:t>
              </a:r>
              <a:endParaRPr kumimoji="0" lang="en-US" sz="2000" b="1" i="0" u="none" strike="noStrike" kern="1200" cap="none" spc="0" normalizeH="0" baseline="0" noProof="0">
                <a:ln>
                  <a:noFill/>
                </a:ln>
                <a:solidFill>
                  <a:srgbClr val="2059A8"/>
                </a:solidFill>
                <a:effectLst/>
                <a:uLnTx/>
                <a:uFillTx/>
                <a:latin typeface="Avenir Next LT Pro"/>
                <a:ea typeface="+mn-ea"/>
                <a:cs typeface="Poppins" panose="00000500000000000000" pitchFamily="2" charset="0"/>
              </a:endParaRPr>
            </a:p>
          </p:txBody>
        </p:sp>
      </p:grpSp>
      <p:grpSp>
        <p:nvGrpSpPr>
          <p:cNvPr id="1049" name="Group 1048">
            <a:extLst>
              <a:ext uri="{FF2B5EF4-FFF2-40B4-BE49-F238E27FC236}">
                <a16:creationId xmlns:a16="http://schemas.microsoft.com/office/drawing/2014/main" id="{B1B07EF9-EC20-380F-5466-0504D928D3A8}"/>
              </a:ext>
            </a:extLst>
          </p:cNvPr>
          <p:cNvGrpSpPr/>
          <p:nvPr/>
        </p:nvGrpSpPr>
        <p:grpSpPr>
          <a:xfrm>
            <a:off x="7832058" y="2746635"/>
            <a:ext cx="462222" cy="561660"/>
            <a:chOff x="495401" y="1610156"/>
            <a:chExt cx="551517" cy="681286"/>
          </a:xfrm>
        </p:grpSpPr>
        <p:pic>
          <p:nvPicPr>
            <p:cNvPr id="1050" name="Graphic 1049">
              <a:extLst>
                <a:ext uri="{FF2B5EF4-FFF2-40B4-BE49-F238E27FC236}">
                  <a16:creationId xmlns:a16="http://schemas.microsoft.com/office/drawing/2014/main" id="{F5A23563-3F62-0303-DE84-E6C981A13433}"/>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401" y="1610156"/>
              <a:ext cx="551517" cy="681286"/>
            </a:xfrm>
            <a:prstGeom prst="rect">
              <a:avLst/>
            </a:prstGeom>
          </p:spPr>
        </p:pic>
        <p:sp>
          <p:nvSpPr>
            <p:cNvPr id="1051" name="TextBox 18">
              <a:extLst>
                <a:ext uri="{FF2B5EF4-FFF2-40B4-BE49-F238E27FC236}">
                  <a16:creationId xmlns:a16="http://schemas.microsoft.com/office/drawing/2014/main" id="{F3D85792-907A-1EF8-6892-2E496D4F4DDF}"/>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Avenir Next LT Pro"/>
                  <a:cs typeface="Poppins" panose="00000500000000000000" pitchFamily="2" charset="0"/>
                </a:rPr>
                <a:t>3</a:t>
              </a:r>
              <a:endParaRPr kumimoji="0" lang="en-US" sz="2000" b="1" i="0" u="none" strike="noStrike" kern="1200" cap="none" spc="0" normalizeH="0" baseline="0" noProof="0">
                <a:ln>
                  <a:noFill/>
                </a:ln>
                <a:solidFill>
                  <a:srgbClr val="2059A8"/>
                </a:solidFill>
                <a:effectLst/>
                <a:uLnTx/>
                <a:uFillTx/>
                <a:latin typeface="Avenir Next LT Pro"/>
                <a:ea typeface="+mn-ea"/>
                <a:cs typeface="Poppins" panose="00000500000000000000" pitchFamily="2" charset="0"/>
              </a:endParaRPr>
            </a:p>
          </p:txBody>
        </p:sp>
      </p:grpSp>
      <p:grpSp>
        <p:nvGrpSpPr>
          <p:cNvPr id="1052" name="Group 1051">
            <a:extLst>
              <a:ext uri="{FF2B5EF4-FFF2-40B4-BE49-F238E27FC236}">
                <a16:creationId xmlns:a16="http://schemas.microsoft.com/office/drawing/2014/main" id="{96497266-624D-60A2-280F-4585247AB4B2}"/>
              </a:ext>
            </a:extLst>
          </p:cNvPr>
          <p:cNvGrpSpPr/>
          <p:nvPr/>
        </p:nvGrpSpPr>
        <p:grpSpPr>
          <a:xfrm>
            <a:off x="7832058" y="4771819"/>
            <a:ext cx="462222" cy="561660"/>
            <a:chOff x="495401" y="1610156"/>
            <a:chExt cx="551517" cy="681286"/>
          </a:xfrm>
        </p:grpSpPr>
        <p:pic>
          <p:nvPicPr>
            <p:cNvPr id="1053" name="Graphic 1052">
              <a:extLst>
                <a:ext uri="{FF2B5EF4-FFF2-40B4-BE49-F238E27FC236}">
                  <a16:creationId xmlns:a16="http://schemas.microsoft.com/office/drawing/2014/main" id="{8823E75D-626D-24CA-F3CA-7F2080497358}"/>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401" y="1610156"/>
              <a:ext cx="551517" cy="681286"/>
            </a:xfrm>
            <a:prstGeom prst="rect">
              <a:avLst/>
            </a:prstGeom>
          </p:spPr>
        </p:pic>
        <p:sp>
          <p:nvSpPr>
            <p:cNvPr id="1054" name="TextBox 18">
              <a:extLst>
                <a:ext uri="{FF2B5EF4-FFF2-40B4-BE49-F238E27FC236}">
                  <a16:creationId xmlns:a16="http://schemas.microsoft.com/office/drawing/2014/main" id="{62CEEE98-2A1B-0267-BF68-C1FE12AA6A92}"/>
                </a:ext>
              </a:extLst>
            </p:cNvPr>
            <p:cNvSpPr txBox="1"/>
            <p:nvPr/>
          </p:nvSpPr>
          <p:spPr>
            <a:xfrm>
              <a:off x="495401" y="1719967"/>
              <a:ext cx="551517" cy="4424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a:solidFill>
                    <a:srgbClr val="2059A8"/>
                  </a:solidFill>
                  <a:latin typeface="Avenir Next LT Pro"/>
                  <a:cs typeface="Poppins" panose="00000500000000000000" pitchFamily="2" charset="0"/>
                </a:rPr>
                <a:t>6</a:t>
              </a:r>
              <a:endParaRPr kumimoji="0" lang="en-US" sz="2000" b="1" i="0" u="none" strike="noStrike" kern="1200" cap="none" spc="0" normalizeH="0" baseline="0" noProof="0">
                <a:ln>
                  <a:noFill/>
                </a:ln>
                <a:solidFill>
                  <a:srgbClr val="2059A8"/>
                </a:solidFill>
                <a:effectLst/>
                <a:uLnTx/>
                <a:uFillTx/>
                <a:latin typeface="Avenir Next LT Pro"/>
                <a:ea typeface="+mn-ea"/>
                <a:cs typeface="Poppins" panose="00000500000000000000" pitchFamily="2" charset="0"/>
              </a:endParaRPr>
            </a:p>
          </p:txBody>
        </p:sp>
      </p:grpSp>
      <p:sp>
        <p:nvSpPr>
          <p:cNvPr id="1055" name="TextBox 1054">
            <a:extLst>
              <a:ext uri="{FF2B5EF4-FFF2-40B4-BE49-F238E27FC236}">
                <a16:creationId xmlns:a16="http://schemas.microsoft.com/office/drawing/2014/main" id="{DB0DE3B5-06DD-1844-C128-85A4B12B827D}"/>
              </a:ext>
            </a:extLst>
          </p:cNvPr>
          <p:cNvSpPr txBox="1"/>
          <p:nvPr/>
        </p:nvSpPr>
        <p:spPr>
          <a:xfrm>
            <a:off x="4703628" y="5140478"/>
            <a:ext cx="2784743" cy="738664"/>
          </a:xfrm>
          <a:prstGeom prst="rect">
            <a:avLst/>
          </a:prstGeom>
          <a:noFill/>
        </p:spPr>
        <p:txBody>
          <a:bodyPr wrap="square">
            <a:spAutoFit/>
          </a:bodyPr>
          <a:lstStyle/>
          <a:p>
            <a:pPr algn="ctr">
              <a:spcAft>
                <a:spcPts val="1800"/>
              </a:spcAft>
            </a:pPr>
            <a:r>
              <a:rPr lang="it-IT" sz="1400" b="1">
                <a:solidFill>
                  <a:srgbClr val="002752"/>
                </a:solidFill>
                <a:latin typeface="Poppins Medium"/>
                <a:cs typeface="Poppins Medium"/>
              </a:rPr>
              <a:t>SERVIZIO TAXI IN ITALIA E EUROPA </a:t>
            </a:r>
            <a:r>
              <a:rPr lang="it-IT" sz="1400">
                <a:solidFill>
                  <a:srgbClr val="002752"/>
                </a:solidFill>
                <a:latin typeface="Poppins Medium"/>
                <a:cs typeface="Poppins Medium"/>
              </a:rPr>
              <a:t>fino ad un massimo di 80€ a viaggio</a:t>
            </a:r>
          </a:p>
        </p:txBody>
      </p:sp>
      <p:sp>
        <p:nvSpPr>
          <p:cNvPr id="2080" name="TextBox 2079">
            <a:extLst>
              <a:ext uri="{FF2B5EF4-FFF2-40B4-BE49-F238E27FC236}">
                <a16:creationId xmlns:a16="http://schemas.microsoft.com/office/drawing/2014/main" id="{A9BC5DE5-CBAA-4C81-CC0A-0C60CA576F19}"/>
              </a:ext>
            </a:extLst>
          </p:cNvPr>
          <p:cNvSpPr txBox="1"/>
          <p:nvPr/>
        </p:nvSpPr>
        <p:spPr>
          <a:xfrm>
            <a:off x="8294280" y="3047394"/>
            <a:ext cx="2784743" cy="954107"/>
          </a:xfrm>
          <a:prstGeom prst="rect">
            <a:avLst/>
          </a:prstGeom>
          <a:noFill/>
        </p:spPr>
        <p:txBody>
          <a:bodyPr wrap="square">
            <a:spAutoFit/>
          </a:bodyPr>
          <a:lstStyle/>
          <a:p>
            <a:pPr algn="ctr">
              <a:spcAft>
                <a:spcPts val="1800"/>
              </a:spcAft>
            </a:pPr>
            <a:r>
              <a:rPr lang="it-IT" sz="1400" b="1">
                <a:solidFill>
                  <a:srgbClr val="002752"/>
                </a:solidFill>
                <a:latin typeface="Poppins Medium"/>
                <a:cs typeface="Poppins Medium"/>
              </a:rPr>
              <a:t>DEPANNAGE IN ITALIA E EUROPA </a:t>
            </a:r>
            <a:r>
              <a:rPr lang="it-IT" sz="1400">
                <a:solidFill>
                  <a:srgbClr val="002752"/>
                </a:solidFill>
                <a:latin typeface="Poppins Medium"/>
                <a:cs typeface="Poppins Medium"/>
              </a:rPr>
              <a:t>Sostituzioni pneumatici, ricarica Batteria o rifornimento </a:t>
            </a:r>
          </a:p>
        </p:txBody>
      </p:sp>
      <p:sp>
        <p:nvSpPr>
          <p:cNvPr id="2081" name="TextBox 2080">
            <a:extLst>
              <a:ext uri="{FF2B5EF4-FFF2-40B4-BE49-F238E27FC236}">
                <a16:creationId xmlns:a16="http://schemas.microsoft.com/office/drawing/2014/main" id="{59535EA9-D283-C7A5-6EC0-EC2AE62B05AE}"/>
              </a:ext>
            </a:extLst>
          </p:cNvPr>
          <p:cNvSpPr txBox="1"/>
          <p:nvPr/>
        </p:nvSpPr>
        <p:spPr>
          <a:xfrm>
            <a:off x="1042226" y="5190394"/>
            <a:ext cx="2784743" cy="738664"/>
          </a:xfrm>
          <a:prstGeom prst="rect">
            <a:avLst/>
          </a:prstGeom>
          <a:noFill/>
        </p:spPr>
        <p:txBody>
          <a:bodyPr wrap="square">
            <a:spAutoFit/>
          </a:bodyPr>
          <a:lstStyle/>
          <a:p>
            <a:pPr algn="ctr">
              <a:spcAft>
                <a:spcPts val="1800"/>
              </a:spcAft>
            </a:pPr>
            <a:r>
              <a:rPr lang="it-IT" sz="1400" b="1">
                <a:solidFill>
                  <a:srgbClr val="002752"/>
                </a:solidFill>
                <a:latin typeface="Poppins Medium"/>
                <a:cs typeface="Poppins Medium"/>
              </a:rPr>
              <a:t>AUTO SOSTITUTIVA </a:t>
            </a:r>
            <a:r>
              <a:rPr lang="it-IT" sz="1400">
                <a:solidFill>
                  <a:srgbClr val="002752"/>
                </a:solidFill>
                <a:latin typeface="Poppins Medium"/>
                <a:cs typeface="Poppins Medium"/>
              </a:rPr>
              <a:t>qualora il veicolo non sia riparabile in giornata</a:t>
            </a:r>
          </a:p>
        </p:txBody>
      </p:sp>
      <p:sp>
        <p:nvSpPr>
          <p:cNvPr id="2082" name="TextBox 2081">
            <a:extLst>
              <a:ext uri="{FF2B5EF4-FFF2-40B4-BE49-F238E27FC236}">
                <a16:creationId xmlns:a16="http://schemas.microsoft.com/office/drawing/2014/main" id="{8D61087B-A358-E25C-25C2-7CC86FB2D044}"/>
              </a:ext>
            </a:extLst>
          </p:cNvPr>
          <p:cNvSpPr txBox="1"/>
          <p:nvPr/>
        </p:nvSpPr>
        <p:spPr>
          <a:xfrm>
            <a:off x="4608037" y="3262837"/>
            <a:ext cx="2784743" cy="523220"/>
          </a:xfrm>
          <a:prstGeom prst="rect">
            <a:avLst/>
          </a:prstGeom>
          <a:noFill/>
        </p:spPr>
        <p:txBody>
          <a:bodyPr wrap="square">
            <a:spAutoFit/>
          </a:bodyPr>
          <a:lstStyle/>
          <a:p>
            <a:pPr algn="ctr">
              <a:spcAft>
                <a:spcPts val="1800"/>
              </a:spcAft>
            </a:pPr>
            <a:r>
              <a:rPr lang="it-IT" sz="1400" dirty="0">
                <a:solidFill>
                  <a:srgbClr val="002752"/>
                </a:solidFill>
                <a:latin typeface="Poppins Medium"/>
                <a:cs typeface="Poppins Medium"/>
              </a:rPr>
              <a:t>Numero </a:t>
            </a:r>
            <a:r>
              <a:rPr lang="it-IT" sz="1400" b="1" dirty="0">
                <a:solidFill>
                  <a:srgbClr val="002752"/>
                </a:solidFill>
                <a:latin typeface="Poppins Medium"/>
                <a:cs typeface="Poppins Medium"/>
              </a:rPr>
              <a:t>CHIAMATE ILLIMITATE </a:t>
            </a:r>
            <a:r>
              <a:rPr lang="it-IT" sz="1400" dirty="0">
                <a:solidFill>
                  <a:srgbClr val="002752"/>
                </a:solidFill>
                <a:latin typeface="Poppins Medium"/>
                <a:cs typeface="Poppins Medium"/>
              </a:rPr>
              <a:t>All’anno*</a:t>
            </a:r>
          </a:p>
        </p:txBody>
      </p:sp>
      <p:sp>
        <p:nvSpPr>
          <p:cNvPr id="2083" name="TextBox 2082">
            <a:extLst>
              <a:ext uri="{FF2B5EF4-FFF2-40B4-BE49-F238E27FC236}">
                <a16:creationId xmlns:a16="http://schemas.microsoft.com/office/drawing/2014/main" id="{F209D687-8B36-6AC2-FC81-994F76A425DB}"/>
              </a:ext>
            </a:extLst>
          </p:cNvPr>
          <p:cNvSpPr txBox="1"/>
          <p:nvPr/>
        </p:nvSpPr>
        <p:spPr>
          <a:xfrm>
            <a:off x="995000" y="2939672"/>
            <a:ext cx="2784743" cy="1169551"/>
          </a:xfrm>
          <a:prstGeom prst="rect">
            <a:avLst/>
          </a:prstGeom>
          <a:noFill/>
        </p:spPr>
        <p:txBody>
          <a:bodyPr wrap="square">
            <a:spAutoFit/>
          </a:bodyPr>
          <a:lstStyle/>
          <a:p>
            <a:pPr algn="ctr">
              <a:spcAft>
                <a:spcPts val="1800"/>
              </a:spcAft>
            </a:pPr>
            <a:r>
              <a:rPr lang="it-IT" sz="1400" b="1">
                <a:solidFill>
                  <a:srgbClr val="002752"/>
                </a:solidFill>
                <a:latin typeface="Poppins Medium"/>
                <a:cs typeface="Poppins Medium"/>
              </a:rPr>
              <a:t>SOCCORSO STRADALE GRATUITO H24 – 7/7 </a:t>
            </a:r>
            <a:r>
              <a:rPr lang="it-IT" sz="1400">
                <a:solidFill>
                  <a:srgbClr val="002752"/>
                </a:solidFill>
                <a:latin typeface="Poppins Medium"/>
                <a:cs typeface="Poppins Medium"/>
              </a:rPr>
              <a:t>in caso di guasto, incendio o incidente in autostrada e su viabilità ordinaria </a:t>
            </a:r>
          </a:p>
        </p:txBody>
      </p:sp>
      <p:sp>
        <p:nvSpPr>
          <p:cNvPr id="2084" name="TextBox 2083">
            <a:extLst>
              <a:ext uri="{FF2B5EF4-FFF2-40B4-BE49-F238E27FC236}">
                <a16:creationId xmlns:a16="http://schemas.microsoft.com/office/drawing/2014/main" id="{91610C01-8FB1-F4D5-DE5D-77EAFAC425A3}"/>
              </a:ext>
            </a:extLst>
          </p:cNvPr>
          <p:cNvSpPr txBox="1"/>
          <p:nvPr/>
        </p:nvSpPr>
        <p:spPr>
          <a:xfrm>
            <a:off x="8240951" y="4974951"/>
            <a:ext cx="2784743" cy="1169551"/>
          </a:xfrm>
          <a:prstGeom prst="rect">
            <a:avLst/>
          </a:prstGeom>
          <a:noFill/>
        </p:spPr>
        <p:txBody>
          <a:bodyPr wrap="square">
            <a:spAutoFit/>
          </a:bodyPr>
          <a:lstStyle/>
          <a:p>
            <a:pPr algn="ctr">
              <a:spcAft>
                <a:spcPts val="1800"/>
              </a:spcAft>
            </a:pPr>
            <a:r>
              <a:rPr lang="it-IT" sz="1400" b="1">
                <a:solidFill>
                  <a:srgbClr val="002752"/>
                </a:solidFill>
                <a:latin typeface="Poppins Medium"/>
                <a:cs typeface="Poppins Medium"/>
              </a:rPr>
              <a:t>SPESE ALBERGO </a:t>
            </a:r>
            <a:r>
              <a:rPr lang="it-IT" sz="1400">
                <a:solidFill>
                  <a:srgbClr val="002752"/>
                </a:solidFill>
                <a:latin typeface="Poppins Medium"/>
                <a:cs typeface="Poppins Medium"/>
              </a:rPr>
              <a:t>150€ a persona per notte e fino ad un massimo di 500€, in caso di riparazione non in giornata</a:t>
            </a:r>
          </a:p>
        </p:txBody>
      </p:sp>
      <p:pic>
        <p:nvPicPr>
          <p:cNvPr id="8" name="Immagine 7" descr="Immagine che contiene testo, Carattere, schermata, Blu elettrico&#10;&#10;Descrizione generata automaticamente">
            <a:extLst>
              <a:ext uri="{FF2B5EF4-FFF2-40B4-BE49-F238E27FC236}">
                <a16:creationId xmlns:a16="http://schemas.microsoft.com/office/drawing/2014/main" id="{6F5A8CB6-29F1-9C7A-3B0C-69EEFB46753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291546" y="214530"/>
            <a:ext cx="1081023" cy="710331"/>
          </a:xfrm>
          <a:prstGeom prst="rect">
            <a:avLst/>
          </a:prstGeom>
        </p:spPr>
      </p:pic>
      <p:sp>
        <p:nvSpPr>
          <p:cNvPr id="9" name="CasellaDiTesto 8">
            <a:extLst>
              <a:ext uri="{FF2B5EF4-FFF2-40B4-BE49-F238E27FC236}">
                <a16:creationId xmlns:a16="http://schemas.microsoft.com/office/drawing/2014/main" id="{E20E346B-2A2E-4DDE-04A5-91A272689098}"/>
              </a:ext>
            </a:extLst>
          </p:cNvPr>
          <p:cNvSpPr txBox="1"/>
          <p:nvPr/>
        </p:nvSpPr>
        <p:spPr>
          <a:xfrm>
            <a:off x="164523" y="6620403"/>
            <a:ext cx="1014276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err="1">
                <a:solidFill>
                  <a:srgbClr val="002752"/>
                </a:solidFill>
                <a:latin typeface="Poppins Medium"/>
                <a:cs typeface="Poppins Medium"/>
              </a:rPr>
              <a:t>Mediamente</a:t>
            </a:r>
            <a:r>
              <a:rPr lang="en-US" sz="1000">
                <a:solidFill>
                  <a:srgbClr val="002752"/>
                </a:solidFill>
                <a:latin typeface="Poppins Medium"/>
                <a:cs typeface="Poppins Medium"/>
              </a:rPr>
              <a:t> </a:t>
            </a:r>
            <a:r>
              <a:rPr lang="en-US" sz="1000" err="1">
                <a:solidFill>
                  <a:srgbClr val="002752"/>
                </a:solidFill>
                <a:latin typeface="Poppins Medium"/>
                <a:cs typeface="Poppins Medium"/>
              </a:rPr>
              <a:t>l'assitenza</a:t>
            </a:r>
            <a:r>
              <a:rPr lang="en-US" sz="1000">
                <a:solidFill>
                  <a:srgbClr val="002752"/>
                </a:solidFill>
                <a:latin typeface="Poppins Medium"/>
                <a:cs typeface="Poppins Medium"/>
              </a:rPr>
              <a:t> </a:t>
            </a:r>
            <a:r>
              <a:rPr lang="en-US" sz="1000" err="1">
                <a:solidFill>
                  <a:srgbClr val="002752"/>
                </a:solidFill>
                <a:latin typeface="Poppins Medium"/>
                <a:cs typeface="Poppins Medium"/>
              </a:rPr>
              <a:t>stradale</a:t>
            </a:r>
            <a:r>
              <a:rPr lang="en-US" sz="1000">
                <a:solidFill>
                  <a:srgbClr val="002752"/>
                </a:solidFill>
                <a:latin typeface="Poppins Medium"/>
                <a:cs typeface="Poppins Medium"/>
              </a:rPr>
              <a:t> </a:t>
            </a:r>
            <a:r>
              <a:rPr lang="en-US" sz="1000" err="1">
                <a:solidFill>
                  <a:srgbClr val="002752"/>
                </a:solidFill>
                <a:latin typeface="Poppins Medium"/>
                <a:cs typeface="Poppins Medium"/>
              </a:rPr>
              <a:t>offerta</a:t>
            </a:r>
            <a:r>
              <a:rPr lang="en-US" sz="1000">
                <a:solidFill>
                  <a:srgbClr val="002752"/>
                </a:solidFill>
                <a:latin typeface="Poppins Medium"/>
                <a:cs typeface="Poppins Medium"/>
              </a:rPr>
              <a:t> </a:t>
            </a:r>
            <a:r>
              <a:rPr lang="en-US" sz="1000" err="1">
                <a:solidFill>
                  <a:srgbClr val="002752"/>
                </a:solidFill>
                <a:latin typeface="Poppins Medium"/>
                <a:cs typeface="Poppins Medium"/>
              </a:rPr>
              <a:t>dalle</a:t>
            </a:r>
            <a:r>
              <a:rPr lang="en-US" sz="1000">
                <a:solidFill>
                  <a:srgbClr val="002752"/>
                </a:solidFill>
                <a:latin typeface="Poppins Medium"/>
                <a:cs typeface="Poppins Medium"/>
              </a:rPr>
              <a:t> </a:t>
            </a:r>
            <a:r>
              <a:rPr lang="en-US" sz="1000" err="1">
                <a:solidFill>
                  <a:srgbClr val="002752"/>
                </a:solidFill>
                <a:latin typeface="Poppins Medium"/>
                <a:cs typeface="Poppins Medium"/>
              </a:rPr>
              <a:t>assicurazioni</a:t>
            </a:r>
            <a:r>
              <a:rPr lang="en-US" sz="1000">
                <a:solidFill>
                  <a:srgbClr val="002752"/>
                </a:solidFill>
                <a:latin typeface="Poppins Medium"/>
                <a:cs typeface="Poppins Medium"/>
              </a:rPr>
              <a:t> RC </a:t>
            </a:r>
            <a:r>
              <a:rPr lang="en-US" sz="1000" err="1">
                <a:solidFill>
                  <a:srgbClr val="002752"/>
                </a:solidFill>
                <a:latin typeface="Poppins Medium"/>
                <a:cs typeface="Poppins Medium"/>
              </a:rPr>
              <a:t>va</a:t>
            </a:r>
            <a:r>
              <a:rPr lang="en-US" sz="1000">
                <a:solidFill>
                  <a:srgbClr val="002752"/>
                </a:solidFill>
                <a:latin typeface="Poppins Medium"/>
                <a:cs typeface="Poppins Medium"/>
              </a:rPr>
              <a:t> </a:t>
            </a:r>
            <a:r>
              <a:rPr lang="en-US" sz="1000" err="1">
                <a:solidFill>
                  <a:srgbClr val="002752"/>
                </a:solidFill>
                <a:latin typeface="Poppins Medium"/>
                <a:cs typeface="Poppins Medium"/>
              </a:rPr>
              <a:t>oltre</a:t>
            </a:r>
            <a:r>
              <a:rPr lang="en-US" sz="1000">
                <a:solidFill>
                  <a:srgbClr val="002752"/>
                </a:solidFill>
                <a:latin typeface="Poppins Medium"/>
                <a:cs typeface="Poppins Medium"/>
              </a:rPr>
              <a:t> I 60€/anno, </a:t>
            </a:r>
            <a:r>
              <a:rPr lang="en-US" sz="1000" err="1">
                <a:solidFill>
                  <a:srgbClr val="002752"/>
                </a:solidFill>
                <a:latin typeface="Poppins Medium"/>
                <a:cs typeface="Poppins Medium"/>
              </a:rPr>
              <a:t>hanno</a:t>
            </a:r>
            <a:r>
              <a:rPr lang="en-US" sz="1000">
                <a:solidFill>
                  <a:srgbClr val="002752"/>
                </a:solidFill>
                <a:latin typeface="Poppins Medium"/>
                <a:cs typeface="Poppins Medium"/>
              </a:rPr>
              <a:t> un </a:t>
            </a:r>
            <a:r>
              <a:rPr lang="en-US" sz="1000" err="1">
                <a:solidFill>
                  <a:srgbClr val="002752"/>
                </a:solidFill>
                <a:latin typeface="Poppins Medium"/>
                <a:cs typeface="Poppins Medium"/>
              </a:rPr>
              <a:t>numero</a:t>
            </a:r>
            <a:r>
              <a:rPr lang="en-US" sz="1000">
                <a:solidFill>
                  <a:srgbClr val="002752"/>
                </a:solidFill>
                <a:latin typeface="Poppins Medium"/>
                <a:cs typeface="Poppins Medium"/>
              </a:rPr>
              <a:t> di </a:t>
            </a:r>
            <a:r>
              <a:rPr lang="en-US" sz="1000" err="1">
                <a:solidFill>
                  <a:srgbClr val="002752"/>
                </a:solidFill>
                <a:latin typeface="Poppins Medium"/>
                <a:cs typeface="Poppins Medium"/>
              </a:rPr>
              <a:t>chiamte</a:t>
            </a:r>
            <a:r>
              <a:rPr lang="en-US" sz="1000">
                <a:solidFill>
                  <a:srgbClr val="002752"/>
                </a:solidFill>
                <a:latin typeface="Poppins Medium"/>
                <a:cs typeface="Poppins Medium"/>
              </a:rPr>
              <a:t> </a:t>
            </a:r>
            <a:r>
              <a:rPr lang="en-US" sz="1000" err="1">
                <a:solidFill>
                  <a:srgbClr val="002752"/>
                </a:solidFill>
                <a:latin typeface="Poppins Medium"/>
                <a:cs typeface="Poppins Medium"/>
              </a:rPr>
              <a:t>limitate</a:t>
            </a:r>
            <a:r>
              <a:rPr lang="en-US" sz="1000">
                <a:solidFill>
                  <a:srgbClr val="002752"/>
                </a:solidFill>
                <a:latin typeface="Poppins Medium"/>
                <a:cs typeface="Poppins Medium"/>
              </a:rPr>
              <a:t> e </a:t>
            </a:r>
            <a:r>
              <a:rPr lang="en-US" sz="1000" err="1">
                <a:solidFill>
                  <a:srgbClr val="002752"/>
                </a:solidFill>
                <a:latin typeface="Poppins Medium"/>
                <a:cs typeface="Poppins Medium"/>
              </a:rPr>
              <a:t>anche</a:t>
            </a:r>
            <a:r>
              <a:rPr lang="en-US" sz="1000">
                <a:solidFill>
                  <a:srgbClr val="002752"/>
                </a:solidFill>
                <a:latin typeface="Poppins Medium"/>
                <a:cs typeface="Poppins Medium"/>
              </a:rPr>
              <a:t> </a:t>
            </a:r>
            <a:r>
              <a:rPr lang="en-US" sz="1000" err="1">
                <a:solidFill>
                  <a:srgbClr val="002752"/>
                </a:solidFill>
                <a:latin typeface="Poppins Medium"/>
                <a:cs typeface="Poppins Medium"/>
              </a:rPr>
              <a:t>coperture</a:t>
            </a:r>
            <a:r>
              <a:rPr lang="en-US" sz="1000">
                <a:solidFill>
                  <a:srgbClr val="002752"/>
                </a:solidFill>
                <a:latin typeface="Poppins Medium"/>
                <a:cs typeface="Poppins Medium"/>
              </a:rPr>
              <a:t> </a:t>
            </a:r>
            <a:r>
              <a:rPr lang="en-US" sz="1000" err="1">
                <a:solidFill>
                  <a:srgbClr val="002752"/>
                </a:solidFill>
                <a:latin typeface="Poppins Medium"/>
                <a:cs typeface="Poppins Medium"/>
              </a:rPr>
              <a:t>più</a:t>
            </a:r>
            <a:r>
              <a:rPr lang="en-US" sz="1000">
                <a:solidFill>
                  <a:srgbClr val="002752"/>
                </a:solidFill>
                <a:latin typeface="Poppins Medium"/>
                <a:cs typeface="Poppins Medium"/>
              </a:rPr>
              <a:t> </a:t>
            </a:r>
            <a:r>
              <a:rPr lang="en-US" sz="1000" err="1">
                <a:solidFill>
                  <a:srgbClr val="002752"/>
                </a:solidFill>
                <a:latin typeface="Poppins Medium"/>
                <a:cs typeface="Poppins Medium"/>
              </a:rPr>
              <a:t>limitate</a:t>
            </a:r>
            <a:r>
              <a:rPr lang="en-US" sz="1000">
                <a:solidFill>
                  <a:srgbClr val="002752"/>
                </a:solidFill>
                <a:latin typeface="Poppins Medium"/>
                <a:cs typeface="Poppins Medium"/>
              </a:rPr>
              <a:t>.</a:t>
            </a:r>
          </a:p>
        </p:txBody>
      </p:sp>
      <p:grpSp>
        <p:nvGrpSpPr>
          <p:cNvPr id="3" name="Group 2">
            <a:extLst>
              <a:ext uri="{FF2B5EF4-FFF2-40B4-BE49-F238E27FC236}">
                <a16:creationId xmlns:a16="http://schemas.microsoft.com/office/drawing/2014/main" id="{4EC687D5-A83F-ECB9-CC2F-2972D91435D9}"/>
              </a:ext>
            </a:extLst>
          </p:cNvPr>
          <p:cNvGrpSpPr/>
          <p:nvPr/>
        </p:nvGrpSpPr>
        <p:grpSpPr>
          <a:xfrm>
            <a:off x="8470605" y="269358"/>
            <a:ext cx="2590802" cy="602126"/>
            <a:chOff x="8470605" y="269358"/>
            <a:chExt cx="2590802" cy="602126"/>
          </a:xfrm>
        </p:grpSpPr>
        <p:sp>
          <p:nvSpPr>
            <p:cNvPr id="11" name="TextBox 10">
              <a:extLst>
                <a:ext uri="{FF2B5EF4-FFF2-40B4-BE49-F238E27FC236}">
                  <a16:creationId xmlns:a16="http://schemas.microsoft.com/office/drawing/2014/main" id="{221DEA00-92FF-9ABD-DB85-F61A2564D487}"/>
                </a:ext>
              </a:extLst>
            </p:cNvPr>
            <p:cNvSpPr txBox="1"/>
            <p:nvPr/>
          </p:nvSpPr>
          <p:spPr>
            <a:xfrm>
              <a:off x="8470605" y="271320"/>
              <a:ext cx="2590802" cy="600164"/>
            </a:xfrm>
            <a:prstGeom prst="rect">
              <a:avLst/>
            </a:prstGeom>
            <a:noFill/>
          </p:spPr>
          <p:txBody>
            <a:bodyPr wrap="square" rtlCol="0">
              <a:spAutoFit/>
            </a:bodyPr>
            <a:lstStyle/>
            <a:p>
              <a:pPr algn="ctr">
                <a:spcAft>
                  <a:spcPts val="1800"/>
                </a:spcAft>
              </a:pPr>
              <a:r>
                <a:rPr lang="it-IT" sz="1100" i="1">
                  <a:solidFill>
                    <a:srgbClr val="002752"/>
                  </a:solidFill>
                  <a:latin typeface="Poppins Medium"/>
                  <a:cs typeface="Poppins Medium"/>
                </a:rPr>
                <a:t>Per dettaglio su costi e funzionalità consulta la scheda prodotto a slide successive </a:t>
              </a:r>
            </a:p>
          </p:txBody>
        </p:sp>
        <p:cxnSp>
          <p:nvCxnSpPr>
            <p:cNvPr id="13" name="Straight Connector 12">
              <a:extLst>
                <a:ext uri="{FF2B5EF4-FFF2-40B4-BE49-F238E27FC236}">
                  <a16:creationId xmlns:a16="http://schemas.microsoft.com/office/drawing/2014/main" id="{DCE4B80C-3433-07FA-5DDE-CBC85076C6FF}"/>
                </a:ext>
              </a:extLst>
            </p:cNvPr>
            <p:cNvCxnSpPr/>
            <p:nvPr/>
          </p:nvCxnSpPr>
          <p:spPr>
            <a:xfrm>
              <a:off x="8839201" y="269358"/>
              <a:ext cx="1885507" cy="0"/>
            </a:xfrm>
            <a:prstGeom prst="line">
              <a:avLst/>
            </a:prstGeom>
            <a:ln w="76200" cmpd="dbl"/>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41C61ED-2E28-A84B-5CC6-F967A92CD9B0}"/>
                </a:ext>
              </a:extLst>
            </p:cNvPr>
            <p:cNvCxnSpPr/>
            <p:nvPr/>
          </p:nvCxnSpPr>
          <p:spPr>
            <a:xfrm>
              <a:off x="8839201" y="861541"/>
              <a:ext cx="1885507" cy="0"/>
            </a:xfrm>
            <a:prstGeom prst="line">
              <a:avLst/>
            </a:prstGeom>
            <a:ln w="76200" cmpd="dbl"/>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9310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ggetto 8" hidden="1">
            <a:extLst>
              <a:ext uri="{FF2B5EF4-FFF2-40B4-BE49-F238E27FC236}">
                <a16:creationId xmlns:a16="http://schemas.microsoft.com/office/drawing/2014/main" id="{73254B0A-B40F-4DD4-B96D-1FF844FB14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503" imgH="503" progId="TCLayout.ActiveDocument.1">
                  <p:embed/>
                </p:oleObj>
              </mc:Choice>
              <mc:Fallback>
                <p:oleObj name="Diapositiva think-cell" r:id="rId4" imgW="503" imgH="503" progId="TCLayout.ActiveDocument.1">
                  <p:embed/>
                  <p:pic>
                    <p:nvPicPr>
                      <p:cNvPr id="9" name="Oggetto 8" hidden="1">
                        <a:extLst>
                          <a:ext uri="{FF2B5EF4-FFF2-40B4-BE49-F238E27FC236}">
                            <a16:creationId xmlns:a16="http://schemas.microsoft.com/office/drawing/2014/main" id="{73254B0A-B40F-4DD4-B96D-1FF844FB14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E847F125-6EF3-4F6E-AB05-940BA1DB662D}"/>
              </a:ext>
            </a:extLst>
          </p:cNvPr>
          <p:cNvSpPr>
            <a:spLocks noGrp="1"/>
          </p:cNvSpPr>
          <p:nvPr>
            <p:ph type="body" sz="quarter" idx="11"/>
          </p:nvPr>
        </p:nvSpPr>
        <p:spPr>
          <a:xfrm>
            <a:off x="812799" y="251666"/>
            <a:ext cx="10422468" cy="782638"/>
          </a:xfrm>
        </p:spPr>
        <p:txBody>
          <a:bodyPr/>
          <a:lstStyle/>
          <a:p>
            <a:r>
              <a:rPr lang="it-IT" sz="3200" b="1" dirty="0">
                <a:latin typeface="Avenir Next LT Pro" panose="020B0504020202020204" pitchFamily="34" charset="77"/>
              </a:rPr>
              <a:t>Temi a supporto della conversazione con il cliente</a:t>
            </a:r>
            <a:endParaRPr lang="it-IT" sz="3200" i="1" dirty="0">
              <a:latin typeface="Avenir Next LT Pro" panose="020B0504020202020204" pitchFamily="34" charset="77"/>
            </a:endParaRPr>
          </a:p>
        </p:txBody>
      </p:sp>
      <p:sp>
        <p:nvSpPr>
          <p:cNvPr id="5" name="Segnaposto numero diapositiva 4">
            <a:extLst>
              <a:ext uri="{FF2B5EF4-FFF2-40B4-BE49-F238E27FC236}">
                <a16:creationId xmlns:a16="http://schemas.microsoft.com/office/drawing/2014/main" id="{A7905286-2036-47EB-8801-68AAD0E56634}"/>
              </a:ext>
            </a:extLst>
          </p:cNvPr>
          <p:cNvSpPr>
            <a:spLocks noGrp="1"/>
          </p:cNvSpPr>
          <p:nvPr>
            <p:ph type="sldNum" sz="quarter" idx="2"/>
          </p:nvPr>
        </p:nvSpPr>
        <p:spPr>
          <a:xfrm>
            <a:off x="11614996" y="6386371"/>
            <a:ext cx="409933" cy="27258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it-IT" sz="1200" b="0" i="0" u="none" strike="noStrike" kern="1200" cap="none" spc="0" normalizeH="0" baseline="0" noProof="0" smtClean="0">
                <a:ln>
                  <a:noFill/>
                </a:ln>
                <a:solidFill>
                  <a:srgbClr val="0057B7"/>
                </a:solidFill>
                <a:effectLst/>
                <a:uLnTx/>
                <a:uFillTx/>
                <a:latin typeface="Poppins"/>
                <a:ea typeface="+mn-ea"/>
                <a:cs typeface="Poppins Medium" panose="02000000000000000000"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it-IT" sz="1200" b="0" i="0" u="none" strike="noStrike" kern="1200" cap="none" spc="0" normalizeH="0" baseline="0" noProof="0">
              <a:ln>
                <a:noFill/>
              </a:ln>
              <a:solidFill>
                <a:srgbClr val="0057B7"/>
              </a:solidFill>
              <a:effectLst/>
              <a:uLnTx/>
              <a:uFillTx/>
              <a:latin typeface="Poppins"/>
              <a:ea typeface="+mn-ea"/>
              <a:cs typeface="Poppins Medium" panose="02000000000000000000" pitchFamily="2" charset="77"/>
            </a:endParaRPr>
          </a:p>
        </p:txBody>
      </p:sp>
      <p:sp>
        <p:nvSpPr>
          <p:cNvPr id="58" name="Rettangolo 57">
            <a:extLst>
              <a:ext uri="{FF2B5EF4-FFF2-40B4-BE49-F238E27FC236}">
                <a16:creationId xmlns:a16="http://schemas.microsoft.com/office/drawing/2014/main" id="{7ADCCF6D-FF2B-406A-BF2B-8776DBA95D0B}"/>
              </a:ext>
            </a:extLst>
          </p:cNvPr>
          <p:cNvSpPr/>
          <p:nvPr/>
        </p:nvSpPr>
        <p:spPr>
          <a:xfrm>
            <a:off x="240065" y="1499531"/>
            <a:ext cx="3846160" cy="5243477"/>
          </a:xfrm>
          <a:prstGeom prst="rect">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9" name="Rettangolo 58">
            <a:extLst>
              <a:ext uri="{FF2B5EF4-FFF2-40B4-BE49-F238E27FC236}">
                <a16:creationId xmlns:a16="http://schemas.microsoft.com/office/drawing/2014/main" id="{494B1CE2-D091-4132-B84F-46FEA14DD086}"/>
              </a:ext>
            </a:extLst>
          </p:cNvPr>
          <p:cNvSpPr/>
          <p:nvPr/>
        </p:nvSpPr>
        <p:spPr>
          <a:xfrm>
            <a:off x="4170483" y="1499532"/>
            <a:ext cx="7781453" cy="5243480"/>
          </a:xfrm>
          <a:prstGeom prst="rect">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Rettangolo 60">
            <a:extLst>
              <a:ext uri="{FF2B5EF4-FFF2-40B4-BE49-F238E27FC236}">
                <a16:creationId xmlns:a16="http://schemas.microsoft.com/office/drawing/2014/main" id="{116BC6CF-23C8-4C3A-BAD4-3AF479ED9584}"/>
              </a:ext>
            </a:extLst>
          </p:cNvPr>
          <p:cNvSpPr/>
          <p:nvPr/>
        </p:nvSpPr>
        <p:spPr>
          <a:xfrm>
            <a:off x="802816" y="1302087"/>
            <a:ext cx="3108397" cy="479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2400" b="1" i="0" u="none" strike="noStrike" kern="1200" cap="none" spc="0" normalizeH="0" baseline="0" noProof="0">
                <a:ln>
                  <a:noFill/>
                </a:ln>
                <a:solidFill>
                  <a:srgbClr val="FFFFFF"/>
                </a:solidFill>
                <a:effectLst/>
                <a:uLnTx/>
                <a:uFillTx/>
                <a:latin typeface="Poppins"/>
                <a:ea typeface="+mn-ea"/>
                <a:cs typeface="+mn-cs"/>
              </a:rPr>
              <a:t>Clienti</a:t>
            </a:r>
          </a:p>
        </p:txBody>
      </p:sp>
      <p:pic>
        <p:nvPicPr>
          <p:cNvPr id="3" name="Immagine 2">
            <a:extLst>
              <a:ext uri="{FF2B5EF4-FFF2-40B4-BE49-F238E27FC236}">
                <a16:creationId xmlns:a16="http://schemas.microsoft.com/office/drawing/2014/main" id="{9DBE1488-B43D-4CC7-BDE9-1B9EFFB2568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54754" y="1111896"/>
            <a:ext cx="896123" cy="775271"/>
          </a:xfrm>
          <a:prstGeom prst="rect">
            <a:avLst/>
          </a:prstGeom>
        </p:spPr>
      </p:pic>
      <p:sp>
        <p:nvSpPr>
          <p:cNvPr id="63" name="Rettangolo 62">
            <a:extLst>
              <a:ext uri="{FF2B5EF4-FFF2-40B4-BE49-F238E27FC236}">
                <a16:creationId xmlns:a16="http://schemas.microsoft.com/office/drawing/2014/main" id="{5DB21204-B277-465D-B59C-50E92D1DC240}"/>
              </a:ext>
            </a:extLst>
          </p:cNvPr>
          <p:cNvSpPr/>
          <p:nvPr/>
        </p:nvSpPr>
        <p:spPr>
          <a:xfrm>
            <a:off x="4899413" y="1302087"/>
            <a:ext cx="3108397" cy="479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2400" b="1" i="0" u="none" strike="noStrike" kern="1200" cap="none" spc="0" normalizeH="0" baseline="0" noProof="0" dirty="0">
                <a:ln>
                  <a:noFill/>
                </a:ln>
                <a:solidFill>
                  <a:srgbClr val="FFFFFF"/>
                </a:solidFill>
                <a:effectLst/>
                <a:uLnTx/>
                <a:uFillTx/>
                <a:latin typeface="Poppins"/>
                <a:ea typeface="+mn-ea"/>
                <a:cs typeface="+mn-cs"/>
              </a:rPr>
              <a:t>Venditore</a:t>
            </a:r>
          </a:p>
        </p:txBody>
      </p:sp>
      <p:pic>
        <p:nvPicPr>
          <p:cNvPr id="7" name="Immagine 6">
            <a:extLst>
              <a:ext uri="{FF2B5EF4-FFF2-40B4-BE49-F238E27FC236}">
                <a16:creationId xmlns:a16="http://schemas.microsoft.com/office/drawing/2014/main" id="{7E9B6A05-ECB9-4B33-8A42-D93814A9D63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286657" y="1128290"/>
            <a:ext cx="750020" cy="742482"/>
          </a:xfrm>
          <a:prstGeom prst="rect">
            <a:avLst/>
          </a:prstGeom>
        </p:spPr>
      </p:pic>
      <p:sp>
        <p:nvSpPr>
          <p:cNvPr id="8" name="CasellaDiTesto 7">
            <a:extLst>
              <a:ext uri="{FF2B5EF4-FFF2-40B4-BE49-F238E27FC236}">
                <a16:creationId xmlns:a16="http://schemas.microsoft.com/office/drawing/2014/main" id="{06B6787D-7FBC-4095-36DB-081B3A12062D}"/>
              </a:ext>
            </a:extLst>
          </p:cNvPr>
          <p:cNvSpPr txBox="1"/>
          <p:nvPr/>
        </p:nvSpPr>
        <p:spPr>
          <a:xfrm>
            <a:off x="228033" y="1763342"/>
            <a:ext cx="3846160" cy="646331"/>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Ho già l’assistenza stradale inclusa nella mia polizza RC/ altro, perché dovrei tenere quella di Telepass?</a:t>
            </a:r>
          </a:p>
        </p:txBody>
      </p:sp>
      <p:sp>
        <p:nvSpPr>
          <p:cNvPr id="10" name="CasellaDiTesto 9">
            <a:extLst>
              <a:ext uri="{FF2B5EF4-FFF2-40B4-BE49-F238E27FC236}">
                <a16:creationId xmlns:a16="http://schemas.microsoft.com/office/drawing/2014/main" id="{5602A52D-2FA6-64B2-9122-CB3675D6485D}"/>
              </a:ext>
            </a:extLst>
          </p:cNvPr>
          <p:cNvSpPr txBox="1"/>
          <p:nvPr/>
        </p:nvSpPr>
        <p:spPr>
          <a:xfrm>
            <a:off x="4170483" y="1763342"/>
            <a:ext cx="7781453" cy="1538883"/>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Lo sa che l’</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Assistenza Stradale di Telepass vale su </a:t>
            </a: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2 veicoli</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mentre quella della sua RC copre solamente il veicolo assicurato? Se in casa ha un’altra vettura oppure un motociclo/ciclomotore, può decidere di mantenerla ed evitare spiacevoli costi aggiuntivi in caso di inconveniente in strada</a:t>
            </a:r>
          </a:p>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200" b="0"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Le </a:t>
            </a: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normali assistenze stradale </a:t>
            </a:r>
            <a:r>
              <a:rPr kumimoji="0" lang="it-IT" sz="1200" b="0"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offerte dalle compagnie assicurative hanno </a:t>
            </a: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coperture limitate</a:t>
            </a:r>
            <a:r>
              <a:rPr kumimoji="0" lang="it-IT" sz="1200" b="0"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Spesso, dopo un imprevisto con la propria vettura, non coprono i </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costi del carroattrezzi</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il costo del </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taxi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 raggiungere la destinazione finale oppure non offrono un’</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auto sostitutiva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 proseguire il suo viaggio di piacere. </a:t>
            </a:r>
            <a:r>
              <a:rPr kumimoji="0" lang="it-IT" sz="1200" b="0" i="0" u="sng" strike="noStrike" kern="1200" cap="none" spc="0" normalizeH="0" baseline="0" noProof="0" dirty="0">
                <a:ln>
                  <a:noFill/>
                </a:ln>
                <a:solidFill>
                  <a:srgbClr val="242424"/>
                </a:solidFill>
                <a:effectLst/>
                <a:uLnTx/>
                <a:uFillTx/>
                <a:latin typeface="Segoe UI" panose="020B0502040204020203" pitchFamily="34" charset="0"/>
                <a:ea typeface="+mn-ea"/>
                <a:cs typeface="+mn-cs"/>
              </a:rPr>
              <a:t>Telepass invece prevede tutto questo</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a:t>
            </a:r>
          </a:p>
        </p:txBody>
      </p:sp>
      <p:cxnSp>
        <p:nvCxnSpPr>
          <p:cNvPr id="12" name="Connettore diritto 11">
            <a:extLst>
              <a:ext uri="{FF2B5EF4-FFF2-40B4-BE49-F238E27FC236}">
                <a16:creationId xmlns:a16="http://schemas.microsoft.com/office/drawing/2014/main" id="{A791D6DB-6A22-EB09-11CD-6962B7A5DC40}"/>
              </a:ext>
            </a:extLst>
          </p:cNvPr>
          <p:cNvCxnSpPr>
            <a:cxnSpLocks/>
          </p:cNvCxnSpPr>
          <p:nvPr/>
        </p:nvCxnSpPr>
        <p:spPr>
          <a:xfrm>
            <a:off x="251935" y="3271759"/>
            <a:ext cx="11700000" cy="0"/>
          </a:xfrm>
          <a:prstGeom prst="line">
            <a:avLst/>
          </a:prstGeom>
          <a:ln w="12700">
            <a:solidFill>
              <a:schemeClr val="accent5">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Connettore diritto 13">
            <a:extLst>
              <a:ext uri="{FF2B5EF4-FFF2-40B4-BE49-F238E27FC236}">
                <a16:creationId xmlns:a16="http://schemas.microsoft.com/office/drawing/2014/main" id="{C66975C2-0EA6-A225-C505-5A7EBE7454EF}"/>
              </a:ext>
            </a:extLst>
          </p:cNvPr>
          <p:cNvCxnSpPr>
            <a:cxnSpLocks/>
          </p:cNvCxnSpPr>
          <p:nvPr/>
        </p:nvCxnSpPr>
        <p:spPr>
          <a:xfrm>
            <a:off x="234616" y="4050623"/>
            <a:ext cx="11700000" cy="0"/>
          </a:xfrm>
          <a:prstGeom prst="line">
            <a:avLst/>
          </a:prstGeom>
          <a:ln w="12700">
            <a:solidFill>
              <a:schemeClr val="accent5">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CasellaDiTesto 10">
            <a:extLst>
              <a:ext uri="{FF2B5EF4-FFF2-40B4-BE49-F238E27FC236}">
                <a16:creationId xmlns:a16="http://schemas.microsoft.com/office/drawing/2014/main" id="{C77D0C5B-FDB4-F40B-5C6A-BCB0C6820342}"/>
              </a:ext>
            </a:extLst>
          </p:cNvPr>
          <p:cNvSpPr txBox="1"/>
          <p:nvPr/>
        </p:nvSpPr>
        <p:spPr>
          <a:xfrm>
            <a:off x="228031" y="3250720"/>
            <a:ext cx="3846160" cy="830997"/>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Perché dovrei pagare 2€ (o 2,8€ pe Wow) al mese per l’Assistenza Stradale Telepass? In caso di necessità posso sempre chiamare il servizio stradale/ </a:t>
            </a:r>
            <a:r>
              <a:rPr kumimoji="0" lang="it-IT" sz="1200" b="0"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carroattrezzi</a:t>
            </a:r>
          </a:p>
        </p:txBody>
      </p:sp>
      <p:sp>
        <p:nvSpPr>
          <p:cNvPr id="13" name="CasellaDiTesto 12">
            <a:extLst>
              <a:ext uri="{FF2B5EF4-FFF2-40B4-BE49-F238E27FC236}">
                <a16:creationId xmlns:a16="http://schemas.microsoft.com/office/drawing/2014/main" id="{1F6F369F-D058-A2F6-490A-97A9321AC76C}"/>
              </a:ext>
            </a:extLst>
          </p:cNvPr>
          <p:cNvSpPr txBox="1"/>
          <p:nvPr/>
        </p:nvSpPr>
        <p:spPr>
          <a:xfrm>
            <a:off x="4170483" y="3250720"/>
            <a:ext cx="7781452" cy="830997"/>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Il soccorso stradale / carroattrezzi in caso di veicolo fermo in strada ha un </a:t>
            </a: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costo </a:t>
            </a:r>
            <a:r>
              <a:rPr kumimoji="0" lang="it-IT" sz="1200" b="0"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per </a:t>
            </a: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singolo intervento </a:t>
            </a:r>
            <a:r>
              <a:rPr kumimoji="0" lang="it-IT" sz="1200" b="0"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che varia da </a:t>
            </a: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75-153€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 seconda della complessità e della distanza.</a:t>
            </a:r>
            <a:b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b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Se viaggia spesso con la propria auto, con soli 3,6€ al mese (</a:t>
            </a:r>
            <a:r>
              <a:rPr lang="it-IT" sz="1200" dirty="0">
                <a:solidFill>
                  <a:srgbClr val="242424"/>
                </a:solidFill>
                <a:latin typeface="Segoe UI" panose="020B0502040204020203" pitchFamily="34" charset="0"/>
              </a:rPr>
              <a:t>43,2</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in un anno) si copre dal rischio di andare incontro a spiacevoli costi di gran lunga superiori.</a:t>
            </a:r>
          </a:p>
        </p:txBody>
      </p:sp>
      <p:sp>
        <p:nvSpPr>
          <p:cNvPr id="15" name="CasellaDiTesto 14">
            <a:extLst>
              <a:ext uri="{FF2B5EF4-FFF2-40B4-BE49-F238E27FC236}">
                <a16:creationId xmlns:a16="http://schemas.microsoft.com/office/drawing/2014/main" id="{20B370F4-1E6B-2EB5-F2DB-80ECD4BE45EC}"/>
              </a:ext>
            </a:extLst>
          </p:cNvPr>
          <p:cNvSpPr txBox="1"/>
          <p:nvPr/>
        </p:nvSpPr>
        <p:spPr>
          <a:xfrm>
            <a:off x="228031" y="5738500"/>
            <a:ext cx="3846160" cy="461665"/>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Perché il canone mensile è aumentato a 2 € (o 2,8€ per Wow)? </a:t>
            </a:r>
          </a:p>
        </p:txBody>
      </p:sp>
      <p:sp>
        <p:nvSpPr>
          <p:cNvPr id="16" name="CasellaDiTesto 15">
            <a:extLst>
              <a:ext uri="{FF2B5EF4-FFF2-40B4-BE49-F238E27FC236}">
                <a16:creationId xmlns:a16="http://schemas.microsoft.com/office/drawing/2014/main" id="{BBB00135-77F0-67BF-E7ED-7645EDDA9CBD}"/>
              </a:ext>
            </a:extLst>
          </p:cNvPr>
          <p:cNvSpPr txBox="1"/>
          <p:nvPr/>
        </p:nvSpPr>
        <p:spPr>
          <a:xfrm>
            <a:off x="4170483" y="5727349"/>
            <a:ext cx="7781452" cy="1015663"/>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it-IT" sz="1200" dirty="0">
                <a:solidFill>
                  <a:srgbClr val="242424"/>
                </a:solidFill>
                <a:latin typeface="Segoe UI" panose="020B0502040204020203" pitchFamily="34" charset="0"/>
              </a:rPr>
              <a:t>Abbiamo </a:t>
            </a:r>
            <a:r>
              <a:rPr lang="it-IT" sz="1200" b="1" dirty="0">
                <a:solidFill>
                  <a:srgbClr val="242424"/>
                </a:solidFill>
                <a:latin typeface="Segoe UI" panose="020B0502040204020203" pitchFamily="34" charset="0"/>
              </a:rPr>
              <a:t>arricchito la gamma di servizi </a:t>
            </a:r>
            <a:r>
              <a:rPr lang="it-IT" sz="1200" dirty="0">
                <a:solidFill>
                  <a:srgbClr val="242424"/>
                </a:solidFill>
                <a:latin typeface="Segoe UI" panose="020B0502040204020203" pitchFamily="34" charset="0"/>
              </a:rPr>
              <a:t>aggiungendo un </a:t>
            </a:r>
            <a:r>
              <a:rPr lang="it-IT" sz="1200" b="1" dirty="0" err="1">
                <a:solidFill>
                  <a:srgbClr val="242424"/>
                </a:solidFill>
                <a:latin typeface="Segoe UI" panose="020B0502040204020203" pitchFamily="34" charset="0"/>
              </a:rPr>
              <a:t>voicebot</a:t>
            </a:r>
            <a:r>
              <a:rPr lang="it-IT" sz="1200" b="1" dirty="0">
                <a:solidFill>
                  <a:srgbClr val="242424"/>
                </a:solidFill>
                <a:latin typeface="Segoe UI" panose="020B0502040204020203" pitchFamily="34" charset="0"/>
              </a:rPr>
              <a:t> per chiedere assistenza in modo più semplice ed aprire la pratica di sinistro con una procedura guidata, incrementato la percorrenza massima di intervento da 50 a km illimitati</a:t>
            </a:r>
            <a:r>
              <a:rPr lang="it-IT" sz="1200" dirty="0">
                <a:solidFill>
                  <a:srgbClr val="242424"/>
                </a:solidFill>
                <a:latin typeface="Segoe UI" panose="020B0502040204020203" pitchFamily="34" charset="0"/>
              </a:rPr>
              <a:t> dal luogo di intervento  </a:t>
            </a:r>
            <a:r>
              <a:rPr lang="it-IT" sz="1200" b="1" dirty="0">
                <a:solidFill>
                  <a:srgbClr val="242424"/>
                </a:solidFill>
                <a:latin typeface="Segoe UI" panose="020B0502040204020203" pitchFamily="34" charset="0"/>
              </a:rPr>
              <a:t>e la possibilità di ottenere l’auto sostitutiva se il veicolo soccorso non è riparabile in giornata</a:t>
            </a:r>
            <a:r>
              <a:rPr lang="it-IT" sz="1200" dirty="0">
                <a:solidFill>
                  <a:srgbClr val="242424"/>
                </a:solidFill>
                <a:latin typeface="Segoe UI" panose="020B0502040204020203" pitchFamily="34" charset="0"/>
              </a:rPr>
              <a:t> (prima era ottenibile se il veicolo richiedeva almeno 8 ore di manodopera)</a:t>
            </a:r>
          </a:p>
        </p:txBody>
      </p:sp>
      <p:sp>
        <p:nvSpPr>
          <p:cNvPr id="17" name="CasellaDiTesto 16">
            <a:extLst>
              <a:ext uri="{FF2B5EF4-FFF2-40B4-BE49-F238E27FC236}">
                <a16:creationId xmlns:a16="http://schemas.microsoft.com/office/drawing/2014/main" id="{16854406-CD5C-CAF2-A38A-EC5CE0D3D393}"/>
              </a:ext>
            </a:extLst>
          </p:cNvPr>
          <p:cNvSpPr txBox="1"/>
          <p:nvPr/>
        </p:nvSpPr>
        <p:spPr>
          <a:xfrm>
            <a:off x="222585" y="4034191"/>
            <a:ext cx="3787417" cy="461665"/>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Perché dovrei pagare 2€ (o 2,8€ pe Wow) al mese per un servizio che non ho mai utilizzato?</a:t>
            </a:r>
          </a:p>
        </p:txBody>
      </p:sp>
      <p:sp>
        <p:nvSpPr>
          <p:cNvPr id="18" name="CasellaDiTesto 17">
            <a:extLst>
              <a:ext uri="{FF2B5EF4-FFF2-40B4-BE49-F238E27FC236}">
                <a16:creationId xmlns:a16="http://schemas.microsoft.com/office/drawing/2014/main" id="{CC1C9CAD-E873-8CA5-5A9C-310237DCFC3B}"/>
              </a:ext>
            </a:extLst>
          </p:cNvPr>
          <p:cNvSpPr txBox="1"/>
          <p:nvPr/>
        </p:nvSpPr>
        <p:spPr>
          <a:xfrm>
            <a:off x="4165363" y="4034191"/>
            <a:ext cx="7769253" cy="1754326"/>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sz="1200" dirty="0">
                <a:solidFill>
                  <a:srgbClr val="242424"/>
                </a:solidFill>
                <a:latin typeface="Segoe UI" panose="020B0502040204020203" pitchFamily="34" charset="0"/>
              </a:rPr>
              <a:t>Qualunque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cliente che utilizza l’auto per qualsiasi motivo va incontro ad un </a:t>
            </a: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elevato rischio </a:t>
            </a:r>
            <a:r>
              <a:rPr kumimoji="0" lang="it-IT" sz="1200" b="0"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di spiacevoli </a:t>
            </a:r>
            <a:r>
              <a:rPr kumimoji="0" lang="it-IT" sz="12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inconvenienti</a:t>
            </a:r>
            <a:r>
              <a:rPr kumimoji="0" lang="it-IT" sz="1200" b="0"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a:t>
            </a:r>
          </a:p>
          <a:p>
            <a:pPr marL="350837" marR="0" lvl="1" indent="-171450" algn="l" defTabSz="914400" rtl="0" eaLnBrk="1" fontAlgn="auto" latinLnBrk="0" hangingPunct="1">
              <a:lnSpc>
                <a:spcPct val="100000"/>
              </a:lnSpc>
              <a:spcBef>
                <a:spcPts val="0"/>
              </a:spcBef>
              <a:spcAft>
                <a:spcPts val="0"/>
              </a:spcAft>
              <a:buClrTx/>
              <a:buSzTx/>
              <a:buFontTx/>
              <a:buChar char="-"/>
              <a:tabLst/>
              <a:defRPr/>
            </a:pP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42%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 causa di un’</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anomalia al motore</a:t>
            </a:r>
          </a:p>
          <a:p>
            <a:pPr marL="350837" marR="0" lvl="1" indent="-171450" algn="l" defTabSz="914400" rtl="0" eaLnBrk="1" fontAlgn="auto" latinLnBrk="0" hangingPunct="1">
              <a:lnSpc>
                <a:spcPct val="100000"/>
              </a:lnSpc>
              <a:spcBef>
                <a:spcPts val="0"/>
              </a:spcBef>
              <a:spcAft>
                <a:spcPts val="0"/>
              </a:spcAft>
              <a:buClrTx/>
              <a:buSzTx/>
              <a:buFontTx/>
              <a:buChar char="-"/>
              <a:tabLst/>
              <a:defRPr/>
            </a:pP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24%</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a causa di un </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problema alle ruote</a:t>
            </a:r>
          </a:p>
          <a:p>
            <a:pPr marL="350837" marR="0" lvl="1" indent="-171450" algn="l" defTabSz="914400" rtl="0" eaLnBrk="1" fontAlgn="auto" latinLnBrk="0" hangingPunct="1">
              <a:lnSpc>
                <a:spcPct val="100000"/>
              </a:lnSpc>
              <a:spcBef>
                <a:spcPts val="0"/>
              </a:spcBef>
              <a:spcAft>
                <a:spcPts val="0"/>
              </a:spcAft>
              <a:buClrTx/>
              <a:buSzTx/>
              <a:buFontTx/>
              <a:buChar char="-"/>
              <a:tabLst/>
              <a:defRPr/>
            </a:pP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15%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 causa di un </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problema all’impianto elettrico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(es. batteria scarica)</a:t>
            </a:r>
          </a:p>
          <a:p>
            <a:pPr marL="350837" marR="0" lvl="1" indent="-171450" algn="l" defTabSz="914400" rtl="0" eaLnBrk="1" fontAlgn="auto" latinLnBrk="0" hangingPunct="1">
              <a:lnSpc>
                <a:spcPct val="100000"/>
              </a:lnSpc>
              <a:spcBef>
                <a:spcPts val="0"/>
              </a:spcBef>
              <a:spcAft>
                <a:spcPts val="0"/>
              </a:spcAft>
              <a:buClrTx/>
              <a:buSzTx/>
              <a:buFontTx/>
              <a:buChar char="-"/>
              <a:tabLst/>
              <a:defRPr/>
            </a:pP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13%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 causa di un </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incidente stradale </a:t>
            </a:r>
          </a:p>
          <a:p>
            <a:pPr marL="350837" marR="0" lvl="1" indent="-171450" algn="l" defTabSz="914400" rtl="0" eaLnBrk="1" fontAlgn="auto" latinLnBrk="0" hangingPunct="1">
              <a:lnSpc>
                <a:spcPct val="100000"/>
              </a:lnSpc>
              <a:spcBef>
                <a:spcPts val="0"/>
              </a:spcBef>
              <a:spcAft>
                <a:spcPts val="0"/>
              </a:spcAft>
              <a:buClrTx/>
              <a:buSzTx/>
              <a:buFontTx/>
              <a:buChar char="-"/>
              <a:tabLst/>
              <a:defRPr/>
            </a:pP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5%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 </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mancanza di benzina nel serbatoio</a:t>
            </a:r>
          </a:p>
          <a:p>
            <a:pPr marL="179387" marR="0" lvl="1"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Ogni rischio indicato comporta un’</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assistenza a pagamento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con costi che variano da </a:t>
            </a: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75-153€ </a:t>
            </a:r>
            <a:r>
              <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 seconda della complessità</a:t>
            </a:r>
          </a:p>
        </p:txBody>
      </p:sp>
      <p:cxnSp>
        <p:nvCxnSpPr>
          <p:cNvPr id="19" name="Connettore diritto 18">
            <a:extLst>
              <a:ext uri="{FF2B5EF4-FFF2-40B4-BE49-F238E27FC236}">
                <a16:creationId xmlns:a16="http://schemas.microsoft.com/office/drawing/2014/main" id="{D2BF3B1A-1214-8CAF-BAF9-EC0371FE061C}"/>
              </a:ext>
            </a:extLst>
          </p:cNvPr>
          <p:cNvCxnSpPr>
            <a:cxnSpLocks/>
          </p:cNvCxnSpPr>
          <p:nvPr/>
        </p:nvCxnSpPr>
        <p:spPr>
          <a:xfrm>
            <a:off x="251040" y="5727249"/>
            <a:ext cx="11700000" cy="0"/>
          </a:xfrm>
          <a:prstGeom prst="line">
            <a:avLst/>
          </a:prstGeom>
          <a:ln w="12700">
            <a:solidFill>
              <a:schemeClr val="accent5">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161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B47A0-4C3F-3804-CBD0-AD4036A68DEA}"/>
            </a:ext>
          </a:extLst>
        </p:cNvPr>
        <p:cNvGrpSpPr/>
        <p:nvPr/>
      </p:nvGrpSpPr>
      <p:grpSpPr>
        <a:xfrm>
          <a:off x="0" y="0"/>
          <a:ext cx="0" cy="0"/>
          <a:chOff x="0" y="0"/>
          <a:chExt cx="0" cy="0"/>
        </a:xfrm>
      </p:grpSpPr>
      <p:graphicFrame>
        <p:nvGraphicFramePr>
          <p:cNvPr id="6" name="Oggetto 5" hidden="1">
            <a:extLst>
              <a:ext uri="{FF2B5EF4-FFF2-40B4-BE49-F238E27FC236}">
                <a16:creationId xmlns:a16="http://schemas.microsoft.com/office/drawing/2014/main" id="{980B01D1-2872-3993-D348-F0A7778260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503" imgH="503" progId="TCLayout.ActiveDocument.1">
                  <p:embed/>
                </p:oleObj>
              </mc:Choice>
              <mc:Fallback>
                <p:oleObj name="Diapositiva think-cell" r:id="rId4" imgW="503" imgH="503" progId="TCLayout.ActiveDocument.1">
                  <p:embed/>
                  <p:pic>
                    <p:nvPicPr>
                      <p:cNvPr id="6" name="Oggetto 5" hidden="1">
                        <a:extLst>
                          <a:ext uri="{FF2B5EF4-FFF2-40B4-BE49-F238E27FC236}">
                            <a16:creationId xmlns:a16="http://schemas.microsoft.com/office/drawing/2014/main" id="{980B01D1-2872-3993-D348-F0A7778260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94C0E67A-95F8-162A-BA28-632B4387019F}"/>
              </a:ext>
            </a:extLst>
          </p:cNvPr>
          <p:cNvSpPr>
            <a:spLocks noGrp="1"/>
          </p:cNvSpPr>
          <p:nvPr>
            <p:ph type="body" sz="quarter" idx="11"/>
          </p:nvPr>
        </p:nvSpPr>
        <p:spPr>
          <a:xfrm>
            <a:off x="812799" y="251666"/>
            <a:ext cx="10388601" cy="782638"/>
          </a:xfrm>
        </p:spPr>
        <p:txBody>
          <a:bodyPr>
            <a:normAutofit/>
          </a:bodyPr>
          <a:lstStyle/>
          <a:p>
            <a:r>
              <a:rPr lang="en-GB" sz="3200" b="1" dirty="0" err="1">
                <a:latin typeface="Avenir Next LT Pro" panose="020B0504020202020204" pitchFamily="34" charset="77"/>
              </a:rPr>
              <a:t>Principali</a:t>
            </a:r>
            <a:r>
              <a:rPr lang="en-GB" sz="3200" b="1" dirty="0">
                <a:latin typeface="Avenir Next LT Pro" panose="020B0504020202020204" pitchFamily="34" charset="77"/>
              </a:rPr>
              <a:t> </a:t>
            </a:r>
            <a:r>
              <a:rPr lang="en-GB" sz="3200" b="1" dirty="0" err="1">
                <a:latin typeface="Avenir Next LT Pro" panose="020B0504020202020204" pitchFamily="34" charset="77"/>
              </a:rPr>
              <a:t>vantaggi</a:t>
            </a:r>
            <a:r>
              <a:rPr lang="en-GB" sz="3200" b="1" dirty="0">
                <a:latin typeface="Avenir Next LT Pro" panose="020B0504020202020204" pitchFamily="34" charset="77"/>
              </a:rPr>
              <a:t> </a:t>
            </a:r>
            <a:r>
              <a:rPr lang="en-GB" sz="3200" b="1" dirty="0" err="1">
                <a:latin typeface="Avenir Next LT Pro" panose="020B0504020202020204" pitchFamily="34" charset="77"/>
              </a:rPr>
              <a:t>dell’Assistenza</a:t>
            </a:r>
            <a:r>
              <a:rPr lang="en-GB" sz="3200" b="1" dirty="0">
                <a:latin typeface="Avenir Next LT Pro" panose="020B0504020202020204" pitchFamily="34" charset="77"/>
              </a:rPr>
              <a:t> Stradale</a:t>
            </a:r>
          </a:p>
        </p:txBody>
      </p:sp>
      <p:sp>
        <p:nvSpPr>
          <p:cNvPr id="18" name="Slide Number Placeholder 104">
            <a:extLst>
              <a:ext uri="{FF2B5EF4-FFF2-40B4-BE49-F238E27FC236}">
                <a16:creationId xmlns:a16="http://schemas.microsoft.com/office/drawing/2014/main" id="{A1ADFB77-A7BF-1625-5352-CBBCE860A9E1}"/>
              </a:ext>
            </a:extLst>
          </p:cNvPr>
          <p:cNvSpPr>
            <a:spLocks noGrp="1"/>
          </p:cNvSpPr>
          <p:nvPr>
            <p:ph type="sldNum" sz="quarter" idx="2"/>
          </p:nvPr>
        </p:nvSpPr>
        <p:spPr>
          <a:xfrm>
            <a:off x="11614996" y="6443521"/>
            <a:ext cx="409933" cy="27258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it-IT" sz="1200" b="0" i="0" u="none" strike="noStrike" kern="1200" cap="none" spc="0" normalizeH="0" baseline="0" noProof="0" smtClean="0">
                <a:ln>
                  <a:noFill/>
                </a:ln>
                <a:solidFill>
                  <a:srgbClr val="0057B7"/>
                </a:solidFill>
                <a:effectLst/>
                <a:uLnTx/>
                <a:uFillTx/>
                <a:latin typeface="Avenir Next LT Pro" panose="020B0504020202020204" pitchFamily="34" charset="77"/>
                <a:ea typeface="+mn-ea"/>
                <a:cs typeface="Poppins Medium" panose="02000000000000000000"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it-IT" sz="1200" b="0" i="0" u="none" strike="noStrike" kern="1200" cap="none" spc="0" normalizeH="0" baseline="0" noProof="0">
              <a:ln>
                <a:noFill/>
              </a:ln>
              <a:solidFill>
                <a:srgbClr val="0057B7"/>
              </a:solidFill>
              <a:effectLst/>
              <a:uLnTx/>
              <a:uFillTx/>
              <a:latin typeface="Avenir Next LT Pro" panose="020B0504020202020204" pitchFamily="34" charset="77"/>
              <a:ea typeface="+mn-ea"/>
              <a:cs typeface="Poppins Medium" panose="02000000000000000000" pitchFamily="2" charset="77"/>
            </a:endParaRPr>
          </a:p>
        </p:txBody>
      </p:sp>
      <p:grpSp>
        <p:nvGrpSpPr>
          <p:cNvPr id="13" name="Gruppo 12">
            <a:extLst>
              <a:ext uri="{FF2B5EF4-FFF2-40B4-BE49-F238E27FC236}">
                <a16:creationId xmlns:a16="http://schemas.microsoft.com/office/drawing/2014/main" id="{0CD4F9F8-92F3-F7B0-EC81-68DF2A4F0F30}"/>
              </a:ext>
            </a:extLst>
          </p:cNvPr>
          <p:cNvGrpSpPr/>
          <p:nvPr/>
        </p:nvGrpSpPr>
        <p:grpSpPr>
          <a:xfrm>
            <a:off x="237068" y="1857145"/>
            <a:ext cx="11768603" cy="4666453"/>
            <a:chOff x="237068" y="1162517"/>
            <a:chExt cx="11768603" cy="5103632"/>
          </a:xfrm>
        </p:grpSpPr>
        <p:sp>
          <p:nvSpPr>
            <p:cNvPr id="4" name="Rettangolo con angoli arrotondati 3">
              <a:extLst>
                <a:ext uri="{FF2B5EF4-FFF2-40B4-BE49-F238E27FC236}">
                  <a16:creationId xmlns:a16="http://schemas.microsoft.com/office/drawing/2014/main" id="{0DF3DE4F-07D3-4C5D-527A-58410CDDEFA7}"/>
                </a:ext>
              </a:extLst>
            </p:cNvPr>
            <p:cNvSpPr/>
            <p:nvPr/>
          </p:nvSpPr>
          <p:spPr>
            <a:xfrm>
              <a:off x="237068" y="1412527"/>
              <a:ext cx="7823964" cy="4819094"/>
            </a:xfrm>
            <a:prstGeom prst="roundRect">
              <a:avLst>
                <a:gd name="adj" fmla="val 0"/>
              </a:avLst>
            </a:prstGeom>
            <a:solidFill>
              <a:srgbClr val="FFF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165" name="CasellaDiTesto 164">
              <a:extLst>
                <a:ext uri="{FF2B5EF4-FFF2-40B4-BE49-F238E27FC236}">
                  <a16:creationId xmlns:a16="http://schemas.microsoft.com/office/drawing/2014/main" id="{EEC9BC36-DC1B-7475-BF0D-5375210BC9F8}"/>
                </a:ext>
              </a:extLst>
            </p:cNvPr>
            <p:cNvSpPr txBox="1"/>
            <p:nvPr/>
          </p:nvSpPr>
          <p:spPr>
            <a:xfrm>
              <a:off x="237069" y="1519937"/>
              <a:ext cx="8592605" cy="4746212"/>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Canone mensile molto</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basso</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solo </a:t>
              </a:r>
              <a:r>
                <a:rPr lang="it-IT" sz="1400" b="1" dirty="0">
                  <a:solidFill>
                    <a:srgbClr val="FF0000"/>
                  </a:solidFill>
                  <a:latin typeface="Segoe UI" panose="020B0502040204020203" pitchFamily="34" charset="0"/>
                </a:rPr>
                <a:t>43</a:t>
              </a:r>
              <a:r>
                <a:rPr kumimoji="0" lang="it-IT" sz="14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,2€ </a:t>
              </a:r>
              <a:r>
                <a:rPr lang="it-IT" sz="1400" b="1" dirty="0">
                  <a:solidFill>
                    <a:srgbClr val="FF0000"/>
                  </a:solidFill>
                  <a:latin typeface="Segoe UI" panose="020B0502040204020203" pitchFamily="34" charset="0"/>
                </a:rPr>
                <a:t>anno </a:t>
              </a:r>
              <a:r>
                <a:rPr lang="it-IT" sz="1400" b="1" dirty="0">
                  <a:solidFill>
                    <a:srgbClr val="242424"/>
                  </a:solidFill>
                  <a:latin typeface="Segoe UI" panose="020B0502040204020203" pitchFamily="34" charset="0"/>
                </a:rPr>
                <a:t>per </a:t>
              </a:r>
              <a:r>
                <a:rPr lang="it-IT" sz="1400" b="1" dirty="0">
                  <a:solidFill>
                    <a:srgbClr val="FF0000"/>
                  </a:solidFill>
                  <a:latin typeface="Segoe UI" panose="020B0502040204020203" pitchFamily="34" charset="0"/>
                </a:rPr>
                <a:t>Premium Europa</a:t>
              </a:r>
              <a:endParaRPr kumimoji="0" lang="it-IT" sz="14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endParaRPr>
            </a:p>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Possibilità di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coprire fino a </a:t>
              </a:r>
              <a:r>
                <a:rPr kumimoji="0" lang="it-IT" sz="14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2 veicoli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e di </a:t>
              </a:r>
              <a:r>
                <a:rPr kumimoji="0" lang="it-IT" sz="1400" b="1" i="0" strike="noStrike" kern="1200" cap="none" spc="0" normalizeH="0" baseline="0" noProof="0" dirty="0">
                  <a:ln>
                    <a:noFill/>
                  </a:ln>
                  <a:solidFill>
                    <a:srgbClr val="FF0000"/>
                  </a:solidFill>
                  <a:effectLst/>
                  <a:uLnTx/>
                  <a:uFillTx/>
                  <a:latin typeface="Segoe UI" panose="020B0502040204020203" pitchFamily="34" charset="0"/>
                  <a:ea typeface="+mn-ea"/>
                  <a:cs typeface="+mn-cs"/>
                </a:rPr>
                <a:t>modificare le targhe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dei veicoli coperti (24h dopo)</a:t>
              </a:r>
            </a:p>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Soccorso Stradale gratuito h24 – 7/7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in caso di guasto, incendio o incidente </a:t>
              </a:r>
              <a:r>
                <a:rPr kumimoji="0" lang="it-IT" sz="1400" b="1" i="0" u="none" strike="noStrike" kern="1200" cap="none" spc="0" normalizeH="0" baseline="0" noProof="0" dirty="0">
                  <a:ln>
                    <a:noFill/>
                  </a:ln>
                  <a:solidFill>
                    <a:srgbClr val="FF0000"/>
                  </a:solidFill>
                  <a:effectLst/>
                  <a:uLnTx/>
                  <a:uFillTx/>
                  <a:latin typeface="Segoe UI" panose="020B0502040204020203" pitchFamily="34" charset="0"/>
                  <a:ea typeface="+mn-ea"/>
                  <a:cs typeface="+mn-cs"/>
                </a:rPr>
                <a:t>in autostrada e su altre strade a viabilità ordinaria</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a:t>
              </a:r>
              <a:r>
                <a:rPr kumimoji="0" lang="it-IT" sz="140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t>
              </a:r>
              <a:r>
                <a:rPr lang="it-IT" sz="1400" dirty="0">
                  <a:solidFill>
                    <a:srgbClr val="242424"/>
                  </a:solidFill>
                  <a:latin typeface="Segoe UI" panose="020B0502040204020203" pitchFamily="34" charset="0"/>
                </a:rPr>
                <a:t>limite di percorrenza per il traino del veicolo sino all’officina più vicina senza alcun esborso</a:t>
              </a:r>
              <a:r>
                <a:rPr kumimoji="0" lang="it-IT" sz="140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t>
              </a:r>
            </a:p>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Rapido Soccorso e </a:t>
              </a:r>
              <a:r>
                <a:rPr kumimoji="0" lang="it-IT" sz="1400" b="1" i="0" u="none" strike="noStrike" kern="1200" cap="none" spc="0" normalizeH="0" baseline="0" noProof="0" dirty="0" err="1">
                  <a:ln>
                    <a:noFill/>
                  </a:ln>
                  <a:solidFill>
                    <a:srgbClr val="FF0000"/>
                  </a:solidFill>
                  <a:effectLst/>
                  <a:uLnTx/>
                  <a:uFillTx/>
                  <a:latin typeface="Segoe UI" panose="020B0502040204020203" pitchFamily="34" charset="0"/>
                  <a:ea typeface="+mn-ea"/>
                  <a:cs typeface="+mn-cs"/>
                </a:rPr>
                <a:t>Depannage</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 le piccole riparazioni (sostituzioni pneumatici, ricarica batteria o rifornimento) in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Italia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ed in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Europa</a:t>
              </a:r>
            </a:p>
            <a:p>
              <a:pPr marL="179388" indent="-179388">
                <a:spcAft>
                  <a:spcPts val="1200"/>
                </a:spcAft>
                <a:buFont typeface="Arial" panose="020B0604020202020204" pitchFamily="34" charset="0"/>
                <a:buChar char="•"/>
                <a:defRPr/>
              </a:pPr>
              <a:r>
                <a:rPr lang="it-IT" sz="1400" b="1" dirty="0">
                  <a:solidFill>
                    <a:srgbClr val="242424"/>
                  </a:solidFill>
                  <a:latin typeface="Segoe UI" panose="020B0502040204020203" pitchFamily="34" charset="0"/>
                </a:rPr>
                <a:t>Numero </a:t>
              </a:r>
              <a:r>
                <a:rPr lang="it-IT" sz="1400" b="1" dirty="0">
                  <a:solidFill>
                    <a:srgbClr val="FF0000"/>
                  </a:solidFill>
                  <a:latin typeface="Segoe UI" panose="020B0502040204020203" pitchFamily="34" charset="0"/>
                </a:rPr>
                <a:t>chiamate illimitate </a:t>
              </a:r>
              <a:r>
                <a:rPr lang="it-IT" sz="1400" b="1" dirty="0">
                  <a:solidFill>
                    <a:srgbClr val="242424"/>
                  </a:solidFill>
                  <a:latin typeface="Segoe UI" panose="020B0502040204020203" pitchFamily="34" charset="0"/>
                </a:rPr>
                <a:t>nell’anno</a:t>
              </a:r>
            </a:p>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Auto sostitutiva </a:t>
              </a:r>
              <a:r>
                <a:rPr kumimoji="0" lang="it-IT" sz="140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a:t>
              </a:r>
              <a:r>
                <a:rPr lang="it-IT" sz="1400" dirty="0">
                  <a:solidFill>
                    <a:srgbClr val="242424"/>
                  </a:solidFill>
                  <a:latin typeface="Segoe UI" panose="020B0502040204020203" pitchFamily="34" charset="0"/>
                </a:rPr>
                <a:t>qualora il veicolo non sia riparabile in giornata</a:t>
              </a:r>
              <a:r>
                <a:rPr kumimoji="0" lang="it-IT" sz="140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fino a 5 giorni </a:t>
              </a:r>
              <a:r>
                <a:rPr kumimoji="0" lang="it-IT" sz="140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 non interrompere il viaggio del cliente</a:t>
              </a:r>
            </a:p>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Servizio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taxi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in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Italia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ed in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Europa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fino ad un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massimo di 80€ a viaggio</a:t>
              </a:r>
            </a:p>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150€ a persona </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per notte e fino ad un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massimo di 500€</a:t>
              </a:r>
              <a:r>
                <a:rPr kumimoji="0" lang="it-IT" sz="14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 in caso di riparazione non in giornata e conseguente </a:t>
              </a:r>
              <a:r>
                <a:rPr kumimoji="0" lang="it-IT" sz="14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pernottamento in albergo</a:t>
              </a:r>
            </a:p>
            <a:p>
              <a:pPr marL="179388" indent="-179388">
                <a:spcAft>
                  <a:spcPts val="1200"/>
                </a:spcAft>
                <a:buFont typeface="Arial" panose="020B0604020202020204" pitchFamily="34" charset="0"/>
                <a:buChar char="•"/>
                <a:defRPr/>
              </a:pPr>
              <a:r>
                <a:rPr lang="it-IT" sz="1400" b="1" dirty="0">
                  <a:solidFill>
                    <a:srgbClr val="242424"/>
                  </a:solidFill>
                  <a:latin typeface="Segoe UI" panose="020B0502040204020203" pitchFamily="34" charset="0"/>
                </a:rPr>
                <a:t>Sconto 10% </a:t>
              </a:r>
              <a:r>
                <a:rPr lang="it-IT" sz="1400" dirty="0">
                  <a:solidFill>
                    <a:srgbClr val="242424"/>
                  </a:solidFill>
                  <a:latin typeface="Segoe UI" panose="020B0502040204020203" pitchFamily="34" charset="0"/>
                </a:rPr>
                <a:t>su manodopera su rete convenzionata Allianz</a:t>
              </a:r>
            </a:p>
          </p:txBody>
        </p:sp>
        <p:grpSp>
          <p:nvGrpSpPr>
            <p:cNvPr id="5" name="Gruppo 4">
              <a:extLst>
                <a:ext uri="{FF2B5EF4-FFF2-40B4-BE49-F238E27FC236}">
                  <a16:creationId xmlns:a16="http://schemas.microsoft.com/office/drawing/2014/main" id="{4F9F98BB-BE91-3D93-8A14-92FD0ED82302}"/>
                </a:ext>
              </a:extLst>
            </p:cNvPr>
            <p:cNvGrpSpPr/>
            <p:nvPr/>
          </p:nvGrpSpPr>
          <p:grpSpPr>
            <a:xfrm>
              <a:off x="1929680" y="1162517"/>
              <a:ext cx="4403388" cy="271053"/>
              <a:chOff x="1834962" y="1059056"/>
              <a:chExt cx="4403388" cy="271053"/>
            </a:xfrm>
          </p:grpSpPr>
          <p:sp>
            <p:nvSpPr>
              <p:cNvPr id="11" name="Rectangle: Rounded Corners 18">
                <a:extLst>
                  <a:ext uri="{FF2B5EF4-FFF2-40B4-BE49-F238E27FC236}">
                    <a16:creationId xmlns:a16="http://schemas.microsoft.com/office/drawing/2014/main" id="{9219D7A5-D08C-5897-4D57-B3479679554B}"/>
                  </a:ext>
                </a:extLst>
              </p:cNvPr>
              <p:cNvSpPr/>
              <p:nvPr/>
            </p:nvSpPr>
            <p:spPr>
              <a:xfrm>
                <a:off x="1834962" y="1063350"/>
                <a:ext cx="4403388" cy="263896"/>
              </a:xfrm>
              <a:prstGeom prst="roundRect">
                <a:avLst>
                  <a:gd name="adj" fmla="val 22341"/>
                </a:avLst>
              </a:prstGeom>
              <a:solidFill>
                <a:srgbClr val="FAE0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000000"/>
                    </a:solidFill>
                    <a:effectLst/>
                    <a:uLnTx/>
                    <a:uFillTx/>
                    <a:latin typeface="Poppins"/>
                    <a:ea typeface="+mn-ea"/>
                    <a:cs typeface="+mn-cs"/>
                  </a:rPr>
                  <a:t>Aspetti</a:t>
                </a:r>
                <a:r>
                  <a:rPr kumimoji="0" lang="en-US" sz="1200" b="1" i="0" u="none" strike="noStrike" kern="1200" cap="none" spc="0" normalizeH="0" baseline="0" noProof="0" dirty="0">
                    <a:ln>
                      <a:noFill/>
                    </a:ln>
                    <a:solidFill>
                      <a:srgbClr val="000000"/>
                    </a:solidFill>
                    <a:effectLst/>
                    <a:uLnTx/>
                    <a:uFillTx/>
                    <a:latin typeface="Poppins"/>
                    <a:ea typeface="+mn-ea"/>
                    <a:cs typeface="+mn-cs"/>
                  </a:rPr>
                  <a:t> da </a:t>
                </a:r>
                <a:r>
                  <a:rPr kumimoji="0" lang="en-US" sz="1200" b="1" i="0" u="none" strike="noStrike" kern="1200" cap="none" spc="0" normalizeH="0" baseline="0" noProof="0" dirty="0" err="1">
                    <a:ln>
                      <a:noFill/>
                    </a:ln>
                    <a:solidFill>
                      <a:srgbClr val="000000"/>
                    </a:solidFill>
                    <a:effectLst/>
                    <a:uLnTx/>
                    <a:uFillTx/>
                    <a:latin typeface="Poppins"/>
                    <a:ea typeface="+mn-ea"/>
                    <a:cs typeface="+mn-cs"/>
                  </a:rPr>
                  <a:t>evidenziare</a:t>
                </a:r>
                <a:endParaRPr kumimoji="0" lang="en-US" sz="1200" b="1" i="0" u="none" strike="noStrike" kern="1200" cap="none" spc="0" normalizeH="0" baseline="0" noProof="0" dirty="0">
                  <a:ln>
                    <a:noFill/>
                  </a:ln>
                  <a:solidFill>
                    <a:srgbClr val="000000"/>
                  </a:solidFill>
                  <a:effectLst/>
                  <a:uLnTx/>
                  <a:uFillTx/>
                  <a:latin typeface="Poppins"/>
                  <a:ea typeface="+mn-ea"/>
                  <a:cs typeface="+mn-cs"/>
                </a:endParaRPr>
              </a:p>
            </p:txBody>
          </p:sp>
          <p:pic>
            <p:nvPicPr>
              <p:cNvPr id="12" name="Immagine 11">
                <a:extLst>
                  <a:ext uri="{FF2B5EF4-FFF2-40B4-BE49-F238E27FC236}">
                    <a16:creationId xmlns:a16="http://schemas.microsoft.com/office/drawing/2014/main" id="{6580F1E9-77FC-38A9-1B15-28D3437B10FF}"/>
                  </a:ext>
                </a:extLst>
              </p:cNvPr>
              <p:cNvPicPr>
                <a:picLocks noChangeAspect="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58420" y="1059056"/>
                <a:ext cx="1013115" cy="271053"/>
              </a:xfrm>
              <a:prstGeom prst="rect">
                <a:avLst/>
              </a:prstGeom>
            </p:spPr>
          </p:pic>
        </p:grpSp>
        <p:grpSp>
          <p:nvGrpSpPr>
            <p:cNvPr id="7" name="Gruppo 6">
              <a:extLst>
                <a:ext uri="{FF2B5EF4-FFF2-40B4-BE49-F238E27FC236}">
                  <a16:creationId xmlns:a16="http://schemas.microsoft.com/office/drawing/2014/main" id="{934E76F1-8A01-60F5-CDA2-51B6EAE7E2D4}"/>
                </a:ext>
              </a:extLst>
            </p:cNvPr>
            <p:cNvGrpSpPr/>
            <p:nvPr/>
          </p:nvGrpSpPr>
          <p:grpSpPr>
            <a:xfrm>
              <a:off x="8829674" y="1519937"/>
              <a:ext cx="3175997" cy="4311482"/>
              <a:chOff x="9307775" y="1519937"/>
              <a:chExt cx="6355866" cy="4311482"/>
            </a:xfrm>
            <a:solidFill>
              <a:schemeClr val="bg1">
                <a:lumMod val="95000"/>
              </a:schemeClr>
            </a:solidFill>
          </p:grpSpPr>
          <p:sp>
            <p:nvSpPr>
              <p:cNvPr id="15" name="CasellaDiTesto 14">
                <a:extLst>
                  <a:ext uri="{FF2B5EF4-FFF2-40B4-BE49-F238E27FC236}">
                    <a16:creationId xmlns:a16="http://schemas.microsoft.com/office/drawing/2014/main" id="{978D08CB-7921-069B-C91E-D9BE5D438D38}"/>
                  </a:ext>
                </a:extLst>
              </p:cNvPr>
              <p:cNvSpPr txBox="1"/>
              <p:nvPr/>
            </p:nvSpPr>
            <p:spPr>
              <a:xfrm>
                <a:off x="9307775" y="1519937"/>
                <a:ext cx="6355866" cy="338556"/>
              </a:xfrm>
              <a:prstGeom prst="rect">
                <a:avLst/>
              </a:prstGeom>
              <a:grpFill/>
            </p:spPr>
            <p:txBody>
              <a:bodyPr wrap="square">
                <a:no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it-IT" sz="1400" dirty="0">
                    <a:solidFill>
                      <a:srgbClr val="000000"/>
                    </a:solidFill>
                    <a:latin typeface="Segoe UI" panose="020B0502040204020203" pitchFamily="34" charset="0"/>
                  </a:rPr>
                  <a:t>c</a:t>
                </a:r>
                <a:r>
                  <a:rPr kumimoji="0" lang="it-IT"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anone mediamente più alto</a:t>
                </a:r>
              </a:p>
            </p:txBody>
          </p:sp>
          <p:sp>
            <p:nvSpPr>
              <p:cNvPr id="20" name="CasellaDiTesto 19">
                <a:extLst>
                  <a:ext uri="{FF2B5EF4-FFF2-40B4-BE49-F238E27FC236}">
                    <a16:creationId xmlns:a16="http://schemas.microsoft.com/office/drawing/2014/main" id="{3BE7129D-3F86-8A2A-6CCD-3B7265B19568}"/>
                  </a:ext>
                </a:extLst>
              </p:cNvPr>
              <p:cNvSpPr txBox="1"/>
              <p:nvPr/>
            </p:nvSpPr>
            <p:spPr>
              <a:xfrm>
                <a:off x="9307775" y="1948990"/>
                <a:ext cx="6355866" cy="338553"/>
              </a:xfrm>
              <a:prstGeom prst="rect">
                <a:avLst/>
              </a:prstGeom>
              <a:solidFill>
                <a:schemeClr val="bg1">
                  <a:lumMod val="95000"/>
                </a:schemeClr>
              </a:solidFill>
            </p:spPr>
            <p:txBody>
              <a:bodyPr wrap="square">
                <a:no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1 solo veicolo non modificabile</a:t>
                </a:r>
              </a:p>
            </p:txBody>
          </p:sp>
          <p:sp>
            <p:nvSpPr>
              <p:cNvPr id="25" name="CasellaDiTesto 24">
                <a:extLst>
                  <a:ext uri="{FF2B5EF4-FFF2-40B4-BE49-F238E27FC236}">
                    <a16:creationId xmlns:a16="http://schemas.microsoft.com/office/drawing/2014/main" id="{BAD7D478-7BF1-F82C-B905-754448FCD21A}"/>
                  </a:ext>
                </a:extLst>
              </p:cNvPr>
              <p:cNvSpPr txBox="1"/>
              <p:nvPr/>
            </p:nvSpPr>
            <p:spPr>
              <a:xfrm>
                <a:off x="9307775" y="4444276"/>
                <a:ext cx="6355866" cy="338551"/>
              </a:xfrm>
              <a:prstGeom prst="rect">
                <a:avLst/>
              </a:prstGeom>
              <a:solidFill>
                <a:schemeClr val="bg1">
                  <a:lumMod val="95000"/>
                </a:schemeClr>
              </a:solidFill>
            </p:spPr>
            <p:txBody>
              <a:bodyPr wrap="square">
                <a:no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 certi casi non prevista</a:t>
                </a:r>
              </a:p>
            </p:txBody>
          </p:sp>
          <p:sp>
            <p:nvSpPr>
              <p:cNvPr id="26" name="CasellaDiTesto 25">
                <a:extLst>
                  <a:ext uri="{FF2B5EF4-FFF2-40B4-BE49-F238E27FC236}">
                    <a16:creationId xmlns:a16="http://schemas.microsoft.com/office/drawing/2014/main" id="{4952B8ED-B89D-E12D-C59B-637F2054133E}"/>
                  </a:ext>
                </a:extLst>
              </p:cNvPr>
              <p:cNvSpPr txBox="1"/>
              <p:nvPr/>
            </p:nvSpPr>
            <p:spPr>
              <a:xfrm>
                <a:off x="9307775" y="4862910"/>
                <a:ext cx="6355866" cy="338551"/>
              </a:xfrm>
              <a:prstGeom prst="rect">
                <a:avLst/>
              </a:prstGeom>
              <a:solidFill>
                <a:schemeClr val="bg1">
                  <a:lumMod val="95000"/>
                </a:schemeClr>
              </a:solidFill>
            </p:spPr>
            <p:txBody>
              <a:bodyPr wrap="square">
                <a:no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 media 50€, altri casi non previsto</a:t>
                </a:r>
              </a:p>
            </p:txBody>
          </p:sp>
          <p:sp>
            <p:nvSpPr>
              <p:cNvPr id="27" name="CasellaDiTesto 26">
                <a:extLst>
                  <a:ext uri="{FF2B5EF4-FFF2-40B4-BE49-F238E27FC236}">
                    <a16:creationId xmlns:a16="http://schemas.microsoft.com/office/drawing/2014/main" id="{37CADDA1-F824-D0B2-336D-3B4945D9C186}"/>
                  </a:ext>
                </a:extLst>
              </p:cNvPr>
              <p:cNvSpPr txBox="1"/>
              <p:nvPr/>
            </p:nvSpPr>
            <p:spPr>
              <a:xfrm>
                <a:off x="9307775" y="5492863"/>
                <a:ext cx="6355866" cy="338556"/>
              </a:xfrm>
              <a:prstGeom prst="rect">
                <a:avLst/>
              </a:prstGeom>
              <a:solidFill>
                <a:schemeClr val="bg1">
                  <a:lumMod val="95000"/>
                </a:schemeClr>
              </a:solidFill>
            </p:spPr>
            <p:txBody>
              <a:bodyPr wrap="square">
                <a:no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 media 100€ a persona</a:t>
                </a:r>
              </a:p>
            </p:txBody>
          </p:sp>
        </p:grpSp>
        <p:sp>
          <p:nvSpPr>
            <p:cNvPr id="17" name="Rectangle: Rounded Corners 18">
              <a:extLst>
                <a:ext uri="{FF2B5EF4-FFF2-40B4-BE49-F238E27FC236}">
                  <a16:creationId xmlns:a16="http://schemas.microsoft.com/office/drawing/2014/main" id="{2E158008-9E1B-FBBD-78C2-3D10A2220113}"/>
                </a:ext>
              </a:extLst>
            </p:cNvPr>
            <p:cNvSpPr/>
            <p:nvPr/>
          </p:nvSpPr>
          <p:spPr>
            <a:xfrm>
              <a:off x="8929406" y="1166811"/>
              <a:ext cx="2928467" cy="263896"/>
            </a:xfrm>
            <a:prstGeom prst="roundRect">
              <a:avLst>
                <a:gd name="adj" fmla="val 22341"/>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Poppins"/>
                  <a:ea typeface="+mn-ea"/>
                  <a:cs typeface="+mn-cs"/>
                </a:rPr>
                <a:t>Cosa </a:t>
              </a:r>
              <a:r>
                <a:rPr kumimoji="0" lang="en-US" sz="1100" b="1" i="0" u="none" strike="noStrike" kern="1200" cap="none" spc="0" normalizeH="0" baseline="0" noProof="0" dirty="0" err="1">
                  <a:ln>
                    <a:noFill/>
                  </a:ln>
                  <a:solidFill>
                    <a:srgbClr val="FFFFFF"/>
                  </a:solidFill>
                  <a:effectLst/>
                  <a:uLnTx/>
                  <a:uFillTx/>
                  <a:latin typeface="Poppins"/>
                  <a:ea typeface="+mn-ea"/>
                  <a:cs typeface="+mn-cs"/>
                </a:rPr>
                <a:t>fanno</a:t>
              </a:r>
              <a:r>
                <a:rPr kumimoji="0" lang="en-US" sz="1100" b="1" i="0" u="none" strike="noStrike" kern="1200" cap="none" spc="0" normalizeH="0" baseline="0" noProof="0" dirty="0">
                  <a:ln>
                    <a:noFill/>
                  </a:ln>
                  <a:solidFill>
                    <a:srgbClr val="FFFFFF"/>
                  </a:solidFill>
                  <a:effectLst/>
                  <a:uLnTx/>
                  <a:uFillTx/>
                  <a:latin typeface="Poppins"/>
                  <a:ea typeface="+mn-ea"/>
                  <a:cs typeface="+mn-cs"/>
                </a:rPr>
                <a:t> </a:t>
              </a:r>
              <a:r>
                <a:rPr kumimoji="0" lang="en-US" sz="1100" b="1" i="0" u="none" strike="noStrike" kern="1200" cap="none" spc="0" normalizeH="0" baseline="0" noProof="0" dirty="0" err="1">
                  <a:ln>
                    <a:noFill/>
                  </a:ln>
                  <a:solidFill>
                    <a:srgbClr val="FFFFFF"/>
                  </a:solidFill>
                  <a:effectLst/>
                  <a:uLnTx/>
                  <a:uFillTx/>
                  <a:latin typeface="Poppins"/>
                  <a:ea typeface="+mn-ea"/>
                  <a:cs typeface="+mn-cs"/>
                </a:rPr>
                <a:t>i</a:t>
              </a:r>
              <a:r>
                <a:rPr kumimoji="0" lang="en-US" sz="1100" b="1" i="0" u="none" strike="noStrike" kern="1200" cap="none" spc="0" normalizeH="0" baseline="0" noProof="0" dirty="0">
                  <a:ln>
                    <a:noFill/>
                  </a:ln>
                  <a:solidFill>
                    <a:srgbClr val="FFFFFF"/>
                  </a:solidFill>
                  <a:effectLst/>
                  <a:uLnTx/>
                  <a:uFillTx/>
                  <a:latin typeface="Poppins"/>
                  <a:ea typeface="+mn-ea"/>
                  <a:cs typeface="+mn-cs"/>
                </a:rPr>
                <a:t> Competitors?</a:t>
              </a:r>
            </a:p>
          </p:txBody>
        </p:sp>
      </p:grpSp>
      <p:sp>
        <p:nvSpPr>
          <p:cNvPr id="160" name="Rettangolo 159">
            <a:extLst>
              <a:ext uri="{FF2B5EF4-FFF2-40B4-BE49-F238E27FC236}">
                <a16:creationId xmlns:a16="http://schemas.microsoft.com/office/drawing/2014/main" id="{85AE9B7E-83AD-58A2-7903-0AB5F8453500}"/>
              </a:ext>
            </a:extLst>
          </p:cNvPr>
          <p:cNvSpPr/>
          <p:nvPr/>
        </p:nvSpPr>
        <p:spPr>
          <a:xfrm>
            <a:off x="237068" y="1179343"/>
            <a:ext cx="11804136" cy="510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FFFFFF"/>
                </a:solidFill>
                <a:effectLst/>
                <a:uLnTx/>
                <a:uFillTx/>
                <a:latin typeface="Poppins"/>
                <a:ea typeface="+mn-ea"/>
                <a:cs typeface="+mn-cs"/>
              </a:rPr>
              <a:t>Assistenza Stradale di Telepass </a:t>
            </a:r>
            <a:r>
              <a:rPr kumimoji="0" lang="it-IT" sz="1400" b="0" i="0" u="none" strike="noStrike" kern="1200" cap="none" spc="0" normalizeH="0" baseline="0" noProof="0" dirty="0">
                <a:ln>
                  <a:noFill/>
                </a:ln>
                <a:solidFill>
                  <a:srgbClr val="FFFFFF"/>
                </a:solidFill>
                <a:effectLst/>
                <a:uLnTx/>
                <a:uFillTx/>
                <a:latin typeface="Poppins"/>
                <a:ea typeface="+mn-ea"/>
                <a:cs typeface="+mn-cs"/>
              </a:rPr>
              <a:t>è l’</a:t>
            </a:r>
            <a:r>
              <a:rPr kumimoji="0" lang="it-IT" sz="1400" b="1" i="0" u="none" strike="noStrike" kern="1200" cap="none" spc="0" normalizeH="0" baseline="0" noProof="0" dirty="0">
                <a:ln>
                  <a:noFill/>
                </a:ln>
                <a:solidFill>
                  <a:srgbClr val="FFFFFF"/>
                </a:solidFill>
                <a:effectLst/>
                <a:uLnTx/>
                <a:uFillTx/>
                <a:latin typeface="Poppins"/>
                <a:ea typeface="+mn-ea"/>
                <a:cs typeface="+mn-cs"/>
              </a:rPr>
              <a:t>unica </a:t>
            </a:r>
            <a:r>
              <a:rPr kumimoji="0" lang="it-IT" sz="1400" b="0" i="0" u="none" strike="noStrike" kern="1200" cap="none" spc="0" normalizeH="0" baseline="0" noProof="0" dirty="0">
                <a:ln>
                  <a:noFill/>
                </a:ln>
                <a:solidFill>
                  <a:srgbClr val="FFFFFF"/>
                </a:solidFill>
                <a:effectLst/>
                <a:uLnTx/>
                <a:uFillTx/>
                <a:latin typeface="Poppins"/>
                <a:ea typeface="+mn-ea"/>
                <a:cs typeface="+mn-cs"/>
              </a:rPr>
              <a:t>assistenza stradale attivabile </a:t>
            </a:r>
            <a:r>
              <a:rPr kumimoji="0" lang="it-IT" sz="1400" b="1" i="0" u="none" strike="noStrike" kern="1200" cap="none" spc="0" normalizeH="0" baseline="0" noProof="0" dirty="0">
                <a:ln>
                  <a:noFill/>
                </a:ln>
                <a:solidFill>
                  <a:srgbClr val="FFFFFF"/>
                </a:solidFill>
                <a:effectLst/>
                <a:uLnTx/>
                <a:uFillTx/>
                <a:latin typeface="Poppins"/>
                <a:ea typeface="+mn-ea"/>
                <a:cs typeface="+mn-cs"/>
              </a:rPr>
              <a:t>contemporaneamente su 2 veicoli </a:t>
            </a:r>
            <a:r>
              <a:rPr kumimoji="0" lang="it-IT" sz="1400" b="0" i="0" u="none" strike="noStrike" kern="1200" cap="none" spc="0" normalizeH="0" baseline="0" noProof="0" dirty="0">
                <a:ln>
                  <a:noFill/>
                </a:ln>
                <a:solidFill>
                  <a:srgbClr val="FFFFFF"/>
                </a:solidFill>
                <a:effectLst/>
                <a:uLnTx/>
                <a:uFillTx/>
                <a:latin typeface="Poppins"/>
                <a:ea typeface="+mn-ea"/>
                <a:cs typeface="+mn-cs"/>
              </a:rPr>
              <a:t>al </a:t>
            </a:r>
            <a:r>
              <a:rPr kumimoji="0" lang="it-IT" sz="1400" b="1" i="0" u="none" strike="noStrike" kern="1200" cap="none" spc="0" normalizeH="0" baseline="0" noProof="0" dirty="0">
                <a:ln>
                  <a:noFill/>
                </a:ln>
                <a:solidFill>
                  <a:srgbClr val="FFFFFF"/>
                </a:solidFill>
                <a:effectLst/>
                <a:uLnTx/>
                <a:uFillTx/>
                <a:latin typeface="Poppins"/>
                <a:ea typeface="+mn-ea"/>
                <a:cs typeface="+mn-cs"/>
              </a:rPr>
              <a:t>prezzo più basso sul mercato</a:t>
            </a:r>
            <a:r>
              <a:rPr lang="it-IT" sz="1400" dirty="0">
                <a:solidFill>
                  <a:srgbClr val="FFFFFF"/>
                </a:solidFill>
                <a:latin typeface="Poppins"/>
              </a:rPr>
              <a:t>, anche a fronte di eventuale aumento prezzo.</a:t>
            </a:r>
            <a:r>
              <a:rPr kumimoji="0" lang="it-IT" sz="1400" b="0" i="0" u="none" strike="noStrike" kern="1200" cap="none" spc="0" normalizeH="0" baseline="0" noProof="0" dirty="0">
                <a:ln>
                  <a:noFill/>
                </a:ln>
                <a:solidFill>
                  <a:srgbClr val="FFFFFF"/>
                </a:solidFill>
                <a:effectLst/>
                <a:uLnTx/>
                <a:uFillTx/>
                <a:latin typeface="Poppins"/>
                <a:ea typeface="+mn-ea"/>
                <a:cs typeface="+mn-cs"/>
              </a:rPr>
              <a:t> </a:t>
            </a:r>
            <a:endParaRPr kumimoji="0" lang="it-IT" sz="1400" b="1" i="0" u="none" strike="noStrike" kern="1200" cap="none" spc="0" normalizeH="0" baseline="0" noProof="0" dirty="0">
              <a:ln>
                <a:noFill/>
              </a:ln>
              <a:solidFill>
                <a:srgbClr val="FFFFFF"/>
              </a:solidFill>
              <a:effectLst/>
              <a:uLnTx/>
              <a:uFillTx/>
              <a:latin typeface="Poppins"/>
              <a:ea typeface="+mn-ea"/>
              <a:cs typeface="+mn-cs"/>
            </a:endParaRPr>
          </a:p>
        </p:txBody>
      </p:sp>
      <p:sp>
        <p:nvSpPr>
          <p:cNvPr id="10" name="CasellaDiTesto 9">
            <a:extLst>
              <a:ext uri="{FF2B5EF4-FFF2-40B4-BE49-F238E27FC236}">
                <a16:creationId xmlns:a16="http://schemas.microsoft.com/office/drawing/2014/main" id="{DEACD197-0F05-7EFC-64D7-570FD277184D}"/>
              </a:ext>
            </a:extLst>
          </p:cNvPr>
          <p:cNvSpPr txBox="1"/>
          <p:nvPr/>
        </p:nvSpPr>
        <p:spPr>
          <a:xfrm>
            <a:off x="812799" y="731893"/>
            <a:ext cx="8702591" cy="338554"/>
          </a:xfrm>
          <a:prstGeom prst="rect">
            <a:avLst/>
          </a:prstGeom>
          <a:noFill/>
        </p:spPr>
        <p:txBody>
          <a:bodyPr wrap="square">
            <a:spAutoFit/>
          </a:bodyPr>
          <a:lstStyle/>
          <a:p>
            <a:r>
              <a:rPr lang="it-IT" sz="1600" dirty="0">
                <a:highlight>
                  <a:srgbClr val="00FF00"/>
                </a:highlight>
              </a:rPr>
              <a:t>N.B. Valida per contratti </a:t>
            </a:r>
            <a:r>
              <a:rPr lang="it-IT" sz="1600" b="1" dirty="0">
                <a:highlight>
                  <a:srgbClr val="00FF00"/>
                </a:highlight>
              </a:rPr>
              <a:t>Family</a:t>
            </a:r>
            <a:r>
              <a:rPr lang="it-IT" sz="1600" dirty="0">
                <a:highlight>
                  <a:srgbClr val="00FF00"/>
                </a:highlight>
              </a:rPr>
              <a:t> e </a:t>
            </a:r>
            <a:r>
              <a:rPr lang="it-IT" sz="1600" b="1" dirty="0">
                <a:highlight>
                  <a:srgbClr val="00FF00"/>
                </a:highlight>
              </a:rPr>
              <a:t>Business</a:t>
            </a:r>
            <a:r>
              <a:rPr lang="it-IT" sz="1600" dirty="0">
                <a:highlight>
                  <a:srgbClr val="00FF00"/>
                </a:highlight>
              </a:rPr>
              <a:t> per </a:t>
            </a:r>
            <a:r>
              <a:rPr lang="it-IT" sz="1600" b="1" dirty="0">
                <a:solidFill>
                  <a:srgbClr val="FF0000"/>
                </a:solidFill>
                <a:highlight>
                  <a:srgbClr val="00FF00"/>
                </a:highlight>
              </a:rPr>
              <a:t>veicoli fino a 35 quintali </a:t>
            </a:r>
            <a:r>
              <a:rPr lang="it-IT" sz="1600" dirty="0">
                <a:highlight>
                  <a:srgbClr val="00FF00"/>
                </a:highlight>
              </a:rPr>
              <a:t>(esclusi autobus)</a:t>
            </a:r>
            <a:endParaRPr lang="it-IT" sz="1600" dirty="0"/>
          </a:p>
        </p:txBody>
      </p:sp>
      <p:pic>
        <p:nvPicPr>
          <p:cNvPr id="19" name="Immagine 18">
            <a:extLst>
              <a:ext uri="{FF2B5EF4-FFF2-40B4-BE49-F238E27FC236}">
                <a16:creationId xmlns:a16="http://schemas.microsoft.com/office/drawing/2014/main" id="{BFC1E981-E465-717F-A76B-53BAF2F78ADF}"/>
              </a:ext>
            </a:extLst>
          </p:cNvPr>
          <p:cNvPicPr>
            <a:picLocks noChangeAspect="1"/>
          </p:cNvPicPr>
          <p:nvPr/>
        </p:nvPicPr>
        <p:blipFill>
          <a:blip r:embed="rId7"/>
          <a:stretch>
            <a:fillRect/>
          </a:stretch>
        </p:blipFill>
        <p:spPr>
          <a:xfrm>
            <a:off x="9515390" y="169997"/>
            <a:ext cx="1496852" cy="900450"/>
          </a:xfrm>
          <a:prstGeom prst="rect">
            <a:avLst/>
          </a:prstGeom>
        </p:spPr>
      </p:pic>
      <p:cxnSp>
        <p:nvCxnSpPr>
          <p:cNvPr id="16" name="Connettore diritto 15">
            <a:extLst>
              <a:ext uri="{FF2B5EF4-FFF2-40B4-BE49-F238E27FC236}">
                <a16:creationId xmlns:a16="http://schemas.microsoft.com/office/drawing/2014/main" id="{07721608-CB72-8746-9261-357236BFDA11}"/>
              </a:ext>
            </a:extLst>
          </p:cNvPr>
          <p:cNvCxnSpPr>
            <a:cxnSpLocks/>
          </p:cNvCxnSpPr>
          <p:nvPr/>
        </p:nvCxnSpPr>
        <p:spPr>
          <a:xfrm>
            <a:off x="8686800" y="1857145"/>
            <a:ext cx="0" cy="4772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nettore 2 22">
            <a:extLst>
              <a:ext uri="{FF2B5EF4-FFF2-40B4-BE49-F238E27FC236}">
                <a16:creationId xmlns:a16="http://schemas.microsoft.com/office/drawing/2014/main" id="{2BFE4FBB-1D36-0749-A24C-7DF341BE2327}"/>
              </a:ext>
            </a:extLst>
          </p:cNvPr>
          <p:cNvCxnSpPr/>
          <p:nvPr/>
        </p:nvCxnSpPr>
        <p:spPr>
          <a:xfrm>
            <a:off x="7867650" y="2343150"/>
            <a:ext cx="962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ttore 2 23">
            <a:extLst>
              <a:ext uri="{FF2B5EF4-FFF2-40B4-BE49-F238E27FC236}">
                <a16:creationId xmlns:a16="http://schemas.microsoft.com/office/drawing/2014/main" id="{1BF19906-59E1-777A-9E22-76D78E51027D}"/>
              </a:ext>
            </a:extLst>
          </p:cNvPr>
          <p:cNvCxnSpPr/>
          <p:nvPr/>
        </p:nvCxnSpPr>
        <p:spPr>
          <a:xfrm>
            <a:off x="7867650" y="2714625"/>
            <a:ext cx="962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ttore 2 28">
            <a:extLst>
              <a:ext uri="{FF2B5EF4-FFF2-40B4-BE49-F238E27FC236}">
                <a16:creationId xmlns:a16="http://schemas.microsoft.com/office/drawing/2014/main" id="{792E1C1B-C4DC-D2D0-F98C-AAE97BAFAE68}"/>
              </a:ext>
            </a:extLst>
          </p:cNvPr>
          <p:cNvCxnSpPr>
            <a:cxnSpLocks/>
          </p:cNvCxnSpPr>
          <p:nvPr/>
        </p:nvCxnSpPr>
        <p:spPr>
          <a:xfrm flipV="1">
            <a:off x="6266253" y="5389016"/>
            <a:ext cx="2563421" cy="6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ttore 2 32">
            <a:extLst>
              <a:ext uri="{FF2B5EF4-FFF2-40B4-BE49-F238E27FC236}">
                <a16:creationId xmlns:a16="http://schemas.microsoft.com/office/drawing/2014/main" id="{F5A005DE-AB35-6F3E-8A5B-E32B3FE5832E}"/>
              </a:ext>
            </a:extLst>
          </p:cNvPr>
          <p:cNvCxnSpPr>
            <a:cxnSpLocks/>
          </p:cNvCxnSpPr>
          <p:nvPr/>
        </p:nvCxnSpPr>
        <p:spPr>
          <a:xfrm>
            <a:off x="2028825" y="5029200"/>
            <a:ext cx="68008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a:extLst>
              <a:ext uri="{FF2B5EF4-FFF2-40B4-BE49-F238E27FC236}">
                <a16:creationId xmlns:a16="http://schemas.microsoft.com/office/drawing/2014/main" id="{B5185B98-2BA4-DBF5-54B4-FF89DD5FE31A}"/>
              </a:ext>
            </a:extLst>
          </p:cNvPr>
          <p:cNvCxnSpPr>
            <a:cxnSpLocks/>
          </p:cNvCxnSpPr>
          <p:nvPr/>
        </p:nvCxnSpPr>
        <p:spPr>
          <a:xfrm>
            <a:off x="3800475" y="5972175"/>
            <a:ext cx="50291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ttore 2 40">
            <a:extLst>
              <a:ext uri="{FF2B5EF4-FFF2-40B4-BE49-F238E27FC236}">
                <a16:creationId xmlns:a16="http://schemas.microsoft.com/office/drawing/2014/main" id="{F8460374-F424-9889-7DD9-B3E18C1E641B}"/>
              </a:ext>
            </a:extLst>
          </p:cNvPr>
          <p:cNvCxnSpPr>
            <a:cxnSpLocks/>
          </p:cNvCxnSpPr>
          <p:nvPr/>
        </p:nvCxnSpPr>
        <p:spPr>
          <a:xfrm>
            <a:off x="3686175" y="4448175"/>
            <a:ext cx="51434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CasellaDiTesto 42">
            <a:extLst>
              <a:ext uri="{FF2B5EF4-FFF2-40B4-BE49-F238E27FC236}">
                <a16:creationId xmlns:a16="http://schemas.microsoft.com/office/drawing/2014/main" id="{31B1E777-2C32-84B8-E052-E296BB39A819}"/>
              </a:ext>
            </a:extLst>
          </p:cNvPr>
          <p:cNvSpPr txBox="1"/>
          <p:nvPr/>
        </p:nvSpPr>
        <p:spPr>
          <a:xfrm>
            <a:off x="8829673" y="4301397"/>
            <a:ext cx="3175997" cy="309552"/>
          </a:xfrm>
          <a:prstGeom prst="rect">
            <a:avLst/>
          </a:prstGeom>
          <a:solidFill>
            <a:schemeClr val="bg1">
              <a:lumMod val="95000"/>
            </a:schemeClr>
          </a:solidFill>
        </p:spPr>
        <p:txBody>
          <a:bodyPr wrap="square">
            <a:no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limite 1-3 chiamate all’anno</a:t>
            </a:r>
          </a:p>
        </p:txBody>
      </p:sp>
      <p:cxnSp>
        <p:nvCxnSpPr>
          <p:cNvPr id="44" name="Connettore 2 43">
            <a:extLst>
              <a:ext uri="{FF2B5EF4-FFF2-40B4-BE49-F238E27FC236}">
                <a16:creationId xmlns:a16="http://schemas.microsoft.com/office/drawing/2014/main" id="{13DC28A5-42CA-819A-5EDD-E2D98C790C4B}"/>
              </a:ext>
            </a:extLst>
          </p:cNvPr>
          <p:cNvCxnSpPr>
            <a:cxnSpLocks/>
          </p:cNvCxnSpPr>
          <p:nvPr/>
        </p:nvCxnSpPr>
        <p:spPr>
          <a:xfrm>
            <a:off x="3324225" y="4095750"/>
            <a:ext cx="55054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593F0A30-9B33-2EB7-1C09-D96C9FFD9CF8}"/>
              </a:ext>
            </a:extLst>
          </p:cNvPr>
          <p:cNvSpPr txBox="1"/>
          <p:nvPr/>
        </p:nvSpPr>
        <p:spPr>
          <a:xfrm>
            <a:off x="8829673" y="3935023"/>
            <a:ext cx="3175997" cy="309551"/>
          </a:xfrm>
          <a:prstGeom prst="rect">
            <a:avLst/>
          </a:prstGeom>
          <a:solidFill>
            <a:schemeClr val="bg1">
              <a:lumMod val="95000"/>
            </a:schemeClr>
          </a:solidFill>
        </p:spPr>
        <p:txBody>
          <a:bodyPr wrap="square">
            <a:no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it-IT"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 certi casi non prevista</a:t>
            </a:r>
          </a:p>
        </p:txBody>
      </p:sp>
      <p:cxnSp>
        <p:nvCxnSpPr>
          <p:cNvPr id="3" name="Connettore 2 2">
            <a:extLst>
              <a:ext uri="{FF2B5EF4-FFF2-40B4-BE49-F238E27FC236}">
                <a16:creationId xmlns:a16="http://schemas.microsoft.com/office/drawing/2014/main" id="{500F1CAB-B058-2F51-C393-10D5BCC420D7}"/>
              </a:ext>
            </a:extLst>
          </p:cNvPr>
          <p:cNvCxnSpPr>
            <a:cxnSpLocks/>
          </p:cNvCxnSpPr>
          <p:nvPr/>
        </p:nvCxnSpPr>
        <p:spPr>
          <a:xfrm>
            <a:off x="2695575" y="3514725"/>
            <a:ext cx="61340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CasellaDiTesto 8">
            <a:extLst>
              <a:ext uri="{FF2B5EF4-FFF2-40B4-BE49-F238E27FC236}">
                <a16:creationId xmlns:a16="http://schemas.microsoft.com/office/drawing/2014/main" id="{6925A80D-4CF4-EC6F-92DA-81995AC4944B}"/>
              </a:ext>
            </a:extLst>
          </p:cNvPr>
          <p:cNvSpPr txBox="1"/>
          <p:nvPr/>
        </p:nvSpPr>
        <p:spPr>
          <a:xfrm>
            <a:off x="8848932" y="3367690"/>
            <a:ext cx="3175997" cy="309552"/>
          </a:xfrm>
          <a:prstGeom prst="rect">
            <a:avLst/>
          </a:prstGeom>
          <a:solidFill>
            <a:schemeClr val="bg1">
              <a:lumMod val="95000"/>
            </a:schemeClr>
          </a:solidFill>
        </p:spPr>
        <p:txBody>
          <a:bodyPr wrap="square">
            <a:noAutofit/>
          </a:bodyPr>
          <a:lstStyle/>
          <a:p>
            <a:pPr marL="179388" marR="0" lvl="0" indent="-179388"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it-IT" sz="1400" dirty="0">
                <a:solidFill>
                  <a:srgbClr val="000000"/>
                </a:solidFill>
                <a:latin typeface="Segoe UI" panose="020B0502040204020203" pitchFamily="34" charset="0"/>
              </a:rPr>
              <a:t>l</a:t>
            </a:r>
            <a:r>
              <a:rPr kumimoji="0" lang="it-IT" sz="14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imiti di percorrenza minori</a:t>
            </a:r>
          </a:p>
        </p:txBody>
      </p:sp>
    </p:spTree>
    <p:extLst>
      <p:ext uri="{BB962C8B-B14F-4D97-AF65-F5344CB8AC3E}">
        <p14:creationId xmlns:p14="http://schemas.microsoft.com/office/powerpoint/2010/main" val="1951577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A3668-A62E-99BF-3AE3-D45C7A80471C}"/>
            </a:ext>
          </a:extLst>
        </p:cNvPr>
        <p:cNvGrpSpPr/>
        <p:nvPr/>
      </p:nvGrpSpPr>
      <p:grpSpPr>
        <a:xfrm>
          <a:off x="0" y="0"/>
          <a:ext cx="0" cy="0"/>
          <a:chOff x="0" y="0"/>
          <a:chExt cx="0" cy="0"/>
        </a:xfrm>
      </p:grpSpPr>
      <p:graphicFrame>
        <p:nvGraphicFramePr>
          <p:cNvPr id="6" name="Oggetto 5" hidden="1">
            <a:extLst>
              <a:ext uri="{FF2B5EF4-FFF2-40B4-BE49-F238E27FC236}">
                <a16:creationId xmlns:a16="http://schemas.microsoft.com/office/drawing/2014/main" id="{6C6E07B8-64C6-6E3B-3A8A-74A89E654E1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503" imgH="503" progId="TCLayout.ActiveDocument.1">
                  <p:embed/>
                </p:oleObj>
              </mc:Choice>
              <mc:Fallback>
                <p:oleObj name="Diapositiva think-cell" r:id="rId4" imgW="503" imgH="503" progId="TCLayout.ActiveDocument.1">
                  <p:embed/>
                  <p:pic>
                    <p:nvPicPr>
                      <p:cNvPr id="6" name="Oggetto 5" hidden="1">
                        <a:extLst>
                          <a:ext uri="{FF2B5EF4-FFF2-40B4-BE49-F238E27FC236}">
                            <a16:creationId xmlns:a16="http://schemas.microsoft.com/office/drawing/2014/main" id="{6C6E07B8-64C6-6E3B-3A8A-74A89E654E1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56" name="Picture 2" descr="Telepass: cos'è, come farlo, a cosa serve, quanto costa">
            <a:extLst>
              <a:ext uri="{FF2B5EF4-FFF2-40B4-BE49-F238E27FC236}">
                <a16:creationId xmlns:a16="http://schemas.microsoft.com/office/drawing/2014/main" id="{65484895-8A99-91FB-1C46-920CF453F5C0}"/>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l="19218" t="36073" r="19432" b="36095"/>
          <a:stretch/>
        </p:blipFill>
        <p:spPr bwMode="auto">
          <a:xfrm>
            <a:off x="3229751" y="1236403"/>
            <a:ext cx="1349097" cy="345886"/>
          </a:xfrm>
          <a:prstGeom prst="rect">
            <a:avLst/>
          </a:prstGeom>
          <a:noFill/>
          <a:extLst>
            <a:ext uri="{909E8E84-426E-40DD-AFC4-6F175D3DCCD1}">
              <a14:hiddenFill xmlns:a14="http://schemas.microsoft.com/office/drawing/2010/main">
                <a:solidFill>
                  <a:srgbClr val="FFFFFF"/>
                </a:solidFill>
              </a14:hiddenFill>
            </a:ext>
          </a:extLst>
        </p:spPr>
      </p:pic>
      <p:sp>
        <p:nvSpPr>
          <p:cNvPr id="284" name="Rettangolo 87">
            <a:extLst>
              <a:ext uri="{FF2B5EF4-FFF2-40B4-BE49-F238E27FC236}">
                <a16:creationId xmlns:a16="http://schemas.microsoft.com/office/drawing/2014/main" id="{21BF9571-00EF-CCE8-FC59-FE0F158D4954}"/>
              </a:ext>
            </a:extLst>
          </p:cNvPr>
          <p:cNvSpPr/>
          <p:nvPr/>
        </p:nvSpPr>
        <p:spPr>
          <a:xfrm>
            <a:off x="3041307" y="1584049"/>
            <a:ext cx="1725985" cy="4949834"/>
          </a:xfrm>
          <a:prstGeom prst="rect">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342" name="Rettangolo 124">
            <a:extLst>
              <a:ext uri="{FF2B5EF4-FFF2-40B4-BE49-F238E27FC236}">
                <a16:creationId xmlns:a16="http://schemas.microsoft.com/office/drawing/2014/main" id="{3F844CD6-375B-62A7-4296-B51FE364ED20}"/>
              </a:ext>
            </a:extLst>
          </p:cNvPr>
          <p:cNvSpPr/>
          <p:nvPr/>
        </p:nvSpPr>
        <p:spPr>
          <a:xfrm>
            <a:off x="8821598" y="1584049"/>
            <a:ext cx="3125247" cy="4949834"/>
          </a:xfrm>
          <a:prstGeom prst="rect">
            <a:avLst/>
          </a:prstGeom>
          <a:solidFill>
            <a:schemeClr val="bg1"/>
          </a:solidFill>
          <a:ln>
            <a:solidFill>
              <a:schemeClr val="bg2">
                <a:lumMod val="90000"/>
              </a:schemeClr>
            </a:solidFill>
            <a:prstDash val="solid"/>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343" name="Rectangle 63">
            <a:extLst>
              <a:ext uri="{FF2B5EF4-FFF2-40B4-BE49-F238E27FC236}">
                <a16:creationId xmlns:a16="http://schemas.microsoft.com/office/drawing/2014/main" id="{8CE8A78F-68F0-FE77-11F9-DED0C0FE466B}"/>
              </a:ext>
            </a:extLst>
          </p:cNvPr>
          <p:cNvSpPr/>
          <p:nvPr/>
        </p:nvSpPr>
        <p:spPr>
          <a:xfrm>
            <a:off x="9463128" y="1292120"/>
            <a:ext cx="1842185" cy="271705"/>
          </a:xfrm>
          <a:prstGeom prst="rect">
            <a:avLst/>
          </a:prstGeom>
          <a:solidFill>
            <a:srgbClr val="1665A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b="1">
                <a:solidFill>
                  <a:srgbClr val="FFFFFF"/>
                </a:solidFill>
                <a:latin typeface="Segoe UI" panose="020B0502040204020203" pitchFamily="34" charset="0"/>
                <a:cs typeface="Segoe UI" panose="020B0502040204020203" pitchFamily="34" charset="0"/>
              </a:rPr>
              <a:t>Note</a:t>
            </a:r>
            <a:endParaRPr kumimoji="0" lang="it-IT" sz="1200" b="1" i="1" u="none" strike="noStrike" kern="1200" cap="none" spc="0" normalizeH="0" baseline="0" noProof="0">
              <a:ln>
                <a:noFill/>
              </a:ln>
              <a:solidFill>
                <a:srgbClr val="FFFFFF"/>
              </a:solidFill>
              <a:effectLst/>
              <a:uLnTx/>
              <a:uFillTx/>
              <a:latin typeface="Segoe UI" panose="020B0502040204020203" pitchFamily="34" charset="0"/>
              <a:cs typeface="Segoe UI" panose="020B0502040204020203" pitchFamily="34" charset="0"/>
            </a:endParaRPr>
          </a:p>
        </p:txBody>
      </p:sp>
      <p:sp>
        <p:nvSpPr>
          <p:cNvPr id="521" name="Rectangle 520">
            <a:extLst>
              <a:ext uri="{FF2B5EF4-FFF2-40B4-BE49-F238E27FC236}">
                <a16:creationId xmlns:a16="http://schemas.microsoft.com/office/drawing/2014/main" id="{41C567C8-9923-1C3B-6876-BEE36948B584}"/>
              </a:ext>
            </a:extLst>
          </p:cNvPr>
          <p:cNvSpPr/>
          <p:nvPr/>
        </p:nvSpPr>
        <p:spPr>
          <a:xfrm>
            <a:off x="8908221" y="1646527"/>
            <a:ext cx="2952000" cy="590937"/>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Telepass: 4 volte l’anno, commissioni a discrezione della Banca non superiori a € 0,52 al mese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a:t>
            </a:r>
            <a:r>
              <a:rPr kumimoji="0" lang="it-IT" sz="900" i="0" u="none" strike="noStrike" kern="1200" cap="none" spc="0" normalizeH="0" baseline="0" noProof="0" err="1">
                <a:ln>
                  <a:noFill/>
                </a:ln>
                <a:solidFill>
                  <a:srgbClr val="242424"/>
                </a:solidFill>
                <a:effectLst/>
                <a:uLnTx/>
                <a:uFillTx/>
                <a:latin typeface="Segoe UI" panose="020B0502040204020203" pitchFamily="34" charset="0"/>
                <a:ea typeface="+mn-ea"/>
                <a:cs typeface="+mn-cs"/>
              </a:rPr>
              <a:t>Comp</a:t>
            </a: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1: n° 12 volte, con commissioni a discrezione della Banca di appartenenza e addebito giornaliero </a:t>
            </a:r>
          </a:p>
        </p:txBody>
      </p:sp>
      <p:pic>
        <p:nvPicPr>
          <p:cNvPr id="421" name="Picture 6" descr="Centro Idea Casa - spunta verde">
            <a:extLst>
              <a:ext uri="{FF2B5EF4-FFF2-40B4-BE49-F238E27FC236}">
                <a16:creationId xmlns:a16="http://schemas.microsoft.com/office/drawing/2014/main" id="{69306B7F-411E-C44D-7CFB-65E81E1E3B9C}"/>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174416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94" name="Rectangle 493">
            <a:extLst>
              <a:ext uri="{FF2B5EF4-FFF2-40B4-BE49-F238E27FC236}">
                <a16:creationId xmlns:a16="http://schemas.microsoft.com/office/drawing/2014/main" id="{D102A635-0618-DA1A-B139-C6E3CD481F16}"/>
              </a:ext>
            </a:extLst>
          </p:cNvPr>
          <p:cNvSpPr/>
          <p:nvPr/>
        </p:nvSpPr>
        <p:spPr>
          <a:xfrm>
            <a:off x="312549" y="169090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Fatturazione Trimestrale</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492" name="Rectangle 491">
            <a:extLst>
              <a:ext uri="{FF2B5EF4-FFF2-40B4-BE49-F238E27FC236}">
                <a16:creationId xmlns:a16="http://schemas.microsoft.com/office/drawing/2014/main" id="{B23D3CD2-1AAB-8E75-C48C-D3BB89165D88}"/>
              </a:ext>
            </a:extLst>
          </p:cNvPr>
          <p:cNvSpPr/>
          <p:nvPr/>
        </p:nvSpPr>
        <p:spPr>
          <a:xfrm>
            <a:off x="312549" y="248952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Copertura nazionale</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496" name="Picture 6" descr="Centro Idea Casa - spunta verde">
            <a:extLst>
              <a:ext uri="{FF2B5EF4-FFF2-40B4-BE49-F238E27FC236}">
                <a16:creationId xmlns:a16="http://schemas.microsoft.com/office/drawing/2014/main" id="{2C9639C8-3A28-F425-9684-F9B51871B5E5}"/>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2542783"/>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423" name="Picture 6" descr="Centro Idea Casa - spunta verde">
            <a:extLst>
              <a:ext uri="{FF2B5EF4-FFF2-40B4-BE49-F238E27FC236}">
                <a16:creationId xmlns:a16="http://schemas.microsoft.com/office/drawing/2014/main" id="{6AF4AC01-61BA-8A14-6AFD-0146DE906038}"/>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294209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95" name="Rectangle 494">
            <a:extLst>
              <a:ext uri="{FF2B5EF4-FFF2-40B4-BE49-F238E27FC236}">
                <a16:creationId xmlns:a16="http://schemas.microsoft.com/office/drawing/2014/main" id="{4708AE07-6255-40D9-37F4-DC8D4BFED1C2}"/>
              </a:ext>
            </a:extLst>
          </p:cNvPr>
          <p:cNvSpPr/>
          <p:nvPr/>
        </p:nvSpPr>
        <p:spPr>
          <a:xfrm>
            <a:off x="312549" y="288883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N° 2 targhe per apparato</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424" name="Picture 6" descr="Centro Idea Casa - spunta verde">
            <a:extLst>
              <a:ext uri="{FF2B5EF4-FFF2-40B4-BE49-F238E27FC236}">
                <a16:creationId xmlns:a16="http://schemas.microsoft.com/office/drawing/2014/main" id="{EE5F713B-CB32-78BD-824A-71E83ED46BF0}"/>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334140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83" name="Rectangle 482">
            <a:extLst>
              <a:ext uri="{FF2B5EF4-FFF2-40B4-BE49-F238E27FC236}">
                <a16:creationId xmlns:a16="http://schemas.microsoft.com/office/drawing/2014/main" id="{A77C0E3A-8986-8432-17BE-E36EE63F39C1}"/>
              </a:ext>
            </a:extLst>
          </p:cNvPr>
          <p:cNvSpPr/>
          <p:nvPr/>
        </p:nvSpPr>
        <p:spPr>
          <a:xfrm>
            <a:off x="312549" y="328814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2° dispositivo (Twin) con Assistenza Stradale Italia inclusa su n° 2 Targhe</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429" name="Picture 6" descr="Centro Idea Casa - spunta verde">
            <a:extLst>
              <a:ext uri="{FF2B5EF4-FFF2-40B4-BE49-F238E27FC236}">
                <a16:creationId xmlns:a16="http://schemas.microsoft.com/office/drawing/2014/main" id="{75A5AACA-F02C-E2A1-301C-BC91076A6A4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493864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87" name="Rectangle 486">
            <a:extLst>
              <a:ext uri="{FF2B5EF4-FFF2-40B4-BE49-F238E27FC236}">
                <a16:creationId xmlns:a16="http://schemas.microsoft.com/office/drawing/2014/main" id="{FFE8DF6A-9AA2-86CD-4242-9AA5BB5D0AA3}"/>
              </a:ext>
            </a:extLst>
          </p:cNvPr>
          <p:cNvSpPr/>
          <p:nvPr/>
        </p:nvSpPr>
        <p:spPr>
          <a:xfrm>
            <a:off x="312549" y="488538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Traghetto per lo stretto di Messina</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430" name="Picture 6" descr="Centro Idea Casa - spunta verde">
            <a:extLst>
              <a:ext uri="{FF2B5EF4-FFF2-40B4-BE49-F238E27FC236}">
                <a16:creationId xmlns:a16="http://schemas.microsoft.com/office/drawing/2014/main" id="{5347F4EA-DD04-9AAE-0341-AD6DF5A5ECB1}"/>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533795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88" name="Rectangle 487">
            <a:extLst>
              <a:ext uri="{FF2B5EF4-FFF2-40B4-BE49-F238E27FC236}">
                <a16:creationId xmlns:a16="http://schemas.microsoft.com/office/drawing/2014/main" id="{63A479DA-E94F-F07E-68DF-7ED66E5254E0}"/>
              </a:ext>
            </a:extLst>
          </p:cNvPr>
          <p:cNvSpPr/>
          <p:nvPr/>
        </p:nvSpPr>
        <p:spPr>
          <a:xfrm>
            <a:off x="312549" y="528469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Servizio MEMO su scadenze del proprio veicolo </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428" name="Picture 6" descr="Centro Idea Casa - spunta verde">
            <a:extLst>
              <a:ext uri="{FF2B5EF4-FFF2-40B4-BE49-F238E27FC236}">
                <a16:creationId xmlns:a16="http://schemas.microsoft.com/office/drawing/2014/main" id="{393345CA-B089-C5DB-DB3B-C13CE3B81841}"/>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453933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86" name="Rectangle 485">
            <a:extLst>
              <a:ext uri="{FF2B5EF4-FFF2-40B4-BE49-F238E27FC236}">
                <a16:creationId xmlns:a16="http://schemas.microsoft.com/office/drawing/2014/main" id="{D8B07A42-FDD3-B561-548A-ACB374251A14}"/>
              </a:ext>
            </a:extLst>
          </p:cNvPr>
          <p:cNvSpPr/>
          <p:nvPr/>
        </p:nvSpPr>
        <p:spPr>
          <a:xfrm>
            <a:off x="312549" y="448607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Assistenza stradale Europea su n° 2 Targhe </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426" name="Picture 6" descr="Centro Idea Casa - spunta verde">
            <a:extLst>
              <a:ext uri="{FF2B5EF4-FFF2-40B4-BE49-F238E27FC236}">
                <a16:creationId xmlns:a16="http://schemas.microsoft.com/office/drawing/2014/main" id="{94F4D19F-52BA-13C5-C554-23789C8261F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374071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84" name="Rectangle 483">
            <a:extLst>
              <a:ext uri="{FF2B5EF4-FFF2-40B4-BE49-F238E27FC236}">
                <a16:creationId xmlns:a16="http://schemas.microsoft.com/office/drawing/2014/main" id="{77FBC886-A209-5892-F179-483F780CD7C1}"/>
              </a:ext>
            </a:extLst>
          </p:cNvPr>
          <p:cNvSpPr/>
          <p:nvPr/>
        </p:nvSpPr>
        <p:spPr>
          <a:xfrm>
            <a:off x="312549" y="368745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Telepass Europeo (Francia, Spagna, Portogallo, Croazia)</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493" name="Rectangle 492">
            <a:extLst>
              <a:ext uri="{FF2B5EF4-FFF2-40B4-BE49-F238E27FC236}">
                <a16:creationId xmlns:a16="http://schemas.microsoft.com/office/drawing/2014/main" id="{04529148-B8F1-6F5B-8CA4-DFD420F51EF3}"/>
              </a:ext>
            </a:extLst>
          </p:cNvPr>
          <p:cNvSpPr/>
          <p:nvPr/>
        </p:nvSpPr>
        <p:spPr>
          <a:xfrm>
            <a:off x="312549" y="209021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Importo canone mensile</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539" name="CasellaDiTesto 365">
            <a:extLst>
              <a:ext uri="{FF2B5EF4-FFF2-40B4-BE49-F238E27FC236}">
                <a16:creationId xmlns:a16="http://schemas.microsoft.com/office/drawing/2014/main" id="{A59201C3-67FC-826E-0954-1FCA9815D83F}"/>
              </a:ext>
            </a:extLst>
          </p:cNvPr>
          <p:cNvSpPr txBox="1"/>
          <p:nvPr/>
        </p:nvSpPr>
        <p:spPr>
          <a:xfrm>
            <a:off x="3651416" y="2121407"/>
            <a:ext cx="505766" cy="261610"/>
          </a:xfrm>
          <a:prstGeom prst="rect">
            <a:avLst/>
          </a:prstGeom>
          <a:noFill/>
        </p:spPr>
        <p:txBody>
          <a:bodyPr wrap="square" lIns="0" rIns="360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3,90 €</a:t>
            </a:r>
          </a:p>
        </p:txBody>
      </p:sp>
      <p:sp>
        <p:nvSpPr>
          <p:cNvPr id="542" name="Rectangle 541">
            <a:extLst>
              <a:ext uri="{FF2B5EF4-FFF2-40B4-BE49-F238E27FC236}">
                <a16:creationId xmlns:a16="http://schemas.microsoft.com/office/drawing/2014/main" id="{4751F11E-9138-FCB9-75C2-2B27CC757FF5}"/>
              </a:ext>
            </a:extLst>
          </p:cNvPr>
          <p:cNvSpPr/>
          <p:nvPr/>
        </p:nvSpPr>
        <p:spPr>
          <a:xfrm>
            <a:off x="8908221" y="2359483"/>
            <a:ext cx="2952000" cy="513896"/>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a:t>
            </a:r>
            <a:r>
              <a:rPr kumimoji="0" lang="it-IT" sz="900" i="0" u="none" strike="noStrike" kern="1200" cap="none" spc="0" normalizeH="0" baseline="0" noProof="0" err="1">
                <a:ln>
                  <a:noFill/>
                </a:ln>
                <a:solidFill>
                  <a:srgbClr val="242424"/>
                </a:solidFill>
                <a:effectLst/>
                <a:uLnTx/>
                <a:uFillTx/>
                <a:latin typeface="Segoe UI" panose="020B0502040204020203" pitchFamily="34" charset="0"/>
                <a:ea typeface="+mn-ea"/>
                <a:cs typeface="+mn-cs"/>
              </a:rPr>
              <a:t>Comp</a:t>
            </a: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1: non è valido per il pagamento del pedaggio in Sicilia (in attivazione), Tunnel Schio – Valdagno (Vicenza) (in attivazione) e Pedemontana Veneta</a:t>
            </a:r>
          </a:p>
        </p:txBody>
      </p:sp>
      <p:sp>
        <p:nvSpPr>
          <p:cNvPr id="546" name="Rectangle 545">
            <a:extLst>
              <a:ext uri="{FF2B5EF4-FFF2-40B4-BE49-F238E27FC236}">
                <a16:creationId xmlns:a16="http://schemas.microsoft.com/office/drawing/2014/main" id="{9E1E21A4-2515-EB4A-E90F-996A1F482782}"/>
              </a:ext>
            </a:extLst>
          </p:cNvPr>
          <p:cNvSpPr/>
          <p:nvPr/>
        </p:nvSpPr>
        <p:spPr>
          <a:xfrm>
            <a:off x="8908220" y="3693084"/>
            <a:ext cx="2952000" cy="312736"/>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900">
                <a:solidFill>
                  <a:srgbClr val="242424"/>
                </a:solidFill>
                <a:latin typeface="Segoe UI" panose="020B0502040204020203" pitchFamily="34" charset="0"/>
              </a:rPr>
              <a:t>- </a:t>
            </a: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Telepass: 416 parcheggi in struttura tra Francia, Spagna e Portogallo</a:t>
            </a:r>
          </a:p>
        </p:txBody>
      </p:sp>
      <p:sp>
        <p:nvSpPr>
          <p:cNvPr id="547" name="Rectangle 546">
            <a:extLst>
              <a:ext uri="{FF2B5EF4-FFF2-40B4-BE49-F238E27FC236}">
                <a16:creationId xmlns:a16="http://schemas.microsoft.com/office/drawing/2014/main" id="{ACFA1B04-B895-D773-D8B1-1D162DAE3012}"/>
              </a:ext>
            </a:extLst>
          </p:cNvPr>
          <p:cNvSpPr/>
          <p:nvPr/>
        </p:nvSpPr>
        <p:spPr>
          <a:xfrm>
            <a:off x="8908220" y="4090460"/>
            <a:ext cx="2952000" cy="395612"/>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3663" marR="0" lvl="0" indent="-93663" algn="l" defTabSz="914400" rtl="0" eaLnBrk="1" fontAlgn="auto" latinLnBrk="0" hangingPunct="1">
              <a:lnSpc>
                <a:spcPct val="100000"/>
              </a:lnSpc>
              <a:spcBef>
                <a:spcPts val="0"/>
              </a:spcBef>
              <a:spcAft>
                <a:spcPts val="0"/>
              </a:spcAft>
              <a:buClrTx/>
              <a:buSzTx/>
              <a:buFontTx/>
              <a:buChar char="-"/>
              <a:tabLst/>
              <a:defRPr/>
            </a:pP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Telepass: +360 parcheggi convenzionati in Italia.</a:t>
            </a:r>
          </a:p>
          <a:p>
            <a:pPr marL="93663" marR="0" lvl="0" indent="-93663" algn="l" defTabSz="914400" rtl="0" eaLnBrk="1" fontAlgn="auto" latinLnBrk="0" hangingPunct="1">
              <a:lnSpc>
                <a:spcPct val="100000"/>
              </a:lnSpc>
              <a:spcBef>
                <a:spcPts val="0"/>
              </a:spcBef>
              <a:spcAft>
                <a:spcPts val="0"/>
              </a:spcAft>
              <a:buClrTx/>
              <a:buSzTx/>
              <a:buFontTx/>
              <a:buChar char="-"/>
              <a:tabLst/>
              <a:defRPr/>
            </a:pPr>
            <a:r>
              <a:rPr kumimoji="0" lang="it-IT" sz="900" i="0" u="none" strike="noStrike" kern="1200" cap="none" spc="0" normalizeH="0" baseline="0" noProof="0" err="1">
                <a:ln>
                  <a:noFill/>
                </a:ln>
                <a:solidFill>
                  <a:srgbClr val="242424"/>
                </a:solidFill>
                <a:effectLst/>
                <a:uLnTx/>
                <a:uFillTx/>
                <a:latin typeface="Segoe UI" panose="020B0502040204020203" pitchFamily="34" charset="0"/>
                <a:ea typeface="+mn-ea"/>
                <a:cs typeface="+mn-cs"/>
              </a:rPr>
              <a:t>Comp</a:t>
            </a: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1: +80 parcheggi in struttura convenzionati</a:t>
            </a:r>
          </a:p>
          <a:p>
            <a:pPr marL="93663" marR="0" lvl="0" indent="-93663" algn="l" defTabSz="914400" rtl="0" eaLnBrk="1" fontAlgn="auto" latinLnBrk="0" hangingPunct="1">
              <a:lnSpc>
                <a:spcPct val="100000"/>
              </a:lnSpc>
              <a:spcBef>
                <a:spcPts val="0"/>
              </a:spcBef>
              <a:spcAft>
                <a:spcPts val="0"/>
              </a:spcAft>
              <a:buClrTx/>
              <a:buSzTx/>
              <a:buFontTx/>
              <a:buChar char="-"/>
              <a:tabLst/>
              <a:defRPr/>
            </a:pPr>
            <a:r>
              <a:rPr kumimoji="0" lang="it-IT" sz="900" i="0" u="none" strike="noStrike" kern="1200" cap="none" spc="0" normalizeH="0" baseline="0" noProof="0" err="1">
                <a:ln>
                  <a:noFill/>
                </a:ln>
                <a:solidFill>
                  <a:srgbClr val="242424"/>
                </a:solidFill>
                <a:effectLst/>
                <a:uLnTx/>
                <a:uFillTx/>
                <a:latin typeface="Segoe UI" panose="020B0502040204020203" pitchFamily="34" charset="0"/>
                <a:ea typeface="+mn-ea"/>
                <a:cs typeface="+mn-cs"/>
              </a:rPr>
              <a:t>Comp</a:t>
            </a: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2 si avvale dei servizi di Telepass</a:t>
            </a:r>
          </a:p>
        </p:txBody>
      </p:sp>
      <p:sp>
        <p:nvSpPr>
          <p:cNvPr id="548" name="Rectangle 547">
            <a:extLst>
              <a:ext uri="{FF2B5EF4-FFF2-40B4-BE49-F238E27FC236}">
                <a16:creationId xmlns:a16="http://schemas.microsoft.com/office/drawing/2014/main" id="{71D62A76-B6BA-9F5B-E0D0-4BB864F684EC}"/>
              </a:ext>
            </a:extLst>
          </p:cNvPr>
          <p:cNvSpPr/>
          <p:nvPr/>
        </p:nvSpPr>
        <p:spPr>
          <a:xfrm>
            <a:off x="8908220" y="4813770"/>
            <a:ext cx="2952000" cy="395612"/>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it-IT" sz="900" i="0" u="none" strike="noStrike" kern="1200" cap="none" spc="0" normalizeH="0" baseline="0" noProof="0" err="1">
                <a:ln>
                  <a:noFill/>
                </a:ln>
                <a:solidFill>
                  <a:srgbClr val="242424"/>
                </a:solidFill>
                <a:effectLst/>
                <a:uLnTx/>
                <a:uFillTx/>
                <a:latin typeface="Segoe UI" panose="020B0502040204020203" pitchFamily="34" charset="0"/>
                <a:ea typeface="+mn-ea"/>
                <a:cs typeface="+mn-cs"/>
              </a:rPr>
              <a:t>Comp</a:t>
            </a: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1: pedaggio non valido in Sicilia</a:t>
            </a:r>
          </a:p>
        </p:txBody>
      </p:sp>
      <p:sp>
        <p:nvSpPr>
          <p:cNvPr id="4" name="Rectangle 3">
            <a:extLst>
              <a:ext uri="{FF2B5EF4-FFF2-40B4-BE49-F238E27FC236}">
                <a16:creationId xmlns:a16="http://schemas.microsoft.com/office/drawing/2014/main" id="{28D1BB42-DC09-8FC9-33C5-C8BF47F8A90A}"/>
              </a:ext>
            </a:extLst>
          </p:cNvPr>
          <p:cNvSpPr/>
          <p:nvPr/>
        </p:nvSpPr>
        <p:spPr>
          <a:xfrm>
            <a:off x="8908221" y="5518263"/>
            <a:ext cx="2952000" cy="707045"/>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it-IT" sz="900" i="0" u="none" strike="noStrike" kern="1200" cap="none" spc="0" normalizeH="0" baseline="0" noProof="0" err="1">
                <a:ln>
                  <a:noFill/>
                </a:ln>
                <a:solidFill>
                  <a:srgbClr val="242424"/>
                </a:solidFill>
                <a:effectLst/>
                <a:uLnTx/>
                <a:uFillTx/>
                <a:latin typeface="Segoe UI" panose="020B0502040204020203" pitchFamily="34" charset="0"/>
                <a:ea typeface="+mn-ea"/>
                <a:cs typeface="+mn-cs"/>
              </a:rPr>
              <a:t>Comp</a:t>
            </a:r>
            <a:r>
              <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rPr>
              <a:t>. 1: SEPA</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it-IT" sz="900" err="1">
                <a:solidFill>
                  <a:srgbClr val="242424"/>
                </a:solidFill>
                <a:latin typeface="Segoe UI" panose="020B0502040204020203" pitchFamily="34" charset="0"/>
              </a:rPr>
              <a:t>Comp</a:t>
            </a:r>
            <a:r>
              <a:rPr lang="it-IT" sz="900">
                <a:solidFill>
                  <a:srgbClr val="242424"/>
                </a:solidFill>
                <a:latin typeface="Segoe UI" panose="020B0502040204020203" pitchFamily="34" charset="0"/>
              </a:rPr>
              <a:t>. 2: credito e debito del circuito Visa o Mastercard (tranne le carte aziendali) o le carte emesse dal competitor stesso</a:t>
            </a:r>
            <a:endParaRPr kumimoji="0" lang="it-IT" sz="90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427" name="Picture 6" descr="Centro Idea Casa - spunta verde">
            <a:extLst>
              <a:ext uri="{FF2B5EF4-FFF2-40B4-BE49-F238E27FC236}">
                <a16:creationId xmlns:a16="http://schemas.microsoft.com/office/drawing/2014/main" id="{7D825BA5-515A-89C8-DFC7-4DD6FDA104F8}"/>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414002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85" name="Rectangle 484">
            <a:extLst>
              <a:ext uri="{FF2B5EF4-FFF2-40B4-BE49-F238E27FC236}">
                <a16:creationId xmlns:a16="http://schemas.microsoft.com/office/drawing/2014/main" id="{CA14A9E8-DFFA-51AC-96E6-29EF34BE7BF0}"/>
              </a:ext>
            </a:extLst>
          </p:cNvPr>
          <p:cNvSpPr/>
          <p:nvPr/>
        </p:nvSpPr>
        <p:spPr>
          <a:xfrm>
            <a:off x="312549" y="408676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Parcheggi in struttura</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431" name="Picture 6" descr="Centro Idea Casa - spunta verde">
            <a:extLst>
              <a:ext uri="{FF2B5EF4-FFF2-40B4-BE49-F238E27FC236}">
                <a16:creationId xmlns:a16="http://schemas.microsoft.com/office/drawing/2014/main" id="{97468CFC-8675-446D-994A-F1B866A07F9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573726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489" name="Rectangle 488">
            <a:extLst>
              <a:ext uri="{FF2B5EF4-FFF2-40B4-BE49-F238E27FC236}">
                <a16:creationId xmlns:a16="http://schemas.microsoft.com/office/drawing/2014/main" id="{1735753D-41BC-1055-BE7D-3B7A5088673F}"/>
              </a:ext>
            </a:extLst>
          </p:cNvPr>
          <p:cNvSpPr/>
          <p:nvPr/>
        </p:nvSpPr>
        <p:spPr>
          <a:xfrm>
            <a:off x="312549" y="568400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Apertura Contratto con Iban straniero</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0" name="Picture 6" descr="Centro Idea Casa - spunta verde">
            <a:extLst>
              <a:ext uri="{FF2B5EF4-FFF2-40B4-BE49-F238E27FC236}">
                <a16:creationId xmlns:a16="http://schemas.microsoft.com/office/drawing/2014/main" id="{E6A2E030-D44C-7C69-F414-35E97A436E97}"/>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786951" y="6136573"/>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BBA0552F-2242-E836-8E92-BE592EB7303F}"/>
              </a:ext>
            </a:extLst>
          </p:cNvPr>
          <p:cNvSpPr/>
          <p:nvPr/>
        </p:nvSpPr>
        <p:spPr>
          <a:xfrm>
            <a:off x="312549" y="6083312"/>
            <a:ext cx="2556000" cy="32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Area C Milano</a:t>
            </a:r>
            <a:endParaRPr kumimoji="0" lang="it-IT" sz="11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523" name="Picture 4" descr="Sèrzela">
            <a:extLst>
              <a:ext uri="{FF2B5EF4-FFF2-40B4-BE49-F238E27FC236}">
                <a16:creationId xmlns:a16="http://schemas.microsoft.com/office/drawing/2014/main" id="{A374B13B-8549-CD0C-927F-0944829C47E0}"/>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51826" y="177277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08" name="Picture 6" descr="Centro Idea Casa - spunta verde">
            <a:extLst>
              <a:ext uri="{FF2B5EF4-FFF2-40B4-BE49-F238E27FC236}">
                <a16:creationId xmlns:a16="http://schemas.microsoft.com/office/drawing/2014/main" id="{EC7A3167-8637-54AB-CFA1-291E540F8CD5}"/>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14604" y="2542783"/>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499" name="Picture 6" descr="Centro Idea Casa - spunta verde">
            <a:extLst>
              <a:ext uri="{FF2B5EF4-FFF2-40B4-BE49-F238E27FC236}">
                <a16:creationId xmlns:a16="http://schemas.microsoft.com/office/drawing/2014/main" id="{A907472E-B549-511C-259C-5763AAC35652}"/>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14604" y="2942093"/>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500" name="Picture 6">
            <a:extLst>
              <a:ext uri="{FF2B5EF4-FFF2-40B4-BE49-F238E27FC236}">
                <a16:creationId xmlns:a16="http://schemas.microsoft.com/office/drawing/2014/main" id="{8606DF16-3968-B642-4923-E5539BBA0F21}"/>
              </a:ext>
            </a:extLst>
          </p:cNvPr>
          <p:cNvPicPr>
            <a:picLocks noChangeAspect="1" noChangeArrowheads="1"/>
          </p:cNvPicPr>
          <p:nvPr/>
        </p:nvPicPr>
        <p:blipFill>
          <a:blip r:embed="rId9">
            <a:extLst>
              <a:ext uri="{28A0092B-C50C-407E-A947-70E740481C1C}">
                <a14:useLocalDpi xmlns:a14="http://schemas.microsoft.com/office/drawing/2010/main"/>
              </a:ext>
            </a:extLst>
          </a:blip>
          <a:srcRect/>
          <a:stretch/>
        </p:blipFill>
        <p:spPr bwMode="auto">
          <a:xfrm>
            <a:off x="7623212" y="3341403"/>
            <a:ext cx="217479" cy="217479"/>
          </a:xfrm>
          <a:prstGeom prst="rect">
            <a:avLst/>
          </a:prstGeom>
          <a:noFill/>
          <a:extLst>
            <a:ext uri="{909E8E84-426E-40DD-AFC4-6F175D3DCCD1}">
              <a14:hiddenFill xmlns:a14="http://schemas.microsoft.com/office/drawing/2010/main">
                <a:solidFill>
                  <a:srgbClr val="FFFFFF"/>
                </a:solidFill>
              </a14:hiddenFill>
            </a:ext>
          </a:extLst>
        </p:spPr>
      </p:pic>
      <p:pic>
        <p:nvPicPr>
          <p:cNvPr id="504" name="Picture 6" descr="Centro Idea Casa - spunta verde">
            <a:extLst>
              <a:ext uri="{FF2B5EF4-FFF2-40B4-BE49-F238E27FC236}">
                <a16:creationId xmlns:a16="http://schemas.microsoft.com/office/drawing/2014/main" id="{6A43837C-93E6-1EBE-8991-0A9F6F0C9498}"/>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14604" y="4938643"/>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535" name="Picture 4" descr="Sèrzela">
            <a:extLst>
              <a:ext uri="{FF2B5EF4-FFF2-40B4-BE49-F238E27FC236}">
                <a16:creationId xmlns:a16="http://schemas.microsoft.com/office/drawing/2014/main" id="{76B64F8F-FFB1-2898-4166-EE7FCC14B829}"/>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51826" y="536656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37" name="Picture 4" descr="Sèrzela">
            <a:extLst>
              <a:ext uri="{FF2B5EF4-FFF2-40B4-BE49-F238E27FC236}">
                <a16:creationId xmlns:a16="http://schemas.microsoft.com/office/drawing/2014/main" id="{E119AD35-3C36-07C1-434D-65893CAD6300}"/>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51826" y="456794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38" name="Picture 4" descr="Sèrzela">
            <a:extLst>
              <a:ext uri="{FF2B5EF4-FFF2-40B4-BE49-F238E27FC236}">
                <a16:creationId xmlns:a16="http://schemas.microsoft.com/office/drawing/2014/main" id="{2C6230AC-4091-16B0-168F-23EB423AC447}"/>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51826" y="3769326"/>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540" name="CasellaDiTesto 365">
            <a:extLst>
              <a:ext uri="{FF2B5EF4-FFF2-40B4-BE49-F238E27FC236}">
                <a16:creationId xmlns:a16="http://schemas.microsoft.com/office/drawing/2014/main" id="{A79D0E30-83D6-2D48-9C1C-4412202AED2B}"/>
              </a:ext>
            </a:extLst>
          </p:cNvPr>
          <p:cNvSpPr txBox="1"/>
          <p:nvPr/>
        </p:nvSpPr>
        <p:spPr>
          <a:xfrm>
            <a:off x="7523971" y="2121407"/>
            <a:ext cx="415962" cy="261610"/>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1,50€</a:t>
            </a:r>
          </a:p>
        </p:txBody>
      </p:sp>
      <p:pic>
        <p:nvPicPr>
          <p:cNvPr id="502" name="Picture 6" descr="Centro Idea Casa - spunta verde">
            <a:extLst>
              <a:ext uri="{FF2B5EF4-FFF2-40B4-BE49-F238E27FC236}">
                <a16:creationId xmlns:a16="http://schemas.microsoft.com/office/drawing/2014/main" id="{281275AB-0F38-6C8B-A003-F926801D6EE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14604" y="4140023"/>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Centro Idea Casa - spunta verde">
            <a:extLst>
              <a:ext uri="{FF2B5EF4-FFF2-40B4-BE49-F238E27FC236}">
                <a16:creationId xmlns:a16="http://schemas.microsoft.com/office/drawing/2014/main" id="{7D1F83BC-BA11-6C51-4212-01BE5C929DD4}"/>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14604" y="6136573"/>
            <a:ext cx="234696" cy="217479"/>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 26">
            <a:extLst>
              <a:ext uri="{FF2B5EF4-FFF2-40B4-BE49-F238E27FC236}">
                <a16:creationId xmlns:a16="http://schemas.microsoft.com/office/drawing/2014/main" id="{17484889-2BEA-515F-995E-EF021D058C0F}"/>
              </a:ext>
            </a:extLst>
          </p:cNvPr>
          <p:cNvGrpSpPr/>
          <p:nvPr/>
        </p:nvGrpSpPr>
        <p:grpSpPr>
          <a:xfrm>
            <a:off x="6868960" y="1284079"/>
            <a:ext cx="1725985" cy="5249804"/>
            <a:chOff x="4964442" y="1284079"/>
            <a:chExt cx="1725985" cy="5249804"/>
          </a:xfrm>
        </p:grpSpPr>
        <p:sp>
          <p:nvSpPr>
            <p:cNvPr id="301" name="Rettangolo 362">
              <a:extLst>
                <a:ext uri="{FF2B5EF4-FFF2-40B4-BE49-F238E27FC236}">
                  <a16:creationId xmlns:a16="http://schemas.microsoft.com/office/drawing/2014/main" id="{3CEF1247-67FA-BCCC-FD79-79ED0FEEC7C6}"/>
                </a:ext>
              </a:extLst>
            </p:cNvPr>
            <p:cNvSpPr/>
            <p:nvPr/>
          </p:nvSpPr>
          <p:spPr>
            <a:xfrm>
              <a:off x="4964442" y="1584049"/>
              <a:ext cx="1725985" cy="4949834"/>
            </a:xfrm>
            <a:prstGeom prst="rect">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7" name="Rectangle 6">
              <a:extLst>
                <a:ext uri="{FF2B5EF4-FFF2-40B4-BE49-F238E27FC236}">
                  <a16:creationId xmlns:a16="http://schemas.microsoft.com/office/drawing/2014/main" id="{CCC5F121-0AB6-07CC-811A-FB9D0D8087A8}"/>
                </a:ext>
              </a:extLst>
            </p:cNvPr>
            <p:cNvSpPr/>
            <p:nvPr/>
          </p:nvSpPr>
          <p:spPr>
            <a:xfrm>
              <a:off x="5726046" y="5843701"/>
              <a:ext cx="203200" cy="36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Rectangle 63">
              <a:extLst>
                <a:ext uri="{FF2B5EF4-FFF2-40B4-BE49-F238E27FC236}">
                  <a16:creationId xmlns:a16="http://schemas.microsoft.com/office/drawing/2014/main" id="{D3C41C49-6AC4-C250-E454-2C9B3C707EE0}"/>
                </a:ext>
              </a:extLst>
            </p:cNvPr>
            <p:cNvSpPr/>
            <p:nvPr/>
          </p:nvSpPr>
          <p:spPr>
            <a:xfrm>
              <a:off x="5044483" y="1284079"/>
              <a:ext cx="1565900" cy="271705"/>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b="1">
                  <a:solidFill>
                    <a:srgbClr val="FFFFFF"/>
                  </a:solidFill>
                  <a:latin typeface="Segoe UI" panose="020B0502040204020203" pitchFamily="34" charset="0"/>
                  <a:cs typeface="Segoe UI" panose="020B0502040204020203" pitchFamily="34" charset="0"/>
                </a:rPr>
                <a:t>Competitor 2</a:t>
              </a:r>
              <a:endParaRPr kumimoji="0" lang="it-IT" sz="1200" b="1" i="1" u="none" strike="noStrike" kern="1200" cap="none" spc="0" normalizeH="0" baseline="0" noProof="0">
                <a:ln>
                  <a:noFill/>
                </a:ln>
                <a:solidFill>
                  <a:srgbClr val="FFFFFF"/>
                </a:solidFill>
                <a:effectLst/>
                <a:uLnTx/>
                <a:uFillTx/>
                <a:latin typeface="Segoe UI" panose="020B0502040204020203" pitchFamily="34" charset="0"/>
                <a:cs typeface="Segoe UI" panose="020B0502040204020203" pitchFamily="34" charset="0"/>
              </a:endParaRPr>
            </a:p>
          </p:txBody>
        </p:sp>
      </p:grpSp>
      <p:grpSp>
        <p:nvGrpSpPr>
          <p:cNvPr id="29" name="Group 28">
            <a:extLst>
              <a:ext uri="{FF2B5EF4-FFF2-40B4-BE49-F238E27FC236}">
                <a16:creationId xmlns:a16="http://schemas.microsoft.com/office/drawing/2014/main" id="{4E5DD6D2-FD0D-ED1D-4B1E-DA94C9D43071}"/>
              </a:ext>
            </a:extLst>
          </p:cNvPr>
          <p:cNvGrpSpPr/>
          <p:nvPr/>
        </p:nvGrpSpPr>
        <p:grpSpPr>
          <a:xfrm>
            <a:off x="4964442" y="1292120"/>
            <a:ext cx="1725985" cy="5245558"/>
            <a:chOff x="6890850" y="1288325"/>
            <a:chExt cx="1725985" cy="5245558"/>
          </a:xfrm>
        </p:grpSpPr>
        <p:grpSp>
          <p:nvGrpSpPr>
            <p:cNvPr id="28" name="Group 27">
              <a:extLst>
                <a:ext uri="{FF2B5EF4-FFF2-40B4-BE49-F238E27FC236}">
                  <a16:creationId xmlns:a16="http://schemas.microsoft.com/office/drawing/2014/main" id="{9CFE05C2-5DA7-7216-E284-8BBD42CC9761}"/>
                </a:ext>
              </a:extLst>
            </p:cNvPr>
            <p:cNvGrpSpPr/>
            <p:nvPr/>
          </p:nvGrpSpPr>
          <p:grpSpPr>
            <a:xfrm>
              <a:off x="6890850" y="1288325"/>
              <a:ext cx="1725985" cy="5245558"/>
              <a:chOff x="6890850" y="1288325"/>
              <a:chExt cx="1725985" cy="5245558"/>
            </a:xfrm>
          </p:grpSpPr>
          <p:sp>
            <p:nvSpPr>
              <p:cNvPr id="328" name="Rettangolo 121">
                <a:extLst>
                  <a:ext uri="{FF2B5EF4-FFF2-40B4-BE49-F238E27FC236}">
                    <a16:creationId xmlns:a16="http://schemas.microsoft.com/office/drawing/2014/main" id="{2F74A79E-A05A-7F2B-204B-BB497CD616D8}"/>
                  </a:ext>
                </a:extLst>
              </p:cNvPr>
              <p:cNvSpPr/>
              <p:nvPr/>
            </p:nvSpPr>
            <p:spPr>
              <a:xfrm>
                <a:off x="6890850" y="1584049"/>
                <a:ext cx="1725985" cy="4949834"/>
              </a:xfrm>
              <a:prstGeom prst="rect">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26" name="Rectangle 63">
                <a:extLst>
                  <a:ext uri="{FF2B5EF4-FFF2-40B4-BE49-F238E27FC236}">
                    <a16:creationId xmlns:a16="http://schemas.microsoft.com/office/drawing/2014/main" id="{79F32023-3293-F94F-0C34-85407D2E4F4A}"/>
                  </a:ext>
                </a:extLst>
              </p:cNvPr>
              <p:cNvSpPr/>
              <p:nvPr/>
            </p:nvSpPr>
            <p:spPr>
              <a:xfrm>
                <a:off x="6968345" y="1288325"/>
                <a:ext cx="1565900" cy="271705"/>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b="1">
                    <a:solidFill>
                      <a:srgbClr val="FFFFFF"/>
                    </a:solidFill>
                    <a:latin typeface="Segoe UI" panose="020B0502040204020203" pitchFamily="34" charset="0"/>
                    <a:cs typeface="Segoe UI" panose="020B0502040204020203" pitchFamily="34" charset="0"/>
                  </a:rPr>
                  <a:t>Competitor 1</a:t>
                </a:r>
                <a:endParaRPr kumimoji="0" lang="it-IT" sz="1200" b="1" i="1" u="none" strike="noStrike" kern="1200" cap="none" spc="0" normalizeH="0" baseline="0" noProof="0">
                  <a:ln>
                    <a:noFill/>
                  </a:ln>
                  <a:solidFill>
                    <a:srgbClr val="FFFFFF"/>
                  </a:solidFill>
                  <a:effectLst/>
                  <a:uLnTx/>
                  <a:uFillTx/>
                  <a:latin typeface="Segoe UI" panose="020B0502040204020203" pitchFamily="34" charset="0"/>
                  <a:cs typeface="Segoe UI" panose="020B0502040204020203" pitchFamily="34" charset="0"/>
                </a:endParaRPr>
              </a:p>
            </p:txBody>
          </p:sp>
        </p:grpSp>
        <p:pic>
          <p:nvPicPr>
            <p:cNvPr id="524" name="Picture 4" descr="Sèrzela">
              <a:extLst>
                <a:ext uri="{FF2B5EF4-FFF2-40B4-BE49-F238E27FC236}">
                  <a16:creationId xmlns:a16="http://schemas.microsoft.com/office/drawing/2014/main" id="{5ECA0896-93D3-1899-8280-698BB21D32C1}"/>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73716" y="177277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26" name="Picture 4" descr="Sèrzela">
              <a:extLst>
                <a:ext uri="{FF2B5EF4-FFF2-40B4-BE49-F238E27FC236}">
                  <a16:creationId xmlns:a16="http://schemas.microsoft.com/office/drawing/2014/main" id="{7FE94C96-F366-8B19-9CEA-BF21594E6A53}"/>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73716" y="257139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27" name="Picture 4" descr="Sèrzela">
              <a:extLst>
                <a:ext uri="{FF2B5EF4-FFF2-40B4-BE49-F238E27FC236}">
                  <a16:creationId xmlns:a16="http://schemas.microsoft.com/office/drawing/2014/main" id="{0C3053A1-8DB6-0660-BDC9-FB920DE538DE}"/>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73716" y="297070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28" name="Picture 4" descr="Sèrzela">
              <a:extLst>
                <a:ext uri="{FF2B5EF4-FFF2-40B4-BE49-F238E27FC236}">
                  <a16:creationId xmlns:a16="http://schemas.microsoft.com/office/drawing/2014/main" id="{4F729856-44DE-72CA-BF92-42BE0B14E5D7}"/>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73716" y="337001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32" name="Picture 4" descr="Sèrzela">
              <a:extLst>
                <a:ext uri="{FF2B5EF4-FFF2-40B4-BE49-F238E27FC236}">
                  <a16:creationId xmlns:a16="http://schemas.microsoft.com/office/drawing/2014/main" id="{A276D037-E10D-C733-5675-E9A1B48F581E}"/>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73716" y="496725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33" name="Picture 4" descr="Sèrzela">
              <a:extLst>
                <a:ext uri="{FF2B5EF4-FFF2-40B4-BE49-F238E27FC236}">
                  <a16:creationId xmlns:a16="http://schemas.microsoft.com/office/drawing/2014/main" id="{15971F12-4C8F-86ED-408D-55F7CF9B6851}"/>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73716" y="536656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31" name="Picture 4" descr="Sèrzela">
              <a:extLst>
                <a:ext uri="{FF2B5EF4-FFF2-40B4-BE49-F238E27FC236}">
                  <a16:creationId xmlns:a16="http://schemas.microsoft.com/office/drawing/2014/main" id="{CB9978A6-9537-B3B0-8D39-E1D152FC49D9}"/>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73716" y="4567946"/>
              <a:ext cx="160252" cy="160252"/>
            </a:xfrm>
            <a:prstGeom prst="rect">
              <a:avLst/>
            </a:prstGeom>
            <a:noFill/>
            <a:extLst>
              <a:ext uri="{909E8E84-426E-40DD-AFC4-6F175D3DCCD1}">
                <a14:hiddenFill xmlns:a14="http://schemas.microsoft.com/office/drawing/2010/main">
                  <a:solidFill>
                    <a:srgbClr val="FFFFFF"/>
                  </a:solidFill>
                </a14:hiddenFill>
              </a:ext>
            </a:extLst>
          </p:spPr>
        </p:pic>
        <p:pic>
          <p:nvPicPr>
            <p:cNvPr id="529" name="Picture 4" descr="Sèrzela">
              <a:extLst>
                <a:ext uri="{FF2B5EF4-FFF2-40B4-BE49-F238E27FC236}">
                  <a16:creationId xmlns:a16="http://schemas.microsoft.com/office/drawing/2014/main" id="{3E8940A5-E1CD-6E4F-5906-F3BC81BB48EB}"/>
                </a:ext>
              </a:extLst>
            </p:cNvPr>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673716" y="3769326"/>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541" name="CasellaDiTesto 365">
              <a:extLst>
                <a:ext uri="{FF2B5EF4-FFF2-40B4-BE49-F238E27FC236}">
                  <a16:creationId xmlns:a16="http://schemas.microsoft.com/office/drawing/2014/main" id="{33D8E3A2-6E33-E34C-6C49-2C6EFDB1123C}"/>
                </a:ext>
              </a:extLst>
            </p:cNvPr>
            <p:cNvSpPr txBox="1"/>
            <p:nvPr/>
          </p:nvSpPr>
          <p:spPr>
            <a:xfrm>
              <a:off x="7545861" y="2121407"/>
              <a:ext cx="415962" cy="261610"/>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1,50€</a:t>
              </a:r>
            </a:p>
          </p:txBody>
        </p:sp>
        <p:pic>
          <p:nvPicPr>
            <p:cNvPr id="3" name="Picture 6" descr="Centro Idea Casa - spunta verde">
              <a:extLst>
                <a:ext uri="{FF2B5EF4-FFF2-40B4-BE49-F238E27FC236}">
                  <a16:creationId xmlns:a16="http://schemas.microsoft.com/office/drawing/2014/main" id="{BE07837E-3771-9B8E-5D6C-0C61560F5FBB}"/>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18858" y="4140023"/>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Centro Idea Casa - spunta verde">
              <a:extLst>
                <a:ext uri="{FF2B5EF4-FFF2-40B4-BE49-F238E27FC236}">
                  <a16:creationId xmlns:a16="http://schemas.microsoft.com/office/drawing/2014/main" id="{8086F667-A5C8-30B9-73CB-CB052CB118B6}"/>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33947" y="5737263"/>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Centro Idea Casa - spunta verde">
              <a:extLst>
                <a:ext uri="{FF2B5EF4-FFF2-40B4-BE49-F238E27FC236}">
                  <a16:creationId xmlns:a16="http://schemas.microsoft.com/office/drawing/2014/main" id="{A5FAF23F-7D86-25CC-ADE6-865F3C4F1AD9}"/>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18858" y="6136573"/>
              <a:ext cx="234696" cy="217479"/>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 Placeholder 1">
            <a:extLst>
              <a:ext uri="{FF2B5EF4-FFF2-40B4-BE49-F238E27FC236}">
                <a16:creationId xmlns:a16="http://schemas.microsoft.com/office/drawing/2014/main" id="{BCACD602-7D04-4703-3074-F4B099745689}"/>
              </a:ext>
            </a:extLst>
          </p:cNvPr>
          <p:cNvSpPr txBox="1">
            <a:spLocks/>
          </p:cNvSpPr>
          <p:nvPr/>
        </p:nvSpPr>
        <p:spPr>
          <a:xfrm>
            <a:off x="503854" y="158637"/>
            <a:ext cx="10416695" cy="782638"/>
          </a:xfrm>
          <a:prstGeom prst="rect">
            <a:avLst/>
          </a:prstGeom>
        </p:spPr>
        <p:txBody>
          <a:bodyPr lIns="91440" tIns="45720" rIns="91440" bIns="4572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lang="en-US"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rgbClr val="0057B7"/>
                </a:solidFill>
                <a:effectLst/>
                <a:uLnTx/>
                <a:uFillTx/>
                <a:latin typeface="Avenir Next LT Pro"/>
                <a:ea typeface="+mn-ea"/>
                <a:cs typeface="Poppins" panose="00000500000000000000" pitchFamily="2" charset="0"/>
                <a:sym typeface="Helvetica Neue"/>
              </a:rPr>
              <a:t>Benchmark </a:t>
            </a:r>
            <a:r>
              <a:rPr kumimoji="0" lang="en-US" sz="2400" i="0" u="none" strike="noStrike" kern="1200" cap="none" spc="0" normalizeH="0" baseline="0" noProof="0" err="1">
                <a:ln>
                  <a:noFill/>
                </a:ln>
                <a:solidFill>
                  <a:srgbClr val="0057B7"/>
                </a:solidFill>
                <a:effectLst/>
                <a:uLnTx/>
                <a:uFillTx/>
                <a:latin typeface="Avenir Next LT Pro"/>
                <a:ea typeface="+mn-ea"/>
                <a:cs typeface="Poppins" panose="00000500000000000000" pitchFamily="2" charset="0"/>
                <a:sym typeface="Helvetica Neue"/>
              </a:rPr>
              <a:t>Telepass</a:t>
            </a:r>
            <a:r>
              <a:rPr kumimoji="0" lang="en-US" sz="2400" i="0" u="none" strike="noStrike" kern="1200" cap="none" spc="0" normalizeH="0" baseline="0" noProof="0">
                <a:ln>
                  <a:noFill/>
                </a:ln>
                <a:solidFill>
                  <a:srgbClr val="0057B7"/>
                </a:solidFill>
                <a:effectLst/>
                <a:uLnTx/>
                <a:uFillTx/>
                <a:latin typeface="Avenir Next LT Pro"/>
                <a:ea typeface="+mn-ea"/>
                <a:cs typeface="Poppins" panose="00000500000000000000" pitchFamily="2" charset="0"/>
                <a:sym typeface="Helvetica Neue"/>
              </a:rPr>
              <a:t> Base vs Competitors</a:t>
            </a:r>
          </a:p>
        </p:txBody>
      </p:sp>
    </p:spTree>
    <p:extLst>
      <p:ext uri="{BB962C8B-B14F-4D97-AF65-F5344CB8AC3E}">
        <p14:creationId xmlns:p14="http://schemas.microsoft.com/office/powerpoint/2010/main" val="1905681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ggetto 5" hidden="1">
            <a:extLst>
              <a:ext uri="{FF2B5EF4-FFF2-40B4-BE49-F238E27FC236}">
                <a16:creationId xmlns:a16="http://schemas.microsoft.com/office/drawing/2014/main" id="{6CC8F3A1-DE18-4C9F-BF41-AF76BDFBC99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503" imgH="503" progId="TCLayout.ActiveDocument.1">
                  <p:embed/>
                </p:oleObj>
              </mc:Choice>
              <mc:Fallback>
                <p:oleObj name="Diapositiva think-cell" r:id="rId4" imgW="503" imgH="503" progId="TCLayout.ActiveDocument.1">
                  <p:embed/>
                  <p:pic>
                    <p:nvPicPr>
                      <p:cNvPr id="6" name="Oggetto 5" hidden="1">
                        <a:extLst>
                          <a:ext uri="{FF2B5EF4-FFF2-40B4-BE49-F238E27FC236}">
                            <a16:creationId xmlns:a16="http://schemas.microsoft.com/office/drawing/2014/main" id="{6CC8F3A1-DE18-4C9F-BF41-AF76BDFBC99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F916155-473C-4C0F-811F-3FFE98CCDDF9}"/>
              </a:ext>
            </a:extLst>
          </p:cNvPr>
          <p:cNvSpPr>
            <a:spLocks noGrp="1"/>
          </p:cNvSpPr>
          <p:nvPr>
            <p:ph type="body" sz="quarter" idx="11"/>
          </p:nvPr>
        </p:nvSpPr>
        <p:spPr>
          <a:xfrm>
            <a:off x="812799" y="251666"/>
            <a:ext cx="10388601" cy="782638"/>
          </a:xfrm>
        </p:spPr>
        <p:txBody>
          <a:bodyPr lIns="91440" tIns="45720" rIns="91440" bIns="45720" anchor="t"/>
          <a:lstStyle/>
          <a:p>
            <a:r>
              <a:rPr lang="en-GB" b="1">
                <a:latin typeface="Avenir Next LT Pro"/>
                <a:cs typeface="Poppins"/>
              </a:rPr>
              <a:t>Benchmark </a:t>
            </a:r>
            <a:r>
              <a:rPr lang="en-GB" b="1" err="1">
                <a:latin typeface="Avenir Next LT Pro"/>
                <a:cs typeface="Poppins"/>
              </a:rPr>
              <a:t>Assistenza</a:t>
            </a:r>
            <a:r>
              <a:rPr lang="en-GB" b="1">
                <a:latin typeface="Avenir Next LT Pro"/>
                <a:cs typeface="Poppins"/>
              </a:rPr>
              <a:t> Stradale (WoW - Europa)</a:t>
            </a:r>
          </a:p>
        </p:txBody>
      </p:sp>
      <p:sp>
        <p:nvSpPr>
          <p:cNvPr id="18" name="Slide Number Placeholder 104">
            <a:extLst>
              <a:ext uri="{FF2B5EF4-FFF2-40B4-BE49-F238E27FC236}">
                <a16:creationId xmlns:a16="http://schemas.microsoft.com/office/drawing/2014/main" id="{3AD7ACE7-00A1-D34D-AFDE-BB7ADCA88A21}"/>
              </a:ext>
            </a:extLst>
          </p:cNvPr>
          <p:cNvSpPr>
            <a:spLocks noGrp="1"/>
          </p:cNvSpPr>
          <p:nvPr>
            <p:ph type="sldNum" sz="quarter" idx="2"/>
          </p:nvPr>
        </p:nvSpPr>
        <p:spPr>
          <a:xfrm>
            <a:off x="11614996" y="6443521"/>
            <a:ext cx="409933" cy="272589"/>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it-IT" sz="1200" b="0" i="0" u="none" strike="noStrike" kern="1200" cap="none" spc="0" normalizeH="0" baseline="0" noProof="0" smtClean="0">
                <a:ln>
                  <a:noFill/>
                </a:ln>
                <a:solidFill>
                  <a:srgbClr val="0057B7"/>
                </a:solidFill>
                <a:effectLst/>
                <a:uLnTx/>
                <a:uFillTx/>
                <a:latin typeface="Avenir Next LT Pro" panose="020B0504020202020204" pitchFamily="34" charset="77"/>
                <a:ea typeface="+mn-ea"/>
                <a:cs typeface="Poppins Medium" panose="02000000000000000000"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it-IT" sz="1200" b="0" i="0" u="none" strike="noStrike" kern="1200" cap="none" spc="0" normalizeH="0" baseline="0" noProof="0">
              <a:ln>
                <a:noFill/>
              </a:ln>
              <a:solidFill>
                <a:srgbClr val="0057B7"/>
              </a:solidFill>
              <a:effectLst/>
              <a:uLnTx/>
              <a:uFillTx/>
              <a:latin typeface="Avenir Next LT Pro" panose="020B0504020202020204" pitchFamily="34" charset="77"/>
              <a:ea typeface="+mn-ea"/>
              <a:cs typeface="Poppins Medium" panose="02000000000000000000" pitchFamily="2" charset="77"/>
            </a:endParaRPr>
          </a:p>
        </p:txBody>
      </p:sp>
      <p:sp>
        <p:nvSpPr>
          <p:cNvPr id="55" name="CasellaDiTesto 54">
            <a:extLst>
              <a:ext uri="{FF2B5EF4-FFF2-40B4-BE49-F238E27FC236}">
                <a16:creationId xmlns:a16="http://schemas.microsoft.com/office/drawing/2014/main" id="{AB067B71-A628-4BC7-97DF-A2CB3A392ABD}"/>
              </a:ext>
            </a:extLst>
          </p:cNvPr>
          <p:cNvSpPr txBox="1">
            <a:spLocks/>
          </p:cNvSpPr>
          <p:nvPr/>
        </p:nvSpPr>
        <p:spPr>
          <a:xfrm>
            <a:off x="112219" y="1650704"/>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Soccorso Stradale</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57" name="CasellaDiTesto 56">
            <a:extLst>
              <a:ext uri="{FF2B5EF4-FFF2-40B4-BE49-F238E27FC236}">
                <a16:creationId xmlns:a16="http://schemas.microsoft.com/office/drawing/2014/main" id="{DC4B9892-29D6-4F0D-86AA-DD215C6722A0}"/>
              </a:ext>
            </a:extLst>
          </p:cNvPr>
          <p:cNvSpPr txBox="1">
            <a:spLocks/>
          </p:cNvSpPr>
          <p:nvPr/>
        </p:nvSpPr>
        <p:spPr>
          <a:xfrm>
            <a:off x="112219" y="2613108"/>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Auto Sostitutiva</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65" name="CasellaDiTesto 64">
            <a:extLst>
              <a:ext uri="{FF2B5EF4-FFF2-40B4-BE49-F238E27FC236}">
                <a16:creationId xmlns:a16="http://schemas.microsoft.com/office/drawing/2014/main" id="{01B3FE3C-F3B6-49AE-8B82-63953AF83B6D}"/>
              </a:ext>
            </a:extLst>
          </p:cNvPr>
          <p:cNvSpPr txBox="1">
            <a:spLocks/>
          </p:cNvSpPr>
          <p:nvPr/>
        </p:nvSpPr>
        <p:spPr>
          <a:xfrm>
            <a:off x="112219" y="4604977"/>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Rientro Sanitario dall’estero</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71" name="CasellaDiTesto 70">
            <a:extLst>
              <a:ext uri="{FF2B5EF4-FFF2-40B4-BE49-F238E27FC236}">
                <a16:creationId xmlns:a16="http://schemas.microsoft.com/office/drawing/2014/main" id="{1BF73961-2B50-4347-82DD-7B0FAB7E8F34}"/>
              </a:ext>
            </a:extLst>
          </p:cNvPr>
          <p:cNvSpPr txBox="1">
            <a:spLocks/>
          </p:cNvSpPr>
          <p:nvPr/>
        </p:nvSpPr>
        <p:spPr>
          <a:xfrm>
            <a:off x="112219" y="3582144"/>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Spese recupero post </a:t>
            </a:r>
            <a:r>
              <a:rPr kumimoji="0" lang="it-IT" sz="1200" b="1" i="0" u="none" strike="noStrike" kern="1200" cap="none" spc="0" normalizeH="0" baseline="0" noProof="0" err="1">
                <a:ln>
                  <a:noFill/>
                </a:ln>
                <a:solidFill>
                  <a:srgbClr val="242424"/>
                </a:solidFill>
                <a:effectLst/>
                <a:uLnTx/>
                <a:uFillTx/>
                <a:latin typeface="Segoe UI" panose="020B0502040204020203" pitchFamily="34" charset="0"/>
                <a:ea typeface="+mn-ea"/>
                <a:cs typeface="+mn-cs"/>
              </a:rPr>
              <a:t>riparaz</a:t>
            </a: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92" name="CasellaDiTesto 91">
            <a:extLst>
              <a:ext uri="{FF2B5EF4-FFF2-40B4-BE49-F238E27FC236}">
                <a16:creationId xmlns:a16="http://schemas.microsoft.com/office/drawing/2014/main" id="{04CFBBC9-A6A4-49EB-B8FB-340E52C4AAF6}"/>
              </a:ext>
            </a:extLst>
          </p:cNvPr>
          <p:cNvSpPr txBox="1">
            <a:spLocks/>
          </p:cNvSpPr>
          <p:nvPr/>
        </p:nvSpPr>
        <p:spPr>
          <a:xfrm>
            <a:off x="112219" y="2015863"/>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err="1">
                <a:ln>
                  <a:noFill/>
                </a:ln>
                <a:solidFill>
                  <a:srgbClr val="242424"/>
                </a:solidFill>
                <a:effectLst/>
                <a:uLnTx/>
                <a:uFillTx/>
                <a:latin typeface="Segoe UI" panose="020B0502040204020203" pitchFamily="34" charset="0"/>
                <a:ea typeface="+mn-ea"/>
                <a:cs typeface="+mn-cs"/>
              </a:rPr>
              <a:t>Depannage</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93" name="CasellaDiTesto 92">
            <a:extLst>
              <a:ext uri="{FF2B5EF4-FFF2-40B4-BE49-F238E27FC236}">
                <a16:creationId xmlns:a16="http://schemas.microsoft.com/office/drawing/2014/main" id="{5062871D-8CF4-4893-A027-E9089505152A}"/>
              </a:ext>
            </a:extLst>
          </p:cNvPr>
          <p:cNvSpPr txBox="1">
            <a:spLocks/>
          </p:cNvSpPr>
          <p:nvPr/>
        </p:nvSpPr>
        <p:spPr>
          <a:xfrm>
            <a:off x="112219" y="2908692"/>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Invio Taxi</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94" name="CasellaDiTesto 93">
            <a:extLst>
              <a:ext uri="{FF2B5EF4-FFF2-40B4-BE49-F238E27FC236}">
                <a16:creationId xmlns:a16="http://schemas.microsoft.com/office/drawing/2014/main" id="{4C12EB10-373F-4499-8A86-9F3B1EE43343}"/>
              </a:ext>
            </a:extLst>
          </p:cNvPr>
          <p:cNvSpPr txBox="1">
            <a:spLocks/>
          </p:cNvSpPr>
          <p:nvPr/>
        </p:nvSpPr>
        <p:spPr>
          <a:xfrm>
            <a:off x="112219" y="4890899"/>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Spese rientro passeggeri</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95" name="CasellaDiTesto 94">
            <a:extLst>
              <a:ext uri="{FF2B5EF4-FFF2-40B4-BE49-F238E27FC236}">
                <a16:creationId xmlns:a16="http://schemas.microsoft.com/office/drawing/2014/main" id="{ECE3393B-BDAD-4421-BE2D-0E7CF0136CB3}"/>
              </a:ext>
            </a:extLst>
          </p:cNvPr>
          <p:cNvSpPr txBox="1">
            <a:spLocks/>
          </p:cNvSpPr>
          <p:nvPr/>
        </p:nvSpPr>
        <p:spPr>
          <a:xfrm>
            <a:off x="112219" y="3986605"/>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Invio autista</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96" name="CasellaDiTesto 95">
            <a:extLst>
              <a:ext uri="{FF2B5EF4-FFF2-40B4-BE49-F238E27FC236}">
                <a16:creationId xmlns:a16="http://schemas.microsoft.com/office/drawing/2014/main" id="{2542B9BF-BBED-4C1E-9166-CCBC6F8CBBE0}"/>
              </a:ext>
            </a:extLst>
          </p:cNvPr>
          <p:cNvSpPr txBox="1">
            <a:spLocks/>
          </p:cNvSpPr>
          <p:nvPr/>
        </p:nvSpPr>
        <p:spPr>
          <a:xfrm>
            <a:off x="112219" y="2301785"/>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Recupero fuori strada</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97" name="CasellaDiTesto 96">
            <a:extLst>
              <a:ext uri="{FF2B5EF4-FFF2-40B4-BE49-F238E27FC236}">
                <a16:creationId xmlns:a16="http://schemas.microsoft.com/office/drawing/2014/main" id="{D827A644-12F6-45CE-A79F-3F0F868515EC}"/>
              </a:ext>
            </a:extLst>
          </p:cNvPr>
          <p:cNvSpPr txBox="1">
            <a:spLocks/>
          </p:cNvSpPr>
          <p:nvPr/>
        </p:nvSpPr>
        <p:spPr>
          <a:xfrm>
            <a:off x="112219" y="3203083"/>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Spese di albergo</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98" name="CasellaDiTesto 97">
            <a:extLst>
              <a:ext uri="{FF2B5EF4-FFF2-40B4-BE49-F238E27FC236}">
                <a16:creationId xmlns:a16="http://schemas.microsoft.com/office/drawing/2014/main" id="{76A4C5BE-E6DD-4995-8877-76628E5729C5}"/>
              </a:ext>
            </a:extLst>
          </p:cNvPr>
          <p:cNvSpPr txBox="1">
            <a:spLocks/>
          </p:cNvSpPr>
          <p:nvPr/>
        </p:nvSpPr>
        <p:spPr>
          <a:xfrm>
            <a:off x="112219" y="5269958"/>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Anticipo spese prima necessità</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99" name="CasellaDiTesto 98">
            <a:extLst>
              <a:ext uri="{FF2B5EF4-FFF2-40B4-BE49-F238E27FC236}">
                <a16:creationId xmlns:a16="http://schemas.microsoft.com/office/drawing/2014/main" id="{0EAF1E82-8846-45F3-988D-08246CBA0FAF}"/>
              </a:ext>
            </a:extLst>
          </p:cNvPr>
          <p:cNvSpPr txBox="1">
            <a:spLocks/>
          </p:cNvSpPr>
          <p:nvPr/>
        </p:nvSpPr>
        <p:spPr>
          <a:xfrm>
            <a:off x="112219" y="4327522"/>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242424"/>
                </a:solidFill>
                <a:effectLst/>
                <a:uLnTx/>
                <a:uFillTx/>
                <a:latin typeface="Segoe UI" panose="020B0502040204020203" pitchFamily="34" charset="0"/>
                <a:ea typeface="+mn-ea"/>
                <a:cs typeface="+mn-cs"/>
              </a:rPr>
              <a:t>Consulto medico telefonico</a:t>
            </a:r>
            <a:endParaRPr kumimoji="0" lang="it-IT" sz="1200" b="0" i="0" u="none" strike="noStrike" kern="1200" cap="none" spc="0" normalizeH="0" baseline="0" noProof="0" dirty="0">
              <a:ln>
                <a:noFill/>
              </a:ln>
              <a:solidFill>
                <a:srgbClr val="242424"/>
              </a:solidFill>
              <a:effectLst/>
              <a:uLnTx/>
              <a:uFillTx/>
              <a:latin typeface="Segoe UI" panose="020B0502040204020203" pitchFamily="34" charset="0"/>
              <a:ea typeface="+mn-ea"/>
              <a:cs typeface="+mn-cs"/>
            </a:endParaRPr>
          </a:p>
        </p:txBody>
      </p:sp>
      <p:sp>
        <p:nvSpPr>
          <p:cNvPr id="100" name="CasellaDiTesto 99">
            <a:extLst>
              <a:ext uri="{FF2B5EF4-FFF2-40B4-BE49-F238E27FC236}">
                <a16:creationId xmlns:a16="http://schemas.microsoft.com/office/drawing/2014/main" id="{B030ACA6-672D-4177-A7C4-BC7861F4CB76}"/>
              </a:ext>
            </a:extLst>
          </p:cNvPr>
          <p:cNvSpPr txBox="1">
            <a:spLocks/>
          </p:cNvSpPr>
          <p:nvPr/>
        </p:nvSpPr>
        <p:spPr>
          <a:xfrm>
            <a:off x="112219" y="5547413"/>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Anticipo cauzione all’estero</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101" name="CasellaDiTesto 100">
            <a:extLst>
              <a:ext uri="{FF2B5EF4-FFF2-40B4-BE49-F238E27FC236}">
                <a16:creationId xmlns:a16="http://schemas.microsoft.com/office/drawing/2014/main" id="{84A399C9-8D2A-4C13-95F2-FE09E53EEDE0}"/>
              </a:ext>
            </a:extLst>
          </p:cNvPr>
          <p:cNvSpPr txBox="1">
            <a:spLocks/>
          </p:cNvSpPr>
          <p:nvPr/>
        </p:nvSpPr>
        <p:spPr>
          <a:xfrm>
            <a:off x="112219" y="5827119"/>
            <a:ext cx="2448000" cy="236906"/>
          </a:xfrm>
          <a:prstGeom prst="homePlate">
            <a:avLst/>
          </a:prstGeom>
          <a:solidFill>
            <a:schemeClr val="bg1">
              <a:lumMod val="8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242424"/>
                </a:solidFill>
                <a:effectLst/>
                <a:uLnTx/>
                <a:uFillTx/>
                <a:latin typeface="Segoe UI" panose="020B0502040204020203" pitchFamily="34" charset="0"/>
                <a:ea typeface="+mn-ea"/>
                <a:cs typeface="+mn-cs"/>
              </a:rPr>
              <a:t>Protezione giuridica all’estero</a:t>
            </a:r>
            <a:endParaRPr kumimoji="0" lang="it-IT" sz="12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88" name="Rettangolo 87">
            <a:extLst>
              <a:ext uri="{FF2B5EF4-FFF2-40B4-BE49-F238E27FC236}">
                <a16:creationId xmlns:a16="http://schemas.microsoft.com/office/drawing/2014/main" id="{680427EA-6FEA-494B-AE40-FEFB8E379BB8}"/>
              </a:ext>
            </a:extLst>
          </p:cNvPr>
          <p:cNvSpPr/>
          <p:nvPr/>
        </p:nvSpPr>
        <p:spPr>
          <a:xfrm>
            <a:off x="2700379" y="1217502"/>
            <a:ext cx="2160000" cy="5073231"/>
          </a:xfrm>
          <a:prstGeom prst="rect">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89" name="Rectangle 63">
            <a:extLst>
              <a:ext uri="{FF2B5EF4-FFF2-40B4-BE49-F238E27FC236}">
                <a16:creationId xmlns:a16="http://schemas.microsoft.com/office/drawing/2014/main" id="{99D1BA2D-F859-4C65-8649-70D17518B8AB}"/>
              </a:ext>
            </a:extLst>
          </p:cNvPr>
          <p:cNvSpPr/>
          <p:nvPr/>
        </p:nvSpPr>
        <p:spPr>
          <a:xfrm>
            <a:off x="2905139" y="1273337"/>
            <a:ext cx="1750481" cy="2588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a:ln>
                  <a:noFill/>
                </a:ln>
                <a:solidFill>
                  <a:srgbClr val="000000"/>
                </a:solidFill>
                <a:effectLst/>
                <a:uLnTx/>
                <a:uFillTx/>
                <a:latin typeface="Avenir Next LT Pro" panose="020B0504020202020204" pitchFamily="34" charset="77"/>
                <a:ea typeface="+mn-ea"/>
                <a:cs typeface="+mn-cs"/>
              </a:rPr>
              <a:t>Assistenza Stradale</a:t>
            </a:r>
            <a:endParaRPr kumimoji="0" lang="it-IT" sz="1200" b="1" i="1" u="none" strike="noStrike" kern="1200" cap="none" spc="0" normalizeH="0" baseline="0" noProof="0">
              <a:ln>
                <a:noFill/>
              </a:ln>
              <a:solidFill>
                <a:srgbClr val="000000"/>
              </a:solidFill>
              <a:effectLst/>
              <a:uLnTx/>
              <a:uFillTx/>
              <a:latin typeface="Avenir Next LT Pro" panose="020B0504020202020204" pitchFamily="34" charset="77"/>
              <a:ea typeface="+mn-ea"/>
              <a:cs typeface="+mn-cs"/>
            </a:endParaRPr>
          </a:p>
        </p:txBody>
      </p:sp>
      <p:pic>
        <p:nvPicPr>
          <p:cNvPr id="86" name="Picture 6" descr="Centro Idea Casa - spunta verde">
            <a:extLst>
              <a:ext uri="{FF2B5EF4-FFF2-40B4-BE49-F238E27FC236}">
                <a16:creationId xmlns:a16="http://schemas.microsoft.com/office/drawing/2014/main" id="{58D7B55A-AF1B-4929-8992-26E915D36AD0}"/>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165543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87" name="CasellaDiTesto 86">
            <a:extLst>
              <a:ext uri="{FF2B5EF4-FFF2-40B4-BE49-F238E27FC236}">
                <a16:creationId xmlns:a16="http://schemas.microsoft.com/office/drawing/2014/main" id="{4F43BC86-9584-4763-8E49-32A5EE4442AA}"/>
              </a:ext>
            </a:extLst>
          </p:cNvPr>
          <p:cNvSpPr txBox="1"/>
          <p:nvPr/>
        </p:nvSpPr>
        <p:spPr>
          <a:xfrm>
            <a:off x="2985730" y="164712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H24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guasto, incendio o incidente</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176" name="Picture 6" descr="Centro Idea Casa - spunta verde">
            <a:extLst>
              <a:ext uri="{FF2B5EF4-FFF2-40B4-BE49-F238E27FC236}">
                <a16:creationId xmlns:a16="http://schemas.microsoft.com/office/drawing/2014/main" id="{62E384EA-A731-4DE3-8699-6533E180914C}"/>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203956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177" name="CasellaDiTesto 176">
            <a:extLst>
              <a:ext uri="{FF2B5EF4-FFF2-40B4-BE49-F238E27FC236}">
                <a16:creationId xmlns:a16="http://schemas.microsoft.com/office/drawing/2014/main" id="{514BEA5F-AD7F-46C2-8338-F44F55D6BFEA}"/>
              </a:ext>
            </a:extLst>
          </p:cNvPr>
          <p:cNvSpPr txBox="1"/>
          <p:nvPr/>
        </p:nvSpPr>
        <p:spPr>
          <a:xfrm>
            <a:off x="2985730" y="203125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Italia ed Europa</a:t>
            </a:r>
          </a:p>
        </p:txBody>
      </p:sp>
      <p:pic>
        <p:nvPicPr>
          <p:cNvPr id="191" name="Picture 6" descr="Centro Idea Casa - spunta verde">
            <a:extLst>
              <a:ext uri="{FF2B5EF4-FFF2-40B4-BE49-F238E27FC236}">
                <a16:creationId xmlns:a16="http://schemas.microsoft.com/office/drawing/2014/main" id="{C88C26DB-1E90-427B-B8F0-7AA0F3C6D3A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231010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192" name="CasellaDiTesto 191">
            <a:extLst>
              <a:ext uri="{FF2B5EF4-FFF2-40B4-BE49-F238E27FC236}">
                <a16:creationId xmlns:a16="http://schemas.microsoft.com/office/drawing/2014/main" id="{1349DBE2-368F-4A01-BE9F-1C82E7EE21A8}"/>
              </a:ext>
            </a:extLst>
          </p:cNvPr>
          <p:cNvSpPr txBox="1"/>
          <p:nvPr/>
        </p:nvSpPr>
        <p:spPr>
          <a:xfrm>
            <a:off x="2985730" y="230178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150€ ad evento</a:t>
            </a:r>
          </a:p>
        </p:txBody>
      </p:sp>
      <p:pic>
        <p:nvPicPr>
          <p:cNvPr id="202" name="Picture 6" descr="Centro Idea Casa - spunta verde">
            <a:extLst>
              <a:ext uri="{FF2B5EF4-FFF2-40B4-BE49-F238E27FC236}">
                <a16:creationId xmlns:a16="http://schemas.microsoft.com/office/drawing/2014/main" id="{2C7DCCC5-FF75-45C5-AFC0-5FAB74D25D7C}"/>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260834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03" name="CasellaDiTesto 202">
            <a:extLst>
              <a:ext uri="{FF2B5EF4-FFF2-40B4-BE49-F238E27FC236}">
                <a16:creationId xmlns:a16="http://schemas.microsoft.com/office/drawing/2014/main" id="{B4496155-59D3-4AA3-B2D9-FC7C718AAF7C}"/>
              </a:ext>
            </a:extLst>
          </p:cNvPr>
          <p:cNvSpPr txBox="1"/>
          <p:nvPr/>
        </p:nvSpPr>
        <p:spPr>
          <a:xfrm>
            <a:off x="2985730" y="260002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Fino a 5gg</a:t>
            </a:r>
          </a:p>
        </p:txBody>
      </p:sp>
      <p:pic>
        <p:nvPicPr>
          <p:cNvPr id="215" name="Picture 6" descr="Centro Idea Casa - spunta verde">
            <a:extLst>
              <a:ext uri="{FF2B5EF4-FFF2-40B4-BE49-F238E27FC236}">
                <a16:creationId xmlns:a16="http://schemas.microsoft.com/office/drawing/2014/main" id="{B0AFB6D5-6350-45B2-92DB-D2494B329C1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2901650"/>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17" name="CasellaDiTesto 216">
            <a:extLst>
              <a:ext uri="{FF2B5EF4-FFF2-40B4-BE49-F238E27FC236}">
                <a16:creationId xmlns:a16="http://schemas.microsoft.com/office/drawing/2014/main" id="{118F7424-5A99-4BBA-AA35-3AA2BE1BDA05}"/>
              </a:ext>
            </a:extLst>
          </p:cNvPr>
          <p:cNvSpPr txBox="1"/>
          <p:nvPr/>
        </p:nvSpPr>
        <p:spPr>
          <a:xfrm>
            <a:off x="2985730" y="289333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80€ ad evento</a:t>
            </a:r>
          </a:p>
        </p:txBody>
      </p:sp>
      <p:pic>
        <p:nvPicPr>
          <p:cNvPr id="230" name="Picture 6" descr="Centro Idea Casa - spunta verde">
            <a:extLst>
              <a:ext uri="{FF2B5EF4-FFF2-40B4-BE49-F238E27FC236}">
                <a16:creationId xmlns:a16="http://schemas.microsoft.com/office/drawing/2014/main" id="{0988CCD9-C2BF-4BC1-9A1D-01AE12F15816}"/>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3189085"/>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31" name="CasellaDiTesto 230">
            <a:extLst>
              <a:ext uri="{FF2B5EF4-FFF2-40B4-BE49-F238E27FC236}">
                <a16:creationId xmlns:a16="http://schemas.microsoft.com/office/drawing/2014/main" id="{D933B5F9-B376-46C2-AF65-40B925694FC6}"/>
              </a:ext>
            </a:extLst>
          </p:cNvPr>
          <p:cNvSpPr txBox="1"/>
          <p:nvPr/>
        </p:nvSpPr>
        <p:spPr>
          <a:xfrm>
            <a:off x="2985730" y="3180769"/>
            <a:ext cx="1908000" cy="400110"/>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150€ a persona (per notte)</a:t>
            </a:r>
            <a:b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b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Max 500€ ad evento</a:t>
            </a:r>
          </a:p>
        </p:txBody>
      </p:sp>
      <p:pic>
        <p:nvPicPr>
          <p:cNvPr id="240" name="Picture 6" descr="Centro Idea Casa - spunta verde">
            <a:extLst>
              <a:ext uri="{FF2B5EF4-FFF2-40B4-BE49-F238E27FC236}">
                <a16:creationId xmlns:a16="http://schemas.microsoft.com/office/drawing/2014/main" id="{1CE03C08-87B0-4258-8705-A9F01E2C478B}"/>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3585372"/>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41" name="CasellaDiTesto 240">
            <a:extLst>
              <a:ext uri="{FF2B5EF4-FFF2-40B4-BE49-F238E27FC236}">
                <a16:creationId xmlns:a16="http://schemas.microsoft.com/office/drawing/2014/main" id="{B5E02147-ADDD-48CC-A1DE-1FE9A6164B21}"/>
              </a:ext>
            </a:extLst>
          </p:cNvPr>
          <p:cNvSpPr txBox="1"/>
          <p:nvPr/>
        </p:nvSpPr>
        <p:spPr>
          <a:xfrm>
            <a:off x="2985730" y="3577056"/>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200€ ad evento (Italia)</a:t>
            </a:r>
          </a:p>
        </p:txBody>
      </p:sp>
      <p:pic>
        <p:nvPicPr>
          <p:cNvPr id="250" name="Picture 6" descr="Centro Idea Casa - spunta verde">
            <a:extLst>
              <a:ext uri="{FF2B5EF4-FFF2-40B4-BE49-F238E27FC236}">
                <a16:creationId xmlns:a16="http://schemas.microsoft.com/office/drawing/2014/main" id="{200D4835-7025-4F13-9F38-848778FAC9C7}"/>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3965630"/>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51" name="CasellaDiTesto 250">
            <a:extLst>
              <a:ext uri="{FF2B5EF4-FFF2-40B4-BE49-F238E27FC236}">
                <a16:creationId xmlns:a16="http://schemas.microsoft.com/office/drawing/2014/main" id="{83CBB6D5-25CE-4B88-B0DE-108DA9A85B8D}"/>
              </a:ext>
            </a:extLst>
          </p:cNvPr>
          <p:cNvSpPr txBox="1"/>
          <p:nvPr/>
        </p:nvSpPr>
        <p:spPr>
          <a:xfrm>
            <a:off x="2985730" y="3957314"/>
            <a:ext cx="1908000" cy="353943"/>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Massimale non dichiarato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(Infortuni/Malattia)</a:t>
            </a:r>
          </a:p>
        </p:txBody>
      </p:sp>
      <p:pic>
        <p:nvPicPr>
          <p:cNvPr id="268" name="Picture 6" descr="Centro Idea Casa - spunta verde">
            <a:extLst>
              <a:ext uri="{FF2B5EF4-FFF2-40B4-BE49-F238E27FC236}">
                <a16:creationId xmlns:a16="http://schemas.microsoft.com/office/drawing/2014/main" id="{321BF5AD-200A-472E-8D9C-ED7462E7E0AE}"/>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56885" y="4301822"/>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69" name="CasellaDiTesto 268">
            <a:extLst>
              <a:ext uri="{FF2B5EF4-FFF2-40B4-BE49-F238E27FC236}">
                <a16:creationId xmlns:a16="http://schemas.microsoft.com/office/drawing/2014/main" id="{94E46706-483E-4881-8F79-47323B14E6E2}"/>
              </a:ext>
            </a:extLst>
          </p:cNvPr>
          <p:cNvSpPr txBox="1"/>
          <p:nvPr/>
        </p:nvSpPr>
        <p:spPr>
          <a:xfrm>
            <a:off x="2985730" y="4293506"/>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H24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Infortunio o Malattia</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96" name="Picture 4" descr="Sèrzela">
            <a:extLst>
              <a:ext uri="{FF2B5EF4-FFF2-40B4-BE49-F238E27FC236}">
                <a16:creationId xmlns:a16="http://schemas.microsoft.com/office/drawing/2014/main" id="{9183B681-B40E-4773-9332-7530C85D15FE}"/>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69267" y="4630106"/>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297" name="CasellaDiTesto 296">
            <a:extLst>
              <a:ext uri="{FF2B5EF4-FFF2-40B4-BE49-F238E27FC236}">
                <a16:creationId xmlns:a16="http://schemas.microsoft.com/office/drawing/2014/main" id="{D66DF650-6CA8-4ED3-AB1B-728D195C7F89}"/>
              </a:ext>
            </a:extLst>
          </p:cNvPr>
          <p:cNvSpPr txBox="1"/>
          <p:nvPr/>
        </p:nvSpPr>
        <p:spPr>
          <a:xfrm>
            <a:off x="2985730" y="4579357"/>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grpSp>
        <p:nvGrpSpPr>
          <p:cNvPr id="16" name="Gruppo 15">
            <a:extLst>
              <a:ext uri="{FF2B5EF4-FFF2-40B4-BE49-F238E27FC236}">
                <a16:creationId xmlns:a16="http://schemas.microsoft.com/office/drawing/2014/main" id="{7E1DD56A-985F-4F3B-956B-856F5C4435F0}"/>
              </a:ext>
            </a:extLst>
          </p:cNvPr>
          <p:cNvGrpSpPr/>
          <p:nvPr/>
        </p:nvGrpSpPr>
        <p:grpSpPr>
          <a:xfrm>
            <a:off x="2769267" y="4891229"/>
            <a:ext cx="2124463" cy="246221"/>
            <a:chOff x="2769267" y="4891229"/>
            <a:chExt cx="2124463" cy="246221"/>
          </a:xfrm>
        </p:grpSpPr>
        <p:pic>
          <p:nvPicPr>
            <p:cNvPr id="308" name="Picture 4" descr="Sèrzela">
              <a:extLst>
                <a:ext uri="{FF2B5EF4-FFF2-40B4-BE49-F238E27FC236}">
                  <a16:creationId xmlns:a16="http://schemas.microsoft.com/office/drawing/2014/main" id="{22072209-A088-4574-8296-81F7959FDF18}"/>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69267" y="4941978"/>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309" name="CasellaDiTesto 308">
              <a:extLst>
                <a:ext uri="{FF2B5EF4-FFF2-40B4-BE49-F238E27FC236}">
                  <a16:creationId xmlns:a16="http://schemas.microsoft.com/office/drawing/2014/main" id="{10EAD829-9770-45C8-9FC7-CE8DB3008FD4}"/>
                </a:ext>
              </a:extLst>
            </p:cNvPr>
            <p:cNvSpPr txBox="1"/>
            <p:nvPr/>
          </p:nvSpPr>
          <p:spPr>
            <a:xfrm>
              <a:off x="2985730" y="4891229"/>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grpSp>
      <p:grpSp>
        <p:nvGrpSpPr>
          <p:cNvPr id="147" name="Group 146">
            <a:extLst>
              <a:ext uri="{FF2B5EF4-FFF2-40B4-BE49-F238E27FC236}">
                <a16:creationId xmlns:a16="http://schemas.microsoft.com/office/drawing/2014/main" id="{436CF4DC-78A2-7C83-F94A-A08B867048E0}"/>
              </a:ext>
            </a:extLst>
          </p:cNvPr>
          <p:cNvGrpSpPr/>
          <p:nvPr/>
        </p:nvGrpSpPr>
        <p:grpSpPr>
          <a:xfrm>
            <a:off x="2769267" y="5248033"/>
            <a:ext cx="2124463" cy="246221"/>
            <a:chOff x="2769267" y="5256728"/>
            <a:chExt cx="2124463" cy="246221"/>
          </a:xfrm>
        </p:grpSpPr>
        <p:pic>
          <p:nvPicPr>
            <p:cNvPr id="320" name="Picture 4" descr="Sèrzela">
              <a:extLst>
                <a:ext uri="{FF2B5EF4-FFF2-40B4-BE49-F238E27FC236}">
                  <a16:creationId xmlns:a16="http://schemas.microsoft.com/office/drawing/2014/main" id="{D05AA9B8-54E6-4258-95AB-3393C20DB6A3}"/>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69267" y="5307477"/>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321" name="CasellaDiTesto 320">
              <a:extLst>
                <a:ext uri="{FF2B5EF4-FFF2-40B4-BE49-F238E27FC236}">
                  <a16:creationId xmlns:a16="http://schemas.microsoft.com/office/drawing/2014/main" id="{AF4372B6-AF16-4715-ABF1-6303056B0357}"/>
                </a:ext>
              </a:extLst>
            </p:cNvPr>
            <p:cNvSpPr txBox="1"/>
            <p:nvPr/>
          </p:nvSpPr>
          <p:spPr>
            <a:xfrm>
              <a:off x="2985730" y="5256728"/>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grpSp>
      <p:grpSp>
        <p:nvGrpSpPr>
          <p:cNvPr id="148" name="Group 147">
            <a:extLst>
              <a:ext uri="{FF2B5EF4-FFF2-40B4-BE49-F238E27FC236}">
                <a16:creationId xmlns:a16="http://schemas.microsoft.com/office/drawing/2014/main" id="{995DD34F-3E57-573D-13C5-2BF636ACBD3E}"/>
              </a:ext>
            </a:extLst>
          </p:cNvPr>
          <p:cNvGrpSpPr/>
          <p:nvPr/>
        </p:nvGrpSpPr>
        <p:grpSpPr>
          <a:xfrm>
            <a:off x="2769267" y="5529118"/>
            <a:ext cx="2124463" cy="246221"/>
            <a:chOff x="2769267" y="5546285"/>
            <a:chExt cx="2124463" cy="246221"/>
          </a:xfrm>
        </p:grpSpPr>
        <p:pic>
          <p:nvPicPr>
            <p:cNvPr id="338" name="Picture 4" descr="Sèrzela">
              <a:extLst>
                <a:ext uri="{FF2B5EF4-FFF2-40B4-BE49-F238E27FC236}">
                  <a16:creationId xmlns:a16="http://schemas.microsoft.com/office/drawing/2014/main" id="{3D61C4BD-C633-4647-884A-D8133A3C7E0D}"/>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69267" y="5597034"/>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339" name="CasellaDiTesto 338">
              <a:extLst>
                <a:ext uri="{FF2B5EF4-FFF2-40B4-BE49-F238E27FC236}">
                  <a16:creationId xmlns:a16="http://schemas.microsoft.com/office/drawing/2014/main" id="{D45C67FB-1A6A-4EE5-AF8E-1C1E799B861A}"/>
                </a:ext>
              </a:extLst>
            </p:cNvPr>
            <p:cNvSpPr txBox="1"/>
            <p:nvPr/>
          </p:nvSpPr>
          <p:spPr>
            <a:xfrm>
              <a:off x="2985730" y="554628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grpSp>
      <p:grpSp>
        <p:nvGrpSpPr>
          <p:cNvPr id="149" name="Group 148">
            <a:extLst>
              <a:ext uri="{FF2B5EF4-FFF2-40B4-BE49-F238E27FC236}">
                <a16:creationId xmlns:a16="http://schemas.microsoft.com/office/drawing/2014/main" id="{8365ED44-ADBB-4E7C-7D23-FB5F30B2CB28}"/>
              </a:ext>
            </a:extLst>
          </p:cNvPr>
          <p:cNvGrpSpPr/>
          <p:nvPr/>
        </p:nvGrpSpPr>
        <p:grpSpPr>
          <a:xfrm>
            <a:off x="2769267" y="5810144"/>
            <a:ext cx="2124463" cy="246221"/>
            <a:chOff x="2769267" y="5825924"/>
            <a:chExt cx="2124463" cy="246221"/>
          </a:xfrm>
        </p:grpSpPr>
        <p:pic>
          <p:nvPicPr>
            <p:cNvPr id="350" name="Picture 4" descr="Sèrzela">
              <a:extLst>
                <a:ext uri="{FF2B5EF4-FFF2-40B4-BE49-F238E27FC236}">
                  <a16:creationId xmlns:a16="http://schemas.microsoft.com/office/drawing/2014/main" id="{13FC962B-6E01-4872-8264-F32D21CFDDB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69267" y="5876673"/>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351" name="CasellaDiTesto 350">
              <a:extLst>
                <a:ext uri="{FF2B5EF4-FFF2-40B4-BE49-F238E27FC236}">
                  <a16:creationId xmlns:a16="http://schemas.microsoft.com/office/drawing/2014/main" id="{52480B29-DDB5-475E-A186-1CDA3666C030}"/>
                </a:ext>
              </a:extLst>
            </p:cNvPr>
            <p:cNvSpPr txBox="1"/>
            <p:nvPr/>
          </p:nvSpPr>
          <p:spPr>
            <a:xfrm>
              <a:off x="2985730" y="582592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grpSp>
      <p:sp>
        <p:nvSpPr>
          <p:cNvPr id="358" name="Rectangle 63">
            <a:extLst>
              <a:ext uri="{FF2B5EF4-FFF2-40B4-BE49-F238E27FC236}">
                <a16:creationId xmlns:a16="http://schemas.microsoft.com/office/drawing/2014/main" id="{166D7DB3-F6D7-481E-A563-DBCCB3A4841E}"/>
              </a:ext>
            </a:extLst>
          </p:cNvPr>
          <p:cNvSpPr/>
          <p:nvPr/>
        </p:nvSpPr>
        <p:spPr>
          <a:xfrm>
            <a:off x="2984706" y="6154005"/>
            <a:ext cx="1591346" cy="34448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b="1" dirty="0">
                <a:solidFill>
                  <a:schemeClr val="tx1"/>
                </a:solidFill>
                <a:latin typeface="Avenir Next LT Pro" panose="020B0504020202020204" pitchFamily="34" charset="77"/>
              </a:rPr>
              <a:t>43</a:t>
            </a:r>
            <a:r>
              <a:rPr kumimoji="0" lang="it-IT" sz="1800" b="1" i="0" u="none" strike="noStrike" kern="1200" cap="none" spc="0" normalizeH="0" baseline="0" noProof="0" dirty="0">
                <a:ln>
                  <a:noFill/>
                </a:ln>
                <a:solidFill>
                  <a:schemeClr val="tx1"/>
                </a:solidFill>
                <a:effectLst/>
                <a:uLnTx/>
                <a:uFillTx/>
                <a:latin typeface="Avenir Next LT Pro" panose="020B0504020202020204" pitchFamily="34" charset="77"/>
                <a:ea typeface="+mn-ea"/>
                <a:cs typeface="+mn-cs"/>
              </a:rPr>
              <a:t>,2 </a:t>
            </a:r>
            <a:r>
              <a:rPr kumimoji="0" lang="it-IT" sz="1200" b="0" i="0" u="none" strike="noStrike" kern="1200" cap="none" spc="0" normalizeH="0" baseline="0" noProof="0" dirty="0">
                <a:ln>
                  <a:noFill/>
                </a:ln>
                <a:solidFill>
                  <a:schemeClr val="tx1"/>
                </a:solidFill>
                <a:effectLst/>
                <a:uLnTx/>
                <a:uFillTx/>
                <a:latin typeface="Avenir Next LT Pro" panose="020B0504020202020204" pitchFamily="34" charset="77"/>
                <a:ea typeface="+mn-ea"/>
                <a:cs typeface="+mn-cs"/>
              </a:rPr>
              <a:t>€/anno</a:t>
            </a:r>
            <a:endParaRPr kumimoji="0" lang="it-IT" sz="1100" b="0" i="1" u="none" strike="noStrike" kern="1200" cap="none" spc="0" normalizeH="0" baseline="0" noProof="0" dirty="0">
              <a:ln>
                <a:noFill/>
              </a:ln>
              <a:solidFill>
                <a:schemeClr val="tx1"/>
              </a:solidFill>
              <a:effectLst/>
              <a:uLnTx/>
              <a:uFillTx/>
              <a:latin typeface="Avenir Next LT Pro" panose="020B0504020202020204" pitchFamily="34" charset="77"/>
              <a:ea typeface="+mn-ea"/>
              <a:cs typeface="+mn-cs"/>
            </a:endParaRPr>
          </a:p>
        </p:txBody>
      </p:sp>
      <p:sp>
        <p:nvSpPr>
          <p:cNvPr id="122" name="Rettangolo 121">
            <a:extLst>
              <a:ext uri="{FF2B5EF4-FFF2-40B4-BE49-F238E27FC236}">
                <a16:creationId xmlns:a16="http://schemas.microsoft.com/office/drawing/2014/main" id="{2250D521-B824-47C8-948E-302906876A1D}"/>
              </a:ext>
            </a:extLst>
          </p:cNvPr>
          <p:cNvSpPr/>
          <p:nvPr/>
        </p:nvSpPr>
        <p:spPr>
          <a:xfrm>
            <a:off x="7345805" y="1217502"/>
            <a:ext cx="2160000" cy="5073231"/>
          </a:xfrm>
          <a:prstGeom prst="rect">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123" name="Rectangle 63">
            <a:extLst>
              <a:ext uri="{FF2B5EF4-FFF2-40B4-BE49-F238E27FC236}">
                <a16:creationId xmlns:a16="http://schemas.microsoft.com/office/drawing/2014/main" id="{603F9555-09FC-436F-BC3C-4A890254689C}"/>
              </a:ext>
            </a:extLst>
          </p:cNvPr>
          <p:cNvSpPr/>
          <p:nvPr/>
        </p:nvSpPr>
        <p:spPr>
          <a:xfrm>
            <a:off x="7550565" y="1273337"/>
            <a:ext cx="1750481" cy="258819"/>
          </a:xfrm>
          <a:prstGeom prst="rect">
            <a:avLst/>
          </a:prstGeom>
          <a:solidFill>
            <a:srgbClr val="1A77C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it-IT" sz="1200" b="1">
                <a:solidFill>
                  <a:srgbClr val="FFFFFF"/>
                </a:solidFill>
                <a:latin typeface="Avenir Next LT Pro"/>
              </a:rPr>
              <a:t>Competitor 2</a:t>
            </a:r>
            <a:endParaRPr kumimoji="0" lang="it-IT" sz="1200" b="1" i="1" u="none" strike="noStrike" kern="1200" cap="none" spc="0" normalizeH="0" baseline="0" noProof="0">
              <a:ln>
                <a:noFill/>
              </a:ln>
              <a:solidFill>
                <a:srgbClr val="FFFFFF"/>
              </a:solidFill>
              <a:effectLst/>
              <a:uLnTx/>
              <a:uFillTx/>
              <a:latin typeface="Avenir Next LT Pro"/>
            </a:endParaRPr>
          </a:p>
        </p:txBody>
      </p:sp>
      <p:pic>
        <p:nvPicPr>
          <p:cNvPr id="138" name="Picture 6" descr="Centro Idea Casa - spunta verde">
            <a:extLst>
              <a:ext uri="{FF2B5EF4-FFF2-40B4-BE49-F238E27FC236}">
                <a16:creationId xmlns:a16="http://schemas.microsoft.com/office/drawing/2014/main" id="{8C87D895-7780-47EA-A7E2-6E7ED22E04E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11118" y="165543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139" name="CasellaDiTesto 138">
            <a:extLst>
              <a:ext uri="{FF2B5EF4-FFF2-40B4-BE49-F238E27FC236}">
                <a16:creationId xmlns:a16="http://schemas.microsoft.com/office/drawing/2014/main" id="{45299943-0C45-43E5-8417-B5CBB52369CD}"/>
              </a:ext>
            </a:extLst>
          </p:cNvPr>
          <p:cNvSpPr txBox="1"/>
          <p:nvPr/>
        </p:nvSpPr>
        <p:spPr>
          <a:xfrm>
            <a:off x="7661425" y="1647123"/>
            <a:ext cx="1908000" cy="3847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H24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guasto, incendio, incidente, </a:t>
            </a:r>
            <a:r>
              <a:rPr lang="it-IT" sz="700">
                <a:solidFill>
                  <a:srgbClr val="242424"/>
                </a:solidFill>
                <a:latin typeface="Segoe UI" panose="020B0502040204020203" pitchFamily="34" charset="0"/>
              </a:rPr>
              <a:t>atto vandalico </a:t>
            </a:r>
            <a:r>
              <a:rPr lang="it-IT" sz="900">
                <a:solidFill>
                  <a:srgbClr val="242424"/>
                </a:solidFill>
                <a:latin typeface="Segoe UI" panose="020B0502040204020203" pitchFamily="34" charset="0"/>
              </a:rPr>
              <a:t>(Massimale 300 €)</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183" name="Picture 6" descr="Centro Idea Casa - spunta verde">
            <a:extLst>
              <a:ext uri="{FF2B5EF4-FFF2-40B4-BE49-F238E27FC236}">
                <a16:creationId xmlns:a16="http://schemas.microsoft.com/office/drawing/2014/main" id="{572BC016-2E02-4419-805C-E57E012F43CD}"/>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11118" y="203956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184" name="CasellaDiTesto 183">
            <a:extLst>
              <a:ext uri="{FF2B5EF4-FFF2-40B4-BE49-F238E27FC236}">
                <a16:creationId xmlns:a16="http://schemas.microsoft.com/office/drawing/2014/main" id="{64E33682-1126-4822-8E54-B193EEF13106}"/>
              </a:ext>
            </a:extLst>
          </p:cNvPr>
          <p:cNvSpPr txBox="1"/>
          <p:nvPr/>
        </p:nvSpPr>
        <p:spPr>
          <a:xfrm>
            <a:off x="7661425" y="203125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Italia ed Europa</a:t>
            </a:r>
          </a:p>
        </p:txBody>
      </p:sp>
      <p:pic>
        <p:nvPicPr>
          <p:cNvPr id="194" name="Picture 6" descr="Centro Idea Casa - spunta verde">
            <a:extLst>
              <a:ext uri="{FF2B5EF4-FFF2-40B4-BE49-F238E27FC236}">
                <a16:creationId xmlns:a16="http://schemas.microsoft.com/office/drawing/2014/main" id="{5CB6B6FE-AC33-4A39-BBB8-E3BB242735A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11118" y="231010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195" name="CasellaDiTesto 194">
            <a:extLst>
              <a:ext uri="{FF2B5EF4-FFF2-40B4-BE49-F238E27FC236}">
                <a16:creationId xmlns:a16="http://schemas.microsoft.com/office/drawing/2014/main" id="{31A205DA-1150-44B8-9F11-F14C734CDF9C}"/>
              </a:ext>
            </a:extLst>
          </p:cNvPr>
          <p:cNvSpPr txBox="1"/>
          <p:nvPr/>
        </p:nvSpPr>
        <p:spPr>
          <a:xfrm>
            <a:off x="7661425" y="230178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a:solidFill>
                  <a:srgbClr val="242424"/>
                </a:solidFill>
                <a:latin typeface="Segoe UI" panose="020B0502040204020203" pitchFamily="34" charset="0"/>
              </a:rPr>
              <a:t>200</a:t>
            </a: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 ad evento</a:t>
            </a:r>
          </a:p>
        </p:txBody>
      </p:sp>
      <p:sp>
        <p:nvSpPr>
          <p:cNvPr id="125" name="Rettangolo 124">
            <a:extLst>
              <a:ext uri="{FF2B5EF4-FFF2-40B4-BE49-F238E27FC236}">
                <a16:creationId xmlns:a16="http://schemas.microsoft.com/office/drawing/2014/main" id="{E1A44CA6-425C-4B22-974E-4B7D2D0FB08C}"/>
              </a:ext>
            </a:extLst>
          </p:cNvPr>
          <p:cNvSpPr/>
          <p:nvPr/>
        </p:nvSpPr>
        <p:spPr>
          <a:xfrm>
            <a:off x="9667977" y="1217502"/>
            <a:ext cx="2160000" cy="5073231"/>
          </a:xfrm>
          <a:prstGeom prst="rect">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126" name="Rectangle 63">
            <a:extLst>
              <a:ext uri="{FF2B5EF4-FFF2-40B4-BE49-F238E27FC236}">
                <a16:creationId xmlns:a16="http://schemas.microsoft.com/office/drawing/2014/main" id="{3F032A1F-7B70-4605-A0E0-2BE240CA8C64}"/>
              </a:ext>
            </a:extLst>
          </p:cNvPr>
          <p:cNvSpPr/>
          <p:nvPr/>
        </p:nvSpPr>
        <p:spPr>
          <a:xfrm>
            <a:off x="9872737" y="1273337"/>
            <a:ext cx="1842185" cy="271705"/>
          </a:xfrm>
          <a:prstGeom prst="rect">
            <a:avLst/>
          </a:prstGeom>
          <a:solidFill>
            <a:srgbClr val="1661A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b="1">
                <a:solidFill>
                  <a:srgbClr val="FFFFFF"/>
                </a:solidFill>
                <a:latin typeface="Avenir Next LT Pro"/>
              </a:rPr>
              <a:t>Competitor 3</a:t>
            </a:r>
            <a:endParaRPr kumimoji="0" lang="it-IT" sz="1200" b="1" i="1" u="none" strike="noStrike" kern="1200" cap="none" spc="0" normalizeH="0" baseline="0" noProof="0">
              <a:ln>
                <a:noFill/>
              </a:ln>
              <a:solidFill>
                <a:srgbClr val="FFFFFF"/>
              </a:solidFill>
              <a:effectLst/>
              <a:uLnTx/>
              <a:uFillTx/>
              <a:latin typeface="Avenir Next LT Pro"/>
            </a:endParaRPr>
          </a:p>
        </p:txBody>
      </p:sp>
      <p:sp>
        <p:nvSpPr>
          <p:cNvPr id="363" name="Rettangolo 362">
            <a:extLst>
              <a:ext uri="{FF2B5EF4-FFF2-40B4-BE49-F238E27FC236}">
                <a16:creationId xmlns:a16="http://schemas.microsoft.com/office/drawing/2014/main" id="{9BA5391B-927E-4C03-A54B-F9BEFE9D95E3}"/>
              </a:ext>
            </a:extLst>
          </p:cNvPr>
          <p:cNvSpPr/>
          <p:nvPr/>
        </p:nvSpPr>
        <p:spPr>
          <a:xfrm>
            <a:off x="5013744" y="1217502"/>
            <a:ext cx="2160000" cy="5073231"/>
          </a:xfrm>
          <a:prstGeom prst="rect">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rgbClr val="FFFFFF"/>
              </a:solidFill>
              <a:effectLst/>
              <a:uLnTx/>
              <a:uFillTx/>
              <a:latin typeface="Poppins"/>
              <a:ea typeface="+mn-ea"/>
              <a:cs typeface="+mn-cs"/>
            </a:endParaRPr>
          </a:p>
        </p:txBody>
      </p:sp>
      <p:sp>
        <p:nvSpPr>
          <p:cNvPr id="364" name="Rectangle 63">
            <a:extLst>
              <a:ext uri="{FF2B5EF4-FFF2-40B4-BE49-F238E27FC236}">
                <a16:creationId xmlns:a16="http://schemas.microsoft.com/office/drawing/2014/main" id="{2E28A2A4-76EF-457B-A915-3BC3A8E84756}"/>
              </a:ext>
            </a:extLst>
          </p:cNvPr>
          <p:cNvSpPr/>
          <p:nvPr/>
        </p:nvSpPr>
        <p:spPr>
          <a:xfrm>
            <a:off x="5218504" y="1273337"/>
            <a:ext cx="1750481" cy="258819"/>
          </a:xfrm>
          <a:prstGeom prst="rect">
            <a:avLst/>
          </a:prstGeom>
          <a:solidFill>
            <a:srgbClr val="1C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b="1">
                <a:solidFill>
                  <a:srgbClr val="FFFFFF"/>
                </a:solidFill>
                <a:latin typeface="Avenir Next LT Pro" panose="020B0504020202020204" pitchFamily="34" charset="77"/>
              </a:rPr>
              <a:t>Competitor 1</a:t>
            </a:r>
            <a:endParaRPr kumimoji="0" lang="it-IT" sz="1200" b="1" i="1" u="none" strike="noStrike" kern="1200" cap="none" spc="0" normalizeH="0" baseline="0" noProof="0">
              <a:ln>
                <a:noFill/>
              </a:ln>
              <a:solidFill>
                <a:srgbClr val="FFFFFF"/>
              </a:solidFill>
              <a:effectLst/>
              <a:uLnTx/>
              <a:uFillTx/>
              <a:latin typeface="Avenir Next LT Pro" panose="020B0504020202020204" pitchFamily="34" charset="77"/>
              <a:ea typeface="+mn-ea"/>
              <a:cs typeface="+mn-cs"/>
            </a:endParaRPr>
          </a:p>
        </p:txBody>
      </p:sp>
      <p:pic>
        <p:nvPicPr>
          <p:cNvPr id="365" name="Picture 6" descr="Centro Idea Casa - spunta verde">
            <a:extLst>
              <a:ext uri="{FF2B5EF4-FFF2-40B4-BE49-F238E27FC236}">
                <a16:creationId xmlns:a16="http://schemas.microsoft.com/office/drawing/2014/main" id="{FE13A9BC-91D7-4EB2-B456-8E788F4874E5}"/>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165543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366" name="CasellaDiTesto 365">
            <a:extLst>
              <a:ext uri="{FF2B5EF4-FFF2-40B4-BE49-F238E27FC236}">
                <a16:creationId xmlns:a16="http://schemas.microsoft.com/office/drawing/2014/main" id="{FF7079D3-1559-4778-9A5D-40DBBF5600C5}"/>
              </a:ext>
            </a:extLst>
          </p:cNvPr>
          <p:cNvSpPr txBox="1"/>
          <p:nvPr/>
        </p:nvSpPr>
        <p:spPr>
          <a:xfrm>
            <a:off x="5299019" y="164712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H24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guasto, incidente, tentato furto</a:t>
            </a:r>
          </a:p>
        </p:txBody>
      </p:sp>
      <p:pic>
        <p:nvPicPr>
          <p:cNvPr id="367" name="Picture 6" descr="Centro Idea Casa - spunta verde">
            <a:extLst>
              <a:ext uri="{FF2B5EF4-FFF2-40B4-BE49-F238E27FC236}">
                <a16:creationId xmlns:a16="http://schemas.microsoft.com/office/drawing/2014/main" id="{74A85C5C-984A-405B-AB05-29C55457B9A2}"/>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203956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368" name="CasellaDiTesto 367">
            <a:extLst>
              <a:ext uri="{FF2B5EF4-FFF2-40B4-BE49-F238E27FC236}">
                <a16:creationId xmlns:a16="http://schemas.microsoft.com/office/drawing/2014/main" id="{5B4803A9-0A03-4ABA-BED8-F3269F43DD43}"/>
              </a:ext>
            </a:extLst>
          </p:cNvPr>
          <p:cNvSpPr txBox="1"/>
          <p:nvPr/>
        </p:nvSpPr>
        <p:spPr>
          <a:xfrm>
            <a:off x="5299019" y="203125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Italia ed Europa</a:t>
            </a:r>
          </a:p>
        </p:txBody>
      </p:sp>
      <p:pic>
        <p:nvPicPr>
          <p:cNvPr id="369" name="Picture 6" descr="Centro Idea Casa - spunta verde">
            <a:extLst>
              <a:ext uri="{FF2B5EF4-FFF2-40B4-BE49-F238E27FC236}">
                <a16:creationId xmlns:a16="http://schemas.microsoft.com/office/drawing/2014/main" id="{B9BD57AF-A69A-47DC-9EAC-CB645B1EEACA}"/>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231010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370" name="CasellaDiTesto 369">
            <a:extLst>
              <a:ext uri="{FF2B5EF4-FFF2-40B4-BE49-F238E27FC236}">
                <a16:creationId xmlns:a16="http://schemas.microsoft.com/office/drawing/2014/main" id="{A4C83A2D-C2EC-4805-A0E3-41E7FBEB27C3}"/>
              </a:ext>
            </a:extLst>
          </p:cNvPr>
          <p:cNvSpPr txBox="1"/>
          <p:nvPr/>
        </p:nvSpPr>
        <p:spPr>
          <a:xfrm>
            <a:off x="5299019" y="230178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000">
                <a:solidFill>
                  <a:srgbClr val="242424"/>
                </a:solidFill>
                <a:latin typeface="Segoe UI" panose="020B0502040204020203" pitchFamily="34" charset="0"/>
              </a:rPr>
              <a:t>55</a:t>
            </a: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0€ ad evento</a:t>
            </a:r>
          </a:p>
        </p:txBody>
      </p:sp>
      <p:pic>
        <p:nvPicPr>
          <p:cNvPr id="371" name="Picture 6" descr="Centro Idea Casa - spunta verde">
            <a:extLst>
              <a:ext uri="{FF2B5EF4-FFF2-40B4-BE49-F238E27FC236}">
                <a16:creationId xmlns:a16="http://schemas.microsoft.com/office/drawing/2014/main" id="{0917C44C-8411-48F7-B2D2-F738EEE62CE3}"/>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260834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372" name="CasellaDiTesto 371">
            <a:extLst>
              <a:ext uri="{FF2B5EF4-FFF2-40B4-BE49-F238E27FC236}">
                <a16:creationId xmlns:a16="http://schemas.microsoft.com/office/drawing/2014/main" id="{666672A4-56C7-41D7-A98B-8B37127A8834}"/>
              </a:ext>
            </a:extLst>
          </p:cNvPr>
          <p:cNvSpPr txBox="1"/>
          <p:nvPr/>
        </p:nvSpPr>
        <p:spPr>
          <a:xfrm>
            <a:off x="5299019" y="260002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Fino a 5gg</a:t>
            </a:r>
            <a:r>
              <a:rPr kumimoji="0" lang="it-IT" sz="9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(fino a 30gg per furto veicolo)</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19" name="Picture 6" descr="Centro Idea Casa - spunta verde">
            <a:extLst>
              <a:ext uri="{FF2B5EF4-FFF2-40B4-BE49-F238E27FC236}">
                <a16:creationId xmlns:a16="http://schemas.microsoft.com/office/drawing/2014/main" id="{0D4989DB-CFBC-4522-7E89-568E8C61973E}"/>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01287" y="2617997"/>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0" name="CasellaDiTesto 371">
            <a:extLst>
              <a:ext uri="{FF2B5EF4-FFF2-40B4-BE49-F238E27FC236}">
                <a16:creationId xmlns:a16="http://schemas.microsoft.com/office/drawing/2014/main" id="{72C20497-AFB3-75E6-64E9-73E447FC0A60}"/>
              </a:ext>
            </a:extLst>
          </p:cNvPr>
          <p:cNvSpPr txBox="1"/>
          <p:nvPr/>
        </p:nvSpPr>
        <p:spPr>
          <a:xfrm>
            <a:off x="7661425" y="2609681"/>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Fino a 5gg</a:t>
            </a:r>
          </a:p>
        </p:txBody>
      </p:sp>
      <p:sp>
        <p:nvSpPr>
          <p:cNvPr id="21" name="Rectangle 63">
            <a:extLst>
              <a:ext uri="{FF2B5EF4-FFF2-40B4-BE49-F238E27FC236}">
                <a16:creationId xmlns:a16="http://schemas.microsoft.com/office/drawing/2014/main" id="{A30AF344-F727-5FED-5BD1-9880F7868650}"/>
              </a:ext>
            </a:extLst>
          </p:cNvPr>
          <p:cNvSpPr/>
          <p:nvPr/>
        </p:nvSpPr>
        <p:spPr>
          <a:xfrm>
            <a:off x="5298071" y="6154005"/>
            <a:ext cx="1591346" cy="344488"/>
          </a:xfrm>
          <a:prstGeom prst="roundRect">
            <a:avLst/>
          </a:prstGeom>
          <a:solidFill>
            <a:srgbClr val="1C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800" b="1" i="0" u="none" strike="noStrike" kern="1200" cap="none" spc="0" normalizeH="0" baseline="0" noProof="0">
                <a:ln>
                  <a:noFill/>
                </a:ln>
                <a:solidFill>
                  <a:schemeClr val="bg1"/>
                </a:solidFill>
                <a:effectLst/>
                <a:uLnTx/>
                <a:uFillTx/>
                <a:latin typeface="Avenir Next LT Pro" panose="020B0504020202020204" pitchFamily="34" charset="77"/>
                <a:ea typeface="+mn-ea"/>
                <a:cs typeface="+mn-cs"/>
              </a:rPr>
              <a:t>60 </a:t>
            </a:r>
            <a:r>
              <a:rPr kumimoji="0" lang="it-IT" sz="1200" b="0" i="0" u="none" strike="noStrike" kern="1200" cap="none" spc="0" normalizeH="0" baseline="0" noProof="0">
                <a:ln>
                  <a:noFill/>
                </a:ln>
                <a:solidFill>
                  <a:schemeClr val="bg1"/>
                </a:solidFill>
                <a:effectLst/>
                <a:uLnTx/>
                <a:uFillTx/>
                <a:latin typeface="Avenir Next LT Pro" panose="020B0504020202020204" pitchFamily="34" charset="77"/>
                <a:ea typeface="+mn-ea"/>
                <a:cs typeface="+mn-cs"/>
              </a:rPr>
              <a:t>€/anno**</a:t>
            </a:r>
            <a:endParaRPr kumimoji="0" lang="it-IT" sz="1100" b="0" i="1" u="none" strike="noStrike" kern="1200" cap="none" spc="0" normalizeH="0" baseline="0" noProof="0">
              <a:ln>
                <a:noFill/>
              </a:ln>
              <a:solidFill>
                <a:schemeClr val="bg1"/>
              </a:solidFill>
              <a:effectLst/>
              <a:uLnTx/>
              <a:uFillTx/>
              <a:latin typeface="Avenir Next LT Pro" panose="020B0504020202020204" pitchFamily="34" charset="77"/>
              <a:ea typeface="+mn-ea"/>
              <a:cs typeface="+mn-cs"/>
            </a:endParaRPr>
          </a:p>
        </p:txBody>
      </p:sp>
      <p:sp>
        <p:nvSpPr>
          <p:cNvPr id="22" name="Rectangle 63">
            <a:extLst>
              <a:ext uri="{FF2B5EF4-FFF2-40B4-BE49-F238E27FC236}">
                <a16:creationId xmlns:a16="http://schemas.microsoft.com/office/drawing/2014/main" id="{2CC556E1-BFBE-3076-7570-BA60A23CC651}"/>
              </a:ext>
            </a:extLst>
          </p:cNvPr>
          <p:cNvSpPr/>
          <p:nvPr/>
        </p:nvSpPr>
        <p:spPr>
          <a:xfrm>
            <a:off x="7630132" y="6154005"/>
            <a:ext cx="1591346" cy="344488"/>
          </a:xfrm>
          <a:prstGeom prst="roundRect">
            <a:avLst/>
          </a:prstGeom>
          <a:solidFill>
            <a:srgbClr val="1A7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b="1">
                <a:solidFill>
                  <a:schemeClr val="bg1"/>
                </a:solidFill>
                <a:latin typeface="Avenir Next LT Pro" panose="020B0504020202020204" pitchFamily="34" charset="77"/>
              </a:rPr>
              <a:t>8</a:t>
            </a:r>
            <a:r>
              <a:rPr kumimoji="0" lang="it-IT" sz="1800" b="1" i="0" u="none" strike="noStrike" kern="1200" cap="none" spc="0" normalizeH="0" baseline="0" noProof="0">
                <a:ln>
                  <a:noFill/>
                </a:ln>
                <a:solidFill>
                  <a:schemeClr val="bg1"/>
                </a:solidFill>
                <a:effectLst/>
                <a:uLnTx/>
                <a:uFillTx/>
                <a:latin typeface="Avenir Next LT Pro" panose="020B0504020202020204" pitchFamily="34" charset="77"/>
                <a:ea typeface="+mn-ea"/>
                <a:cs typeface="+mn-cs"/>
              </a:rPr>
              <a:t>0 </a:t>
            </a:r>
            <a:r>
              <a:rPr kumimoji="0" lang="it-IT" sz="1200" b="0" i="0" u="none" strike="noStrike" kern="1200" cap="none" spc="0" normalizeH="0" baseline="0" noProof="0">
                <a:ln>
                  <a:noFill/>
                </a:ln>
                <a:solidFill>
                  <a:schemeClr val="bg1"/>
                </a:solidFill>
                <a:effectLst/>
                <a:uLnTx/>
                <a:uFillTx/>
                <a:latin typeface="Avenir Next LT Pro" panose="020B0504020202020204" pitchFamily="34" charset="77"/>
                <a:ea typeface="+mn-ea"/>
                <a:cs typeface="+mn-cs"/>
              </a:rPr>
              <a:t>€/anno**</a:t>
            </a:r>
            <a:endParaRPr kumimoji="0" lang="it-IT" sz="1100" b="0" i="1" u="none" strike="noStrike" kern="1200" cap="none" spc="0" normalizeH="0" baseline="0" noProof="0">
              <a:ln>
                <a:noFill/>
              </a:ln>
              <a:solidFill>
                <a:schemeClr val="bg1"/>
              </a:solidFill>
              <a:effectLst/>
              <a:uLnTx/>
              <a:uFillTx/>
              <a:latin typeface="Avenir Next LT Pro" panose="020B0504020202020204" pitchFamily="34" charset="77"/>
              <a:ea typeface="+mn-ea"/>
              <a:cs typeface="+mn-cs"/>
            </a:endParaRPr>
          </a:p>
        </p:txBody>
      </p:sp>
      <p:sp>
        <p:nvSpPr>
          <p:cNvPr id="23" name="Rectangle 63">
            <a:extLst>
              <a:ext uri="{FF2B5EF4-FFF2-40B4-BE49-F238E27FC236}">
                <a16:creationId xmlns:a16="http://schemas.microsoft.com/office/drawing/2014/main" id="{0100A53A-F8D5-BBEE-4EA0-8083090A3AF5}"/>
              </a:ext>
            </a:extLst>
          </p:cNvPr>
          <p:cNvSpPr/>
          <p:nvPr/>
        </p:nvSpPr>
        <p:spPr>
          <a:xfrm>
            <a:off x="9952304" y="6154005"/>
            <a:ext cx="1591346" cy="344488"/>
          </a:xfrm>
          <a:prstGeom prst="roundRect">
            <a:avLst/>
          </a:prstGeom>
          <a:solidFill>
            <a:srgbClr val="1661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800" b="1" i="0" u="none" strike="noStrike" kern="1200" cap="none" spc="0" normalizeH="0" baseline="0" noProof="0">
                <a:ln>
                  <a:noFill/>
                </a:ln>
                <a:solidFill>
                  <a:schemeClr val="bg1"/>
                </a:solidFill>
                <a:effectLst/>
                <a:uLnTx/>
                <a:uFillTx/>
                <a:latin typeface="Avenir Next LT Pro" panose="020B0504020202020204" pitchFamily="34" charset="77"/>
                <a:ea typeface="+mn-ea"/>
                <a:cs typeface="+mn-cs"/>
              </a:rPr>
              <a:t>50 </a:t>
            </a:r>
            <a:r>
              <a:rPr kumimoji="0" lang="it-IT" sz="1200" b="0" i="0" u="none" strike="noStrike" kern="1200" cap="none" spc="0" normalizeH="0" baseline="0" noProof="0">
                <a:ln>
                  <a:noFill/>
                </a:ln>
                <a:solidFill>
                  <a:schemeClr val="bg1"/>
                </a:solidFill>
                <a:effectLst/>
                <a:uLnTx/>
                <a:uFillTx/>
                <a:latin typeface="Avenir Next LT Pro" panose="020B0504020202020204" pitchFamily="34" charset="77"/>
                <a:ea typeface="+mn-ea"/>
                <a:cs typeface="+mn-cs"/>
              </a:rPr>
              <a:t>€/anno**</a:t>
            </a:r>
            <a:endParaRPr kumimoji="0" lang="it-IT" sz="1100" b="0" i="1" u="none" strike="noStrike" kern="1200" cap="none" spc="0" normalizeH="0" baseline="0" noProof="0">
              <a:ln>
                <a:noFill/>
              </a:ln>
              <a:solidFill>
                <a:schemeClr val="bg1"/>
              </a:solidFill>
              <a:effectLst/>
              <a:uLnTx/>
              <a:uFillTx/>
              <a:latin typeface="Avenir Next LT Pro" panose="020B0504020202020204" pitchFamily="34" charset="77"/>
              <a:ea typeface="+mn-ea"/>
              <a:cs typeface="+mn-cs"/>
            </a:endParaRPr>
          </a:p>
        </p:txBody>
      </p:sp>
      <p:sp>
        <p:nvSpPr>
          <p:cNvPr id="24" name="CasellaDiTesto 159">
            <a:extLst>
              <a:ext uri="{FF2B5EF4-FFF2-40B4-BE49-F238E27FC236}">
                <a16:creationId xmlns:a16="http://schemas.microsoft.com/office/drawing/2014/main" id="{1EF1FD59-2A88-075B-C08E-4219384A9A8D}"/>
              </a:ext>
            </a:extLst>
          </p:cNvPr>
          <p:cNvSpPr txBox="1"/>
          <p:nvPr/>
        </p:nvSpPr>
        <p:spPr>
          <a:xfrm>
            <a:off x="98321" y="6566751"/>
            <a:ext cx="705872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 Bundle con RC Auto – Costo disponibile su preventivo</a:t>
            </a:r>
          </a:p>
        </p:txBody>
      </p:sp>
      <p:pic>
        <p:nvPicPr>
          <p:cNvPr id="25" name="Picture 6">
            <a:extLst>
              <a:ext uri="{FF2B5EF4-FFF2-40B4-BE49-F238E27FC236}">
                <a16:creationId xmlns:a16="http://schemas.microsoft.com/office/drawing/2014/main" id="{233E68B1-B173-5C32-2C28-8A97C19C01F2}"/>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p:blipFill>
        <p:spPr bwMode="auto">
          <a:xfrm>
            <a:off x="5097260" y="2947571"/>
            <a:ext cx="162000" cy="162000"/>
          </a:xfrm>
          <a:prstGeom prst="rect">
            <a:avLst/>
          </a:prstGeom>
          <a:noFill/>
          <a:extLst>
            <a:ext uri="{909E8E84-426E-40DD-AFC4-6F175D3DCCD1}">
              <a14:hiddenFill xmlns:a14="http://schemas.microsoft.com/office/drawing/2010/main">
                <a:solidFill>
                  <a:srgbClr val="FFFFFF"/>
                </a:solidFill>
              </a14:hiddenFill>
            </a:ext>
          </a:extLst>
        </p:spPr>
      </p:pic>
      <p:sp>
        <p:nvSpPr>
          <p:cNvPr id="26" name="CasellaDiTesto 373">
            <a:extLst>
              <a:ext uri="{FF2B5EF4-FFF2-40B4-BE49-F238E27FC236}">
                <a16:creationId xmlns:a16="http://schemas.microsoft.com/office/drawing/2014/main" id="{A210DB02-C0CA-2446-3033-BD3267B62708}"/>
              </a:ext>
            </a:extLst>
          </p:cNvPr>
          <p:cNvSpPr txBox="1"/>
          <p:nvPr/>
        </p:nvSpPr>
        <p:spPr>
          <a:xfrm>
            <a:off x="5299019" y="289333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7" name="Picture 6" descr="Centro Idea Casa - spunta verde">
            <a:extLst>
              <a:ext uri="{FF2B5EF4-FFF2-40B4-BE49-F238E27FC236}">
                <a16:creationId xmlns:a16="http://schemas.microsoft.com/office/drawing/2014/main" id="{25B03367-AF46-B365-EA0B-C8F68A201BD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3189085"/>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8" name="CasellaDiTesto 375">
            <a:extLst>
              <a:ext uri="{FF2B5EF4-FFF2-40B4-BE49-F238E27FC236}">
                <a16:creationId xmlns:a16="http://schemas.microsoft.com/office/drawing/2014/main" id="{A9BB9FC6-E138-378F-4DAC-CF0F73D56873}"/>
              </a:ext>
            </a:extLst>
          </p:cNvPr>
          <p:cNvSpPr txBox="1"/>
          <p:nvPr/>
        </p:nvSpPr>
        <p:spPr>
          <a:xfrm>
            <a:off x="5299019" y="3180769"/>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9" name="Picture 6" descr="Centro Idea Casa - spunta verde">
            <a:extLst>
              <a:ext uri="{FF2B5EF4-FFF2-40B4-BE49-F238E27FC236}">
                <a16:creationId xmlns:a16="http://schemas.microsoft.com/office/drawing/2014/main" id="{ED110015-7B47-942D-3B5A-8E40A4B81BE7}"/>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3585372"/>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30" name="CasellaDiTesto 377">
            <a:extLst>
              <a:ext uri="{FF2B5EF4-FFF2-40B4-BE49-F238E27FC236}">
                <a16:creationId xmlns:a16="http://schemas.microsoft.com/office/drawing/2014/main" id="{246B14C0-44BF-2AA8-EA88-39233054882C}"/>
              </a:ext>
            </a:extLst>
          </p:cNvPr>
          <p:cNvSpPr txBox="1"/>
          <p:nvPr/>
        </p:nvSpPr>
        <p:spPr>
          <a:xfrm>
            <a:off x="5299019" y="3577056"/>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grpSp>
        <p:nvGrpSpPr>
          <p:cNvPr id="31" name="Gruppo 14">
            <a:extLst>
              <a:ext uri="{FF2B5EF4-FFF2-40B4-BE49-F238E27FC236}">
                <a16:creationId xmlns:a16="http://schemas.microsoft.com/office/drawing/2014/main" id="{3F0EEF2A-4061-2526-4084-26F0A60395FE}"/>
              </a:ext>
            </a:extLst>
          </p:cNvPr>
          <p:cNvGrpSpPr/>
          <p:nvPr/>
        </p:nvGrpSpPr>
        <p:grpSpPr>
          <a:xfrm>
            <a:off x="5070174" y="3957314"/>
            <a:ext cx="2136845" cy="246221"/>
            <a:chOff x="5070174" y="3957314"/>
            <a:chExt cx="2136845" cy="246221"/>
          </a:xfrm>
        </p:grpSpPr>
        <p:pic>
          <p:nvPicPr>
            <p:cNvPr id="32" name="Picture 6" descr="Centro Idea Casa - spunta verde">
              <a:extLst>
                <a:ext uri="{FF2B5EF4-FFF2-40B4-BE49-F238E27FC236}">
                  <a16:creationId xmlns:a16="http://schemas.microsoft.com/office/drawing/2014/main" id="{00AA6B02-2BD7-CC62-A664-EF0FE60CA6A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3965630"/>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33" name="CasellaDiTesto 379">
              <a:extLst>
                <a:ext uri="{FF2B5EF4-FFF2-40B4-BE49-F238E27FC236}">
                  <a16:creationId xmlns:a16="http://schemas.microsoft.com/office/drawing/2014/main" id="{D6468936-89B1-FA73-61C2-8046E2CA715B}"/>
                </a:ext>
              </a:extLst>
            </p:cNvPr>
            <p:cNvSpPr txBox="1"/>
            <p:nvPr/>
          </p:nvSpPr>
          <p:spPr>
            <a:xfrm>
              <a:off x="5299019" y="395731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grpSp>
      <p:grpSp>
        <p:nvGrpSpPr>
          <p:cNvPr id="150" name="Group 149">
            <a:extLst>
              <a:ext uri="{FF2B5EF4-FFF2-40B4-BE49-F238E27FC236}">
                <a16:creationId xmlns:a16="http://schemas.microsoft.com/office/drawing/2014/main" id="{37C6F5ED-498D-FE1F-FD5B-FCB3BAFF84E9}"/>
              </a:ext>
            </a:extLst>
          </p:cNvPr>
          <p:cNvGrpSpPr/>
          <p:nvPr/>
        </p:nvGrpSpPr>
        <p:grpSpPr>
          <a:xfrm>
            <a:off x="5093246" y="5810144"/>
            <a:ext cx="2138137" cy="246221"/>
            <a:chOff x="5093246" y="5794364"/>
            <a:chExt cx="2138137" cy="246221"/>
          </a:xfrm>
        </p:grpSpPr>
        <p:pic>
          <p:nvPicPr>
            <p:cNvPr id="36" name="Picture 4" descr="Sèrzela">
              <a:extLst>
                <a:ext uri="{FF2B5EF4-FFF2-40B4-BE49-F238E27FC236}">
                  <a16:creationId xmlns:a16="http://schemas.microsoft.com/office/drawing/2014/main" id="{DC1E011D-0BB4-FF98-2F5E-14C23B1B2773}"/>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093246" y="5844156"/>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37" name="CasellaDiTesto 11">
              <a:extLst>
                <a:ext uri="{FF2B5EF4-FFF2-40B4-BE49-F238E27FC236}">
                  <a16:creationId xmlns:a16="http://schemas.microsoft.com/office/drawing/2014/main" id="{C92BB9EA-260D-16DE-AB1D-FDB9A6A81805}"/>
                </a:ext>
              </a:extLst>
            </p:cNvPr>
            <p:cNvSpPr txBox="1"/>
            <p:nvPr/>
          </p:nvSpPr>
          <p:spPr>
            <a:xfrm>
              <a:off x="5323383" y="579436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grpSp>
      <p:pic>
        <p:nvPicPr>
          <p:cNvPr id="59" name="Picture 6" descr="Centro Idea Casa - spunta verde">
            <a:extLst>
              <a:ext uri="{FF2B5EF4-FFF2-40B4-BE49-F238E27FC236}">
                <a16:creationId xmlns:a16="http://schemas.microsoft.com/office/drawing/2014/main" id="{7EB789DC-7464-1B65-52C6-200FD0C93A95}"/>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11118" y="2896065"/>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6" descr="Centro Idea Casa - spunta verde">
            <a:extLst>
              <a:ext uri="{FF2B5EF4-FFF2-40B4-BE49-F238E27FC236}">
                <a16:creationId xmlns:a16="http://schemas.microsoft.com/office/drawing/2014/main" id="{5A64869F-557F-F2BA-E20E-9B36AA43AF50}"/>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397307" y="3228632"/>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61" name="CasellaDiTesto 375">
            <a:extLst>
              <a:ext uri="{FF2B5EF4-FFF2-40B4-BE49-F238E27FC236}">
                <a16:creationId xmlns:a16="http://schemas.microsoft.com/office/drawing/2014/main" id="{F29AF721-3562-F5AD-430E-45485F099EF0}"/>
              </a:ext>
            </a:extLst>
          </p:cNvPr>
          <p:cNvSpPr txBox="1"/>
          <p:nvPr/>
        </p:nvSpPr>
        <p:spPr>
          <a:xfrm>
            <a:off x="7661425" y="3176006"/>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62" name="Picture 6" descr="Centro Idea Casa - spunta verde">
            <a:extLst>
              <a:ext uri="{FF2B5EF4-FFF2-40B4-BE49-F238E27FC236}">
                <a16:creationId xmlns:a16="http://schemas.microsoft.com/office/drawing/2014/main" id="{F182E570-715E-4FF3-3E8A-9D9502B42638}"/>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17238" y="359164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63" name="CasellaDiTesto 377">
            <a:extLst>
              <a:ext uri="{FF2B5EF4-FFF2-40B4-BE49-F238E27FC236}">
                <a16:creationId xmlns:a16="http://schemas.microsoft.com/office/drawing/2014/main" id="{C71503FE-CBD7-4C41-105B-5FF14C1E6380}"/>
              </a:ext>
            </a:extLst>
          </p:cNvPr>
          <p:cNvSpPr txBox="1"/>
          <p:nvPr/>
        </p:nvSpPr>
        <p:spPr>
          <a:xfrm>
            <a:off x="7661425" y="358333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grpSp>
        <p:nvGrpSpPr>
          <p:cNvPr id="67" name="Gruppo 14">
            <a:extLst>
              <a:ext uri="{FF2B5EF4-FFF2-40B4-BE49-F238E27FC236}">
                <a16:creationId xmlns:a16="http://schemas.microsoft.com/office/drawing/2014/main" id="{EC0F0BA5-6291-E5FE-CD00-637176F59509}"/>
              </a:ext>
            </a:extLst>
          </p:cNvPr>
          <p:cNvGrpSpPr/>
          <p:nvPr/>
        </p:nvGrpSpPr>
        <p:grpSpPr>
          <a:xfrm>
            <a:off x="7402589" y="3980794"/>
            <a:ext cx="2136845" cy="246221"/>
            <a:chOff x="5070174" y="3957314"/>
            <a:chExt cx="2136845" cy="246221"/>
          </a:xfrm>
        </p:grpSpPr>
        <p:pic>
          <p:nvPicPr>
            <p:cNvPr id="68" name="Picture 6" descr="Centro Idea Casa - spunta verde">
              <a:extLst>
                <a:ext uri="{FF2B5EF4-FFF2-40B4-BE49-F238E27FC236}">
                  <a16:creationId xmlns:a16="http://schemas.microsoft.com/office/drawing/2014/main" id="{1DA808AC-0E1B-1133-1C46-D485EB88ECEB}"/>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3965630"/>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69" name="CasellaDiTesto 379">
              <a:extLst>
                <a:ext uri="{FF2B5EF4-FFF2-40B4-BE49-F238E27FC236}">
                  <a16:creationId xmlns:a16="http://schemas.microsoft.com/office/drawing/2014/main" id="{1C4C0EC3-5644-9F39-9012-8ED7CDC42D24}"/>
                </a:ext>
              </a:extLst>
            </p:cNvPr>
            <p:cNvSpPr txBox="1"/>
            <p:nvPr/>
          </p:nvSpPr>
          <p:spPr>
            <a:xfrm>
              <a:off x="5299019" y="395731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grpSp>
      <p:pic>
        <p:nvPicPr>
          <p:cNvPr id="74" name="Picture 6" descr="Centro Idea Casa - spunta verde">
            <a:extLst>
              <a:ext uri="{FF2B5EF4-FFF2-40B4-BE49-F238E27FC236}">
                <a16:creationId xmlns:a16="http://schemas.microsoft.com/office/drawing/2014/main" id="{7E52A463-4A24-BFDE-84B6-0F3F60296330}"/>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4306536"/>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6" descr="Centro Idea Casa - spunta verde">
            <a:extLst>
              <a:ext uri="{FF2B5EF4-FFF2-40B4-BE49-F238E27FC236}">
                <a16:creationId xmlns:a16="http://schemas.microsoft.com/office/drawing/2014/main" id="{D7C81B26-0C7C-C038-58C7-31310DF8700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5179" y="4589529"/>
            <a:ext cx="234696" cy="217479"/>
          </a:xfrm>
          <a:prstGeom prst="rect">
            <a:avLst/>
          </a:prstGeom>
          <a:noFill/>
          <a:extLst>
            <a:ext uri="{909E8E84-426E-40DD-AFC4-6F175D3DCCD1}">
              <a14:hiddenFill xmlns:a14="http://schemas.microsoft.com/office/drawing/2010/main">
                <a:solidFill>
                  <a:srgbClr val="FFFFFF"/>
                </a:solidFill>
              </a14:hiddenFill>
            </a:ext>
          </a:extLst>
        </p:spPr>
      </p:pic>
      <p:grpSp>
        <p:nvGrpSpPr>
          <p:cNvPr id="111" name="Gruppo 15">
            <a:extLst>
              <a:ext uri="{FF2B5EF4-FFF2-40B4-BE49-F238E27FC236}">
                <a16:creationId xmlns:a16="http://schemas.microsoft.com/office/drawing/2014/main" id="{4352147B-320D-394B-9C55-B5FE5D4584DC}"/>
              </a:ext>
            </a:extLst>
          </p:cNvPr>
          <p:cNvGrpSpPr/>
          <p:nvPr/>
        </p:nvGrpSpPr>
        <p:grpSpPr>
          <a:xfrm>
            <a:off x="5093246" y="4891229"/>
            <a:ext cx="2124463" cy="246221"/>
            <a:chOff x="2769267" y="4891229"/>
            <a:chExt cx="2124463" cy="246221"/>
          </a:xfrm>
        </p:grpSpPr>
        <p:pic>
          <p:nvPicPr>
            <p:cNvPr id="112" name="Picture 4" descr="Sèrzela">
              <a:extLst>
                <a:ext uri="{FF2B5EF4-FFF2-40B4-BE49-F238E27FC236}">
                  <a16:creationId xmlns:a16="http://schemas.microsoft.com/office/drawing/2014/main" id="{EF4B78EB-EC53-C67D-9C27-CFCE717C7503}"/>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69267" y="4941978"/>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113" name="CasellaDiTesto 308">
              <a:extLst>
                <a:ext uri="{FF2B5EF4-FFF2-40B4-BE49-F238E27FC236}">
                  <a16:creationId xmlns:a16="http://schemas.microsoft.com/office/drawing/2014/main" id="{5C6825C0-8452-09E8-D21C-FB0395F1C328}"/>
                </a:ext>
              </a:extLst>
            </p:cNvPr>
            <p:cNvSpPr txBox="1"/>
            <p:nvPr/>
          </p:nvSpPr>
          <p:spPr>
            <a:xfrm>
              <a:off x="2985730" y="4891229"/>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grpSp>
      <p:grpSp>
        <p:nvGrpSpPr>
          <p:cNvPr id="120" name="Gruppo 15">
            <a:extLst>
              <a:ext uri="{FF2B5EF4-FFF2-40B4-BE49-F238E27FC236}">
                <a16:creationId xmlns:a16="http://schemas.microsoft.com/office/drawing/2014/main" id="{16E015D9-EB98-5AEB-8B4E-58B2871EF168}"/>
              </a:ext>
            </a:extLst>
          </p:cNvPr>
          <p:cNvGrpSpPr/>
          <p:nvPr/>
        </p:nvGrpSpPr>
        <p:grpSpPr>
          <a:xfrm>
            <a:off x="5100578" y="5529118"/>
            <a:ext cx="2124463" cy="246221"/>
            <a:chOff x="2769267" y="4891229"/>
            <a:chExt cx="2124463" cy="246221"/>
          </a:xfrm>
        </p:grpSpPr>
        <p:pic>
          <p:nvPicPr>
            <p:cNvPr id="121" name="Picture 4" descr="Sèrzela">
              <a:extLst>
                <a:ext uri="{FF2B5EF4-FFF2-40B4-BE49-F238E27FC236}">
                  <a16:creationId xmlns:a16="http://schemas.microsoft.com/office/drawing/2014/main" id="{4EE345EB-B86B-1F30-525E-4E4880B791B4}"/>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769267" y="4941978"/>
              <a:ext cx="160252" cy="160252"/>
            </a:xfrm>
            <a:prstGeom prst="rect">
              <a:avLst/>
            </a:prstGeom>
            <a:noFill/>
            <a:extLst>
              <a:ext uri="{909E8E84-426E-40DD-AFC4-6F175D3DCCD1}">
                <a14:hiddenFill xmlns:a14="http://schemas.microsoft.com/office/drawing/2010/main">
                  <a:solidFill>
                    <a:srgbClr val="FFFFFF"/>
                  </a:solidFill>
                </a14:hiddenFill>
              </a:ext>
            </a:extLst>
          </p:spPr>
        </p:pic>
        <p:sp>
          <p:nvSpPr>
            <p:cNvPr id="124" name="CasellaDiTesto 308">
              <a:extLst>
                <a:ext uri="{FF2B5EF4-FFF2-40B4-BE49-F238E27FC236}">
                  <a16:creationId xmlns:a16="http://schemas.microsoft.com/office/drawing/2014/main" id="{01FDC78E-EF73-5B28-05F8-B52F3C9A229B}"/>
                </a:ext>
              </a:extLst>
            </p:cNvPr>
            <p:cNvSpPr txBox="1"/>
            <p:nvPr/>
          </p:nvSpPr>
          <p:spPr>
            <a:xfrm>
              <a:off x="2985730" y="4891229"/>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grpSp>
      <p:sp>
        <p:nvSpPr>
          <p:cNvPr id="145" name="CasellaDiTesto 308">
            <a:extLst>
              <a:ext uri="{FF2B5EF4-FFF2-40B4-BE49-F238E27FC236}">
                <a16:creationId xmlns:a16="http://schemas.microsoft.com/office/drawing/2014/main" id="{718CF15C-592D-F421-83EE-18F4AB60473C}"/>
              </a:ext>
            </a:extLst>
          </p:cNvPr>
          <p:cNvSpPr txBox="1"/>
          <p:nvPr/>
        </p:nvSpPr>
        <p:spPr>
          <a:xfrm>
            <a:off x="5313062" y="524803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t>
            </a:r>
          </a:p>
        </p:txBody>
      </p:sp>
      <p:sp>
        <p:nvSpPr>
          <p:cNvPr id="153" name="AutoShape 2" descr="Logo Telepass">
            <a:extLst>
              <a:ext uri="{FF2B5EF4-FFF2-40B4-BE49-F238E27FC236}">
                <a16:creationId xmlns:a16="http://schemas.microsoft.com/office/drawing/2014/main" id="{4F0B74C9-9072-82DA-E196-AF11012F921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pic>
        <p:nvPicPr>
          <p:cNvPr id="156" name="Picture 2" descr="Telepass: cos'è, come farlo, a cosa serve, quanto costa">
            <a:extLst>
              <a:ext uri="{FF2B5EF4-FFF2-40B4-BE49-F238E27FC236}">
                <a16:creationId xmlns:a16="http://schemas.microsoft.com/office/drawing/2014/main" id="{6EAD7E0F-51BC-E031-DD3A-1EFE3F9468FF}"/>
              </a:ext>
            </a:extLst>
          </p:cNvPr>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l="19218" t="36073" r="19432" b="36095"/>
          <a:stretch/>
        </p:blipFill>
        <p:spPr bwMode="auto">
          <a:xfrm>
            <a:off x="3105830" y="730563"/>
            <a:ext cx="1349097" cy="345886"/>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371">
            <a:extLst>
              <a:ext uri="{FF2B5EF4-FFF2-40B4-BE49-F238E27FC236}">
                <a16:creationId xmlns:a16="http://schemas.microsoft.com/office/drawing/2014/main" id="{44D94D36-7927-7C96-6A90-C10A81C72CE8}"/>
              </a:ext>
            </a:extLst>
          </p:cNvPr>
          <p:cNvSpPr txBox="1"/>
          <p:nvPr/>
        </p:nvSpPr>
        <p:spPr>
          <a:xfrm>
            <a:off x="5346830" y="3170537"/>
            <a:ext cx="1908000" cy="400110"/>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 carico del competitor per 3 notti</a:t>
            </a:r>
          </a:p>
        </p:txBody>
      </p:sp>
      <p:sp>
        <p:nvSpPr>
          <p:cNvPr id="4" name="CasellaDiTesto 371">
            <a:extLst>
              <a:ext uri="{FF2B5EF4-FFF2-40B4-BE49-F238E27FC236}">
                <a16:creationId xmlns:a16="http://schemas.microsoft.com/office/drawing/2014/main" id="{8874D4E2-26FE-3BDA-1330-8DA8864E7556}"/>
              </a:ext>
            </a:extLst>
          </p:cNvPr>
          <p:cNvSpPr txBox="1"/>
          <p:nvPr/>
        </p:nvSpPr>
        <p:spPr>
          <a:xfrm>
            <a:off x="5360156" y="3535157"/>
            <a:ext cx="1908000" cy="400110"/>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Solo se il veicolo è inutilizzabile per almeno 36 ore</a:t>
            </a:r>
          </a:p>
        </p:txBody>
      </p:sp>
      <p:sp>
        <p:nvSpPr>
          <p:cNvPr id="5" name="CasellaDiTesto 250">
            <a:extLst>
              <a:ext uri="{FF2B5EF4-FFF2-40B4-BE49-F238E27FC236}">
                <a16:creationId xmlns:a16="http://schemas.microsoft.com/office/drawing/2014/main" id="{8B11E4E8-8D50-2863-1A5D-C7BD31AFDD59}"/>
              </a:ext>
            </a:extLst>
          </p:cNvPr>
          <p:cNvSpPr txBox="1"/>
          <p:nvPr/>
        </p:nvSpPr>
        <p:spPr>
          <a:xfrm>
            <a:off x="5345146" y="398079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Massimale non dichiarato</a:t>
            </a:r>
            <a:endPar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10" name="CasellaDiTesto 250">
            <a:extLst>
              <a:ext uri="{FF2B5EF4-FFF2-40B4-BE49-F238E27FC236}">
                <a16:creationId xmlns:a16="http://schemas.microsoft.com/office/drawing/2014/main" id="{A46BADF6-B55E-9A5E-C35F-B3D85FE3CC0E}"/>
              </a:ext>
            </a:extLst>
          </p:cNvPr>
          <p:cNvSpPr txBox="1"/>
          <p:nvPr/>
        </p:nvSpPr>
        <p:spPr>
          <a:xfrm>
            <a:off x="5368412" y="4335980"/>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Non specificato</a:t>
            </a:r>
            <a:endPar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11" name="CasellaDiTesto 250">
            <a:extLst>
              <a:ext uri="{FF2B5EF4-FFF2-40B4-BE49-F238E27FC236}">
                <a16:creationId xmlns:a16="http://schemas.microsoft.com/office/drawing/2014/main" id="{A6F1A332-C8A2-30A2-E923-1622A4750997}"/>
              </a:ext>
            </a:extLst>
          </p:cNvPr>
          <p:cNvSpPr txBox="1"/>
          <p:nvPr/>
        </p:nvSpPr>
        <p:spPr>
          <a:xfrm>
            <a:off x="5362649" y="459794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Massimale non dichiarato</a:t>
            </a:r>
            <a:endPar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12" name="Picture 6" descr="Centro Idea Casa - spunta verde">
            <a:extLst>
              <a:ext uri="{FF2B5EF4-FFF2-40B4-BE49-F238E27FC236}">
                <a16:creationId xmlns:a16="http://schemas.microsoft.com/office/drawing/2014/main" id="{1679C018-8F6A-C513-C500-67CB3C2E1597}"/>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526125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13" name="CasellaDiTesto 371">
            <a:extLst>
              <a:ext uri="{FF2B5EF4-FFF2-40B4-BE49-F238E27FC236}">
                <a16:creationId xmlns:a16="http://schemas.microsoft.com/office/drawing/2014/main" id="{0EAB18D8-23E4-998B-9981-626E4FB074FF}"/>
              </a:ext>
            </a:extLst>
          </p:cNvPr>
          <p:cNvSpPr txBox="1"/>
          <p:nvPr/>
        </p:nvSpPr>
        <p:spPr>
          <a:xfrm>
            <a:off x="7661425" y="290222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50€ ad evento</a:t>
            </a:r>
          </a:p>
        </p:txBody>
      </p:sp>
      <p:sp>
        <p:nvSpPr>
          <p:cNvPr id="14" name="CasellaDiTesto 230">
            <a:extLst>
              <a:ext uri="{FF2B5EF4-FFF2-40B4-BE49-F238E27FC236}">
                <a16:creationId xmlns:a16="http://schemas.microsoft.com/office/drawing/2014/main" id="{9920808A-D428-739A-D76D-EFC118C1E5E3}"/>
              </a:ext>
            </a:extLst>
          </p:cNvPr>
          <p:cNvSpPr txBox="1"/>
          <p:nvPr/>
        </p:nvSpPr>
        <p:spPr>
          <a:xfrm>
            <a:off x="7661425" y="3129967"/>
            <a:ext cx="1908000" cy="400110"/>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120€ a persona (per notte)</a:t>
            </a:r>
            <a:b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b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Max 500€ ad evento</a:t>
            </a:r>
          </a:p>
        </p:txBody>
      </p:sp>
      <p:sp>
        <p:nvSpPr>
          <p:cNvPr id="15" name="CasellaDiTesto 240">
            <a:extLst>
              <a:ext uri="{FF2B5EF4-FFF2-40B4-BE49-F238E27FC236}">
                <a16:creationId xmlns:a16="http://schemas.microsoft.com/office/drawing/2014/main" id="{A847D93F-73E1-444C-D8D1-5B17381A105D}"/>
              </a:ext>
            </a:extLst>
          </p:cNvPr>
          <p:cNvSpPr txBox="1"/>
          <p:nvPr/>
        </p:nvSpPr>
        <p:spPr>
          <a:xfrm>
            <a:off x="7661425" y="3609681"/>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200€ ad evento (Italia)</a:t>
            </a:r>
          </a:p>
        </p:txBody>
      </p:sp>
      <p:sp>
        <p:nvSpPr>
          <p:cNvPr id="17" name="CasellaDiTesto 240">
            <a:extLst>
              <a:ext uri="{FF2B5EF4-FFF2-40B4-BE49-F238E27FC236}">
                <a16:creationId xmlns:a16="http://schemas.microsoft.com/office/drawing/2014/main" id="{55C8D293-7D76-B09E-D890-0CF33281517D}"/>
              </a:ext>
            </a:extLst>
          </p:cNvPr>
          <p:cNvSpPr txBox="1"/>
          <p:nvPr/>
        </p:nvSpPr>
        <p:spPr>
          <a:xfrm>
            <a:off x="7661425" y="399122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200€ ad evento (Italia)</a:t>
            </a:r>
          </a:p>
        </p:txBody>
      </p:sp>
      <p:pic>
        <p:nvPicPr>
          <p:cNvPr id="224" name="Picture 6">
            <a:extLst>
              <a:ext uri="{FF2B5EF4-FFF2-40B4-BE49-F238E27FC236}">
                <a16:creationId xmlns:a16="http://schemas.microsoft.com/office/drawing/2014/main" id="{C6390D13-27E6-3248-6EC5-3748CE35F7FD}"/>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p:blipFill>
        <p:spPr bwMode="auto">
          <a:xfrm>
            <a:off x="7411118" y="4327824"/>
            <a:ext cx="162000" cy="162000"/>
          </a:xfrm>
          <a:prstGeom prst="rect">
            <a:avLst/>
          </a:prstGeom>
          <a:noFill/>
          <a:extLst>
            <a:ext uri="{909E8E84-426E-40DD-AFC4-6F175D3DCCD1}">
              <a14:hiddenFill xmlns:a14="http://schemas.microsoft.com/office/drawing/2010/main">
                <a:solidFill>
                  <a:srgbClr val="FFFFFF"/>
                </a:solidFill>
              </a14:hiddenFill>
            </a:ext>
          </a:extLst>
        </p:spPr>
      </p:pic>
      <p:pic>
        <p:nvPicPr>
          <p:cNvPr id="225" name="Picture 6">
            <a:extLst>
              <a:ext uri="{FF2B5EF4-FFF2-40B4-BE49-F238E27FC236}">
                <a16:creationId xmlns:a16="http://schemas.microsoft.com/office/drawing/2014/main" id="{F9463686-6006-EC05-D164-6C5D3ACC3148}"/>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p:blipFill>
        <p:spPr bwMode="auto">
          <a:xfrm>
            <a:off x="7406966" y="4638562"/>
            <a:ext cx="162000" cy="162000"/>
          </a:xfrm>
          <a:prstGeom prst="rect">
            <a:avLst/>
          </a:prstGeom>
          <a:noFill/>
          <a:extLst>
            <a:ext uri="{909E8E84-426E-40DD-AFC4-6F175D3DCCD1}">
              <a14:hiddenFill xmlns:a14="http://schemas.microsoft.com/office/drawing/2010/main">
                <a:solidFill>
                  <a:srgbClr val="FFFFFF"/>
                </a:solidFill>
              </a14:hiddenFill>
            </a:ext>
          </a:extLst>
        </p:spPr>
      </p:pic>
      <p:sp>
        <p:nvSpPr>
          <p:cNvPr id="227" name="CasellaDiTesto 216">
            <a:extLst>
              <a:ext uri="{FF2B5EF4-FFF2-40B4-BE49-F238E27FC236}">
                <a16:creationId xmlns:a16="http://schemas.microsoft.com/office/drawing/2014/main" id="{672216C8-299E-D55D-0A52-30A01002F95B}"/>
              </a:ext>
            </a:extLst>
          </p:cNvPr>
          <p:cNvSpPr txBox="1"/>
          <p:nvPr/>
        </p:nvSpPr>
        <p:spPr>
          <a:xfrm>
            <a:off x="7661425" y="490332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400€ ad evento</a:t>
            </a:r>
          </a:p>
        </p:txBody>
      </p:sp>
      <p:pic>
        <p:nvPicPr>
          <p:cNvPr id="228" name="Picture 6" descr="Centro Idea Casa - spunta verde">
            <a:extLst>
              <a:ext uri="{FF2B5EF4-FFF2-40B4-BE49-F238E27FC236}">
                <a16:creationId xmlns:a16="http://schemas.microsoft.com/office/drawing/2014/main" id="{1EB237E4-5728-D656-EF16-B92BA04EA060}"/>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16412" y="491997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29" name="CasellaDiTesto 216">
            <a:extLst>
              <a:ext uri="{FF2B5EF4-FFF2-40B4-BE49-F238E27FC236}">
                <a16:creationId xmlns:a16="http://schemas.microsoft.com/office/drawing/2014/main" id="{3545E648-32C0-A98E-B815-09ACCE4BCAB0}"/>
              </a:ext>
            </a:extLst>
          </p:cNvPr>
          <p:cNvSpPr txBox="1"/>
          <p:nvPr/>
        </p:nvSpPr>
        <p:spPr>
          <a:xfrm>
            <a:off x="7661425" y="5248398"/>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1000€ ad evento (Estero)</a:t>
            </a:r>
          </a:p>
        </p:txBody>
      </p:sp>
      <p:pic>
        <p:nvPicPr>
          <p:cNvPr id="232" name="Picture 6" descr="Centro Idea Casa - spunta verde">
            <a:extLst>
              <a:ext uri="{FF2B5EF4-FFF2-40B4-BE49-F238E27FC236}">
                <a16:creationId xmlns:a16="http://schemas.microsoft.com/office/drawing/2014/main" id="{49FE7E09-F6FC-DE98-9275-974E23200296}"/>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11118" y="525685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33" name="CasellaDiTesto 216">
            <a:extLst>
              <a:ext uri="{FF2B5EF4-FFF2-40B4-BE49-F238E27FC236}">
                <a16:creationId xmlns:a16="http://schemas.microsoft.com/office/drawing/2014/main" id="{F4145277-46AA-B2B1-013F-643938F01C68}"/>
              </a:ext>
            </a:extLst>
          </p:cNvPr>
          <p:cNvSpPr txBox="1"/>
          <p:nvPr/>
        </p:nvSpPr>
        <p:spPr>
          <a:xfrm>
            <a:off x="7661424" y="5577685"/>
            <a:ext cx="1969123"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5.000€ ad evento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(Fermo/Arresto)</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34" name="Picture 6" descr="Centro Idea Casa - spunta verde">
            <a:extLst>
              <a:ext uri="{FF2B5EF4-FFF2-40B4-BE49-F238E27FC236}">
                <a16:creationId xmlns:a16="http://schemas.microsoft.com/office/drawing/2014/main" id="{8F56DED5-DC66-930B-8D7B-B8BF0700EB1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395507" y="5586146"/>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35" name="CasellaDiTesto 216">
            <a:extLst>
              <a:ext uri="{FF2B5EF4-FFF2-40B4-BE49-F238E27FC236}">
                <a16:creationId xmlns:a16="http://schemas.microsoft.com/office/drawing/2014/main" id="{DBDFCB64-F511-4664-168E-EAB9B4B079D7}"/>
              </a:ext>
            </a:extLst>
          </p:cNvPr>
          <p:cNvSpPr txBox="1"/>
          <p:nvPr/>
        </p:nvSpPr>
        <p:spPr>
          <a:xfrm>
            <a:off x="7661425" y="587598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1.000€ ad evento</a:t>
            </a:r>
          </a:p>
        </p:txBody>
      </p:sp>
      <p:pic>
        <p:nvPicPr>
          <p:cNvPr id="236" name="Picture 6" descr="Centro Idea Casa - spunta verde">
            <a:extLst>
              <a:ext uri="{FF2B5EF4-FFF2-40B4-BE49-F238E27FC236}">
                <a16:creationId xmlns:a16="http://schemas.microsoft.com/office/drawing/2014/main" id="{6F94E399-5089-070F-25CD-C303D1F9B1C2}"/>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7402486" y="5884446"/>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237" name="Picture 6" descr="Centro Idea Casa - spunta verde">
            <a:extLst>
              <a:ext uri="{FF2B5EF4-FFF2-40B4-BE49-F238E27FC236}">
                <a16:creationId xmlns:a16="http://schemas.microsoft.com/office/drawing/2014/main" id="{C6D1F5BA-796F-50CE-E173-54CF1B93E7EE}"/>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47208" y="165543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38" name="CasellaDiTesto 138">
            <a:extLst>
              <a:ext uri="{FF2B5EF4-FFF2-40B4-BE49-F238E27FC236}">
                <a16:creationId xmlns:a16="http://schemas.microsoft.com/office/drawing/2014/main" id="{7F1460C9-4C11-96FE-39A4-451D12A75C1A}"/>
              </a:ext>
            </a:extLst>
          </p:cNvPr>
          <p:cNvSpPr txBox="1"/>
          <p:nvPr/>
        </p:nvSpPr>
        <p:spPr>
          <a:xfrm>
            <a:off x="9997515" y="164712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H24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guasto, incendio, incidente, </a:t>
            </a:r>
            <a:r>
              <a:rPr lang="it-IT" sz="700">
                <a:solidFill>
                  <a:srgbClr val="242424"/>
                </a:solidFill>
                <a:latin typeface="Segoe UI" panose="020B0502040204020203" pitchFamily="34" charset="0"/>
              </a:rPr>
              <a:t>furto</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39" name="Picture 6" descr="Centro Idea Casa - spunta verde">
            <a:extLst>
              <a:ext uri="{FF2B5EF4-FFF2-40B4-BE49-F238E27FC236}">
                <a16:creationId xmlns:a16="http://schemas.microsoft.com/office/drawing/2014/main" id="{3AF666A2-C72A-0262-27C6-62E736AD78EC}"/>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47208" y="203956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42" name="CasellaDiTesto 183">
            <a:extLst>
              <a:ext uri="{FF2B5EF4-FFF2-40B4-BE49-F238E27FC236}">
                <a16:creationId xmlns:a16="http://schemas.microsoft.com/office/drawing/2014/main" id="{133CE88A-7774-396C-132A-BF1667A48D27}"/>
              </a:ext>
            </a:extLst>
          </p:cNvPr>
          <p:cNvSpPr txBox="1"/>
          <p:nvPr/>
        </p:nvSpPr>
        <p:spPr>
          <a:xfrm>
            <a:off x="9997515" y="203125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Italia ed Europa</a:t>
            </a:r>
          </a:p>
        </p:txBody>
      </p:sp>
      <p:pic>
        <p:nvPicPr>
          <p:cNvPr id="243" name="Picture 6" descr="Centro Idea Casa - spunta verde">
            <a:extLst>
              <a:ext uri="{FF2B5EF4-FFF2-40B4-BE49-F238E27FC236}">
                <a16:creationId xmlns:a16="http://schemas.microsoft.com/office/drawing/2014/main" id="{60E68576-A1B2-C6C3-419A-F8C1E2203B72}"/>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47208" y="231010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44" name="CasellaDiTesto 194">
            <a:extLst>
              <a:ext uri="{FF2B5EF4-FFF2-40B4-BE49-F238E27FC236}">
                <a16:creationId xmlns:a16="http://schemas.microsoft.com/office/drawing/2014/main" id="{25A8AC9F-73C9-DEC3-382E-87D2AD44717A}"/>
              </a:ext>
            </a:extLst>
          </p:cNvPr>
          <p:cNvSpPr txBox="1"/>
          <p:nvPr/>
        </p:nvSpPr>
        <p:spPr>
          <a:xfrm>
            <a:off x="9997515" y="230178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Massimale </a:t>
            </a:r>
            <a:r>
              <a:rPr lang="it-IT" sz="1000">
                <a:solidFill>
                  <a:srgbClr val="242424"/>
                </a:solidFill>
                <a:latin typeface="Segoe UI" panose="020B0502040204020203" pitchFamily="34" charset="0"/>
              </a:rPr>
              <a:t>non dichiarato</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45" name="Picture 6" descr="Centro Idea Casa - spunta verde">
            <a:extLst>
              <a:ext uri="{FF2B5EF4-FFF2-40B4-BE49-F238E27FC236}">
                <a16:creationId xmlns:a16="http://schemas.microsoft.com/office/drawing/2014/main" id="{9AF9BFFC-2389-65AC-F410-75D05E8895E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37377" y="2617997"/>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46" name="CasellaDiTesto 371">
            <a:extLst>
              <a:ext uri="{FF2B5EF4-FFF2-40B4-BE49-F238E27FC236}">
                <a16:creationId xmlns:a16="http://schemas.microsoft.com/office/drawing/2014/main" id="{5C9B89E2-796A-5FC9-FF05-97702E5F216B}"/>
              </a:ext>
            </a:extLst>
          </p:cNvPr>
          <p:cNvSpPr txBox="1"/>
          <p:nvPr/>
        </p:nvSpPr>
        <p:spPr>
          <a:xfrm>
            <a:off x="9997515" y="2609681"/>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Fino a 7gg</a:t>
            </a:r>
            <a:r>
              <a:rPr kumimoji="0" lang="it-IT" sz="9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 </a:t>
            </a:r>
            <a:r>
              <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(fino a 30gg per furto veicolo)</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47" name="Picture 6" descr="Centro Idea Casa - spunta verde">
            <a:extLst>
              <a:ext uri="{FF2B5EF4-FFF2-40B4-BE49-F238E27FC236}">
                <a16:creationId xmlns:a16="http://schemas.microsoft.com/office/drawing/2014/main" id="{20985A5A-E33D-3ED7-E647-6AABA16A8747}"/>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47208" y="2896065"/>
            <a:ext cx="234696" cy="217479"/>
          </a:xfrm>
          <a:prstGeom prst="rect">
            <a:avLst/>
          </a:prstGeom>
          <a:noFill/>
          <a:extLst>
            <a:ext uri="{909E8E84-426E-40DD-AFC4-6F175D3DCCD1}">
              <a14:hiddenFill xmlns:a14="http://schemas.microsoft.com/office/drawing/2010/main">
                <a:solidFill>
                  <a:srgbClr val="FFFFFF"/>
                </a:solidFill>
              </a14:hiddenFill>
            </a:ext>
          </a:extLst>
        </p:spPr>
      </p:pic>
      <p:pic>
        <p:nvPicPr>
          <p:cNvPr id="248" name="Picture 6" descr="Centro Idea Casa - spunta verde">
            <a:extLst>
              <a:ext uri="{FF2B5EF4-FFF2-40B4-BE49-F238E27FC236}">
                <a16:creationId xmlns:a16="http://schemas.microsoft.com/office/drawing/2014/main" id="{52C5A528-EC05-3C73-1E51-921867C82689}"/>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45824" y="3257938"/>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49" name="CasellaDiTesto 375">
            <a:extLst>
              <a:ext uri="{FF2B5EF4-FFF2-40B4-BE49-F238E27FC236}">
                <a16:creationId xmlns:a16="http://schemas.microsoft.com/office/drawing/2014/main" id="{DF6A4F61-C518-8996-5730-6AC3238DCA04}"/>
              </a:ext>
            </a:extLst>
          </p:cNvPr>
          <p:cNvSpPr txBox="1"/>
          <p:nvPr/>
        </p:nvSpPr>
        <p:spPr>
          <a:xfrm>
            <a:off x="9997515" y="3176006"/>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52" name="Picture 6" descr="Centro Idea Casa - spunta verde">
            <a:extLst>
              <a:ext uri="{FF2B5EF4-FFF2-40B4-BE49-F238E27FC236}">
                <a16:creationId xmlns:a16="http://schemas.microsoft.com/office/drawing/2014/main" id="{7B46FB30-0AC7-770A-CFA0-F1AE1BD025E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53328" y="359164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53" name="CasellaDiTesto 377">
            <a:extLst>
              <a:ext uri="{FF2B5EF4-FFF2-40B4-BE49-F238E27FC236}">
                <a16:creationId xmlns:a16="http://schemas.microsoft.com/office/drawing/2014/main" id="{99ABACC5-F1BA-30EF-3075-45F47FA3EB2E}"/>
              </a:ext>
            </a:extLst>
          </p:cNvPr>
          <p:cNvSpPr txBox="1"/>
          <p:nvPr/>
        </p:nvSpPr>
        <p:spPr>
          <a:xfrm>
            <a:off x="9997515" y="358333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grpSp>
        <p:nvGrpSpPr>
          <p:cNvPr id="254" name="Gruppo 14">
            <a:extLst>
              <a:ext uri="{FF2B5EF4-FFF2-40B4-BE49-F238E27FC236}">
                <a16:creationId xmlns:a16="http://schemas.microsoft.com/office/drawing/2014/main" id="{2CD862D7-8A2E-069B-8027-93BD1BCB33EA}"/>
              </a:ext>
            </a:extLst>
          </p:cNvPr>
          <p:cNvGrpSpPr/>
          <p:nvPr/>
        </p:nvGrpSpPr>
        <p:grpSpPr>
          <a:xfrm>
            <a:off x="9738679" y="3980794"/>
            <a:ext cx="2136845" cy="246221"/>
            <a:chOff x="5070174" y="3957314"/>
            <a:chExt cx="2136845" cy="246221"/>
          </a:xfrm>
        </p:grpSpPr>
        <p:pic>
          <p:nvPicPr>
            <p:cNvPr id="255" name="Picture 6" descr="Centro Idea Casa - spunta verde">
              <a:extLst>
                <a:ext uri="{FF2B5EF4-FFF2-40B4-BE49-F238E27FC236}">
                  <a16:creationId xmlns:a16="http://schemas.microsoft.com/office/drawing/2014/main" id="{86E3160A-D138-710D-EA8E-3E426BD06860}"/>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070174" y="3965630"/>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34" name="CasellaDiTesto 379">
              <a:extLst>
                <a:ext uri="{FF2B5EF4-FFF2-40B4-BE49-F238E27FC236}">
                  <a16:creationId xmlns:a16="http://schemas.microsoft.com/office/drawing/2014/main" id="{51119B4D-1847-A515-9F3A-FD03D1D8D665}"/>
                </a:ext>
              </a:extLst>
            </p:cNvPr>
            <p:cNvSpPr txBox="1"/>
            <p:nvPr/>
          </p:nvSpPr>
          <p:spPr>
            <a:xfrm>
              <a:off x="5299019" y="395731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grpSp>
      <p:sp>
        <p:nvSpPr>
          <p:cNvPr id="35" name="CasellaDiTesto 371">
            <a:extLst>
              <a:ext uri="{FF2B5EF4-FFF2-40B4-BE49-F238E27FC236}">
                <a16:creationId xmlns:a16="http://schemas.microsoft.com/office/drawing/2014/main" id="{66A598ED-765A-3FD7-4AEE-987253121A7E}"/>
              </a:ext>
            </a:extLst>
          </p:cNvPr>
          <p:cNvSpPr txBox="1"/>
          <p:nvPr/>
        </p:nvSpPr>
        <p:spPr>
          <a:xfrm>
            <a:off x="9997515" y="290222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Massimale </a:t>
            </a:r>
            <a:r>
              <a:rPr lang="it-IT" sz="1000">
                <a:solidFill>
                  <a:srgbClr val="242424"/>
                </a:solidFill>
                <a:latin typeface="Segoe UI" panose="020B0502040204020203" pitchFamily="34" charset="0"/>
              </a:rPr>
              <a:t>non dichiarato</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38" name="CasellaDiTesto 230">
            <a:extLst>
              <a:ext uri="{FF2B5EF4-FFF2-40B4-BE49-F238E27FC236}">
                <a16:creationId xmlns:a16="http://schemas.microsoft.com/office/drawing/2014/main" id="{60F8F5AD-39E5-6686-D129-819899A08521}"/>
              </a:ext>
            </a:extLst>
          </p:cNvPr>
          <p:cNvSpPr txBox="1"/>
          <p:nvPr/>
        </p:nvSpPr>
        <p:spPr>
          <a:xfrm>
            <a:off x="9997515" y="3250687"/>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660€ ad evento</a:t>
            </a:r>
          </a:p>
        </p:txBody>
      </p:sp>
      <p:sp>
        <p:nvSpPr>
          <p:cNvPr id="39" name="CasellaDiTesto 240">
            <a:extLst>
              <a:ext uri="{FF2B5EF4-FFF2-40B4-BE49-F238E27FC236}">
                <a16:creationId xmlns:a16="http://schemas.microsoft.com/office/drawing/2014/main" id="{903C46F6-32D8-C8DD-F9D5-FD5E4A024F69}"/>
              </a:ext>
            </a:extLst>
          </p:cNvPr>
          <p:cNvSpPr txBox="1"/>
          <p:nvPr/>
        </p:nvSpPr>
        <p:spPr>
          <a:xfrm>
            <a:off x="9997515" y="3609681"/>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A carico del competitor</a:t>
            </a:r>
          </a:p>
        </p:txBody>
      </p:sp>
      <p:sp>
        <p:nvSpPr>
          <p:cNvPr id="48" name="CasellaDiTesto 240">
            <a:extLst>
              <a:ext uri="{FF2B5EF4-FFF2-40B4-BE49-F238E27FC236}">
                <a16:creationId xmlns:a16="http://schemas.microsoft.com/office/drawing/2014/main" id="{C4AAA0BB-9DD7-A926-A0F4-67AAED0E1CA1}"/>
              </a:ext>
            </a:extLst>
          </p:cNvPr>
          <p:cNvSpPr txBox="1"/>
          <p:nvPr/>
        </p:nvSpPr>
        <p:spPr>
          <a:xfrm>
            <a:off x="9997515" y="399122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500€ ad evento</a:t>
            </a:r>
          </a:p>
        </p:txBody>
      </p:sp>
      <p:pic>
        <p:nvPicPr>
          <p:cNvPr id="50" name="Picture 6">
            <a:extLst>
              <a:ext uri="{FF2B5EF4-FFF2-40B4-BE49-F238E27FC236}">
                <a16:creationId xmlns:a16="http://schemas.microsoft.com/office/drawing/2014/main" id="{81FE4B23-01B2-0BBC-2FD0-89AAC076A103}"/>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p:blipFill>
        <p:spPr bwMode="auto">
          <a:xfrm>
            <a:off x="9743056" y="4638562"/>
            <a:ext cx="162000" cy="162000"/>
          </a:xfrm>
          <a:prstGeom prst="rect">
            <a:avLst/>
          </a:prstGeom>
          <a:noFill/>
          <a:extLst>
            <a:ext uri="{909E8E84-426E-40DD-AFC4-6F175D3DCCD1}">
              <a14:hiddenFill xmlns:a14="http://schemas.microsoft.com/office/drawing/2010/main">
                <a:solidFill>
                  <a:srgbClr val="FFFFFF"/>
                </a:solidFill>
              </a14:hiddenFill>
            </a:ext>
          </a:extLst>
        </p:spPr>
      </p:pic>
      <p:sp>
        <p:nvSpPr>
          <p:cNvPr id="51" name="CasellaDiTesto 216">
            <a:extLst>
              <a:ext uri="{FF2B5EF4-FFF2-40B4-BE49-F238E27FC236}">
                <a16:creationId xmlns:a16="http://schemas.microsoft.com/office/drawing/2014/main" id="{D447A139-554D-42CA-4CAB-FEF3422DFFB1}"/>
              </a:ext>
            </a:extLst>
          </p:cNvPr>
          <p:cNvSpPr txBox="1"/>
          <p:nvPr/>
        </p:nvSpPr>
        <p:spPr>
          <a:xfrm>
            <a:off x="9997515" y="4847907"/>
            <a:ext cx="1908000" cy="400110"/>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Fino a 350€ (Italia)                      Fino a 1.000€ (Estero)</a:t>
            </a:r>
          </a:p>
        </p:txBody>
      </p:sp>
      <p:pic>
        <p:nvPicPr>
          <p:cNvPr id="52" name="Picture 6" descr="Centro Idea Casa - spunta verde">
            <a:extLst>
              <a:ext uri="{FF2B5EF4-FFF2-40B4-BE49-F238E27FC236}">
                <a16:creationId xmlns:a16="http://schemas.microsoft.com/office/drawing/2014/main" id="{0F286ACF-99D7-77F0-5F08-E17D2F72D32D}"/>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52502" y="491997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53" name="CasellaDiTesto 216">
            <a:extLst>
              <a:ext uri="{FF2B5EF4-FFF2-40B4-BE49-F238E27FC236}">
                <a16:creationId xmlns:a16="http://schemas.microsoft.com/office/drawing/2014/main" id="{D9D64657-096F-22F0-35BE-5D3E6B1DCCBB}"/>
              </a:ext>
            </a:extLst>
          </p:cNvPr>
          <p:cNvSpPr txBox="1"/>
          <p:nvPr/>
        </p:nvSpPr>
        <p:spPr>
          <a:xfrm>
            <a:off x="9997515" y="5248398"/>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Massimale non  dichiarato</a:t>
            </a:r>
          </a:p>
        </p:txBody>
      </p:sp>
      <p:pic>
        <p:nvPicPr>
          <p:cNvPr id="256" name="Picture 6" descr="Centro Idea Casa - spunta verde">
            <a:extLst>
              <a:ext uri="{FF2B5EF4-FFF2-40B4-BE49-F238E27FC236}">
                <a16:creationId xmlns:a16="http://schemas.microsoft.com/office/drawing/2014/main" id="{752A8FB8-EC31-14C6-3522-E88851CDF7FC}"/>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47208" y="5256859"/>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257" name="CasellaDiTesto 216">
            <a:extLst>
              <a:ext uri="{FF2B5EF4-FFF2-40B4-BE49-F238E27FC236}">
                <a16:creationId xmlns:a16="http://schemas.microsoft.com/office/drawing/2014/main" id="{0BAEE502-CD2D-274B-CF5D-960FF12B78A8}"/>
              </a:ext>
            </a:extLst>
          </p:cNvPr>
          <p:cNvSpPr txBox="1"/>
          <p:nvPr/>
        </p:nvSpPr>
        <p:spPr>
          <a:xfrm>
            <a:off x="9997515" y="557768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3.600€ ad evento </a:t>
            </a:r>
            <a:r>
              <a:rPr kumimoji="0" lang="it-IT" sz="8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(Fermo/Arresto)</a:t>
            </a:r>
            <a:endPar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258" name="Picture 6" descr="Centro Idea Casa - spunta verde">
            <a:extLst>
              <a:ext uri="{FF2B5EF4-FFF2-40B4-BE49-F238E27FC236}">
                <a16:creationId xmlns:a16="http://schemas.microsoft.com/office/drawing/2014/main" id="{482A82CD-0E9B-ED3E-B256-BDC84C19457D}"/>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31597" y="5586146"/>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84" name="CasellaDiTesto 250">
            <a:extLst>
              <a:ext uri="{FF2B5EF4-FFF2-40B4-BE49-F238E27FC236}">
                <a16:creationId xmlns:a16="http://schemas.microsoft.com/office/drawing/2014/main" id="{87807136-3EC9-1F38-3D88-AC89C1E8F123}"/>
              </a:ext>
            </a:extLst>
          </p:cNvPr>
          <p:cNvSpPr txBox="1"/>
          <p:nvPr/>
        </p:nvSpPr>
        <p:spPr>
          <a:xfrm>
            <a:off x="10048520" y="4351885"/>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Non specificato</a:t>
            </a:r>
            <a:endPar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85" name="Picture 6" descr="Centro Idea Casa - spunta verde">
            <a:extLst>
              <a:ext uri="{FF2B5EF4-FFF2-40B4-BE49-F238E27FC236}">
                <a16:creationId xmlns:a16="http://schemas.microsoft.com/office/drawing/2014/main" id="{2A45CCA2-1B61-B0F1-E7EB-014366213878}"/>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750282" y="4322441"/>
            <a:ext cx="234696" cy="217479"/>
          </a:xfrm>
          <a:prstGeom prst="rect">
            <a:avLst/>
          </a:prstGeom>
          <a:noFill/>
          <a:extLst>
            <a:ext uri="{909E8E84-426E-40DD-AFC4-6F175D3DCCD1}">
              <a14:hiddenFill xmlns:a14="http://schemas.microsoft.com/office/drawing/2010/main">
                <a:solidFill>
                  <a:srgbClr val="FFFFFF"/>
                </a:solidFill>
              </a14:hiddenFill>
            </a:ext>
          </a:extLst>
        </p:spPr>
      </p:pic>
      <p:sp>
        <p:nvSpPr>
          <p:cNvPr id="90" name="CasellaDiTesto 250">
            <a:extLst>
              <a:ext uri="{FF2B5EF4-FFF2-40B4-BE49-F238E27FC236}">
                <a16:creationId xmlns:a16="http://schemas.microsoft.com/office/drawing/2014/main" id="{1E3739F9-0C98-D32C-408D-F2C2CB738447}"/>
              </a:ext>
            </a:extLst>
          </p:cNvPr>
          <p:cNvSpPr txBox="1"/>
          <p:nvPr/>
        </p:nvSpPr>
        <p:spPr>
          <a:xfrm>
            <a:off x="10045080" y="4605024"/>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Non specificato</a:t>
            </a:r>
            <a:endPar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pic>
        <p:nvPicPr>
          <p:cNvPr id="91" name="Picture 6">
            <a:extLst>
              <a:ext uri="{FF2B5EF4-FFF2-40B4-BE49-F238E27FC236}">
                <a16:creationId xmlns:a16="http://schemas.microsoft.com/office/drawing/2014/main" id="{A78D403E-1B94-C034-076F-D985A5FE64DD}"/>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p:blipFill>
        <p:spPr bwMode="auto">
          <a:xfrm>
            <a:off x="9758418" y="5917531"/>
            <a:ext cx="162000" cy="162000"/>
          </a:xfrm>
          <a:prstGeom prst="rect">
            <a:avLst/>
          </a:prstGeom>
          <a:noFill/>
          <a:extLst>
            <a:ext uri="{909E8E84-426E-40DD-AFC4-6F175D3DCCD1}">
              <a14:hiddenFill xmlns:a14="http://schemas.microsoft.com/office/drawing/2010/main">
                <a:solidFill>
                  <a:srgbClr val="FFFFFF"/>
                </a:solidFill>
              </a14:hiddenFill>
            </a:ext>
          </a:extLst>
        </p:spPr>
      </p:pic>
      <p:sp>
        <p:nvSpPr>
          <p:cNvPr id="288" name="CasellaDiTesto 250">
            <a:extLst>
              <a:ext uri="{FF2B5EF4-FFF2-40B4-BE49-F238E27FC236}">
                <a16:creationId xmlns:a16="http://schemas.microsoft.com/office/drawing/2014/main" id="{26BAD5D4-18F5-4655-C240-3E171F7767E3}"/>
              </a:ext>
            </a:extLst>
          </p:cNvPr>
          <p:cNvSpPr txBox="1"/>
          <p:nvPr/>
        </p:nvSpPr>
        <p:spPr>
          <a:xfrm>
            <a:off x="10060442" y="5883993"/>
            <a:ext cx="1908000" cy="246221"/>
          </a:xfrm>
          <a:prstGeom prst="rect">
            <a:avLst/>
          </a:prstGeom>
          <a:noFill/>
        </p:spPr>
        <p:txBody>
          <a:bodyPr wrap="square" lIns="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Non specificato</a:t>
            </a:r>
            <a:endParaRPr kumimoji="0" lang="it-IT" sz="700" b="0"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40" name="CasellaDiTesto 159">
            <a:extLst>
              <a:ext uri="{FF2B5EF4-FFF2-40B4-BE49-F238E27FC236}">
                <a16:creationId xmlns:a16="http://schemas.microsoft.com/office/drawing/2014/main" id="{E4F79A0F-2F10-0F9D-9226-DA70E352850F}"/>
              </a:ext>
            </a:extLst>
          </p:cNvPr>
          <p:cNvSpPr txBox="1"/>
          <p:nvPr/>
        </p:nvSpPr>
        <p:spPr>
          <a:xfrm>
            <a:off x="5323383" y="6498218"/>
            <a:ext cx="6220267" cy="246221"/>
          </a:xfrm>
          <a:prstGeom prst="rect">
            <a:avLst/>
          </a:prstGeom>
          <a:noFill/>
        </p:spPr>
        <p:txBody>
          <a:bodyPr wrap="square" lIns="0" tIns="45720" rIns="3600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000" b="1" i="0" u="sng" strike="noStrike" kern="1200" cap="none" spc="0" normalizeH="0" baseline="0" noProof="0">
                <a:ln>
                  <a:noFill/>
                </a:ln>
                <a:solidFill>
                  <a:schemeClr val="accent5"/>
                </a:solidFill>
                <a:effectLst/>
                <a:uLnTx/>
                <a:uFillTx/>
                <a:latin typeface="Segoe UI"/>
                <a:cs typeface="Segoe UI"/>
              </a:rPr>
              <a:t>media di oltre 60€/anno con RC vs i 33,6€/anno di Telepass</a:t>
            </a:r>
            <a:endParaRPr lang="it-IT" sz="1000" b="1" i="0" u="sng" strike="noStrike" kern="1200" cap="none" spc="0" normalizeH="0" baseline="0" noProof="0">
              <a:ln>
                <a:noFill/>
              </a:ln>
              <a:solidFill>
                <a:schemeClr val="accent5"/>
              </a:solidFill>
              <a:effectLst/>
              <a:uLnTx/>
              <a:uFillTx/>
              <a:latin typeface="Segoe UI"/>
              <a:cs typeface="Segoe UI"/>
            </a:endParaRPr>
          </a:p>
        </p:txBody>
      </p:sp>
      <p:sp>
        <p:nvSpPr>
          <p:cNvPr id="7" name="Rettangolo 6">
            <a:extLst>
              <a:ext uri="{FF2B5EF4-FFF2-40B4-BE49-F238E27FC236}">
                <a16:creationId xmlns:a16="http://schemas.microsoft.com/office/drawing/2014/main" id="{55638873-0536-FFE0-97D1-CE796CF3A21D}"/>
              </a:ext>
            </a:extLst>
          </p:cNvPr>
          <p:cNvSpPr/>
          <p:nvPr/>
        </p:nvSpPr>
        <p:spPr>
          <a:xfrm>
            <a:off x="5247079" y="6103156"/>
            <a:ext cx="6334671" cy="650408"/>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accent5"/>
              </a:solidFill>
            </a:endParaRPr>
          </a:p>
        </p:txBody>
      </p:sp>
    </p:spTree>
    <p:extLst>
      <p:ext uri="{BB962C8B-B14F-4D97-AF65-F5344CB8AC3E}">
        <p14:creationId xmlns:p14="http://schemas.microsoft.com/office/powerpoint/2010/main" val="1799231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26">
            <a:extLst>
              <a:ext uri="{FF2B5EF4-FFF2-40B4-BE49-F238E27FC236}">
                <a16:creationId xmlns:a16="http://schemas.microsoft.com/office/drawing/2014/main" id="{6063B788-A1F3-8B1C-D403-FCDAD7B5806B}"/>
              </a:ext>
            </a:extLst>
          </p:cNvPr>
          <p:cNvSpPr>
            <a:spLocks noGrp="1"/>
          </p:cNvSpPr>
          <p:nvPr>
            <p:ph type="body" sz="quarter" idx="11"/>
          </p:nvPr>
        </p:nvSpPr>
        <p:spPr>
          <a:xfrm>
            <a:off x="686902" y="158901"/>
            <a:ext cx="10260000" cy="782638"/>
          </a:xfrm>
        </p:spPr>
        <p:txBody>
          <a:bodyPr lIns="91440" tIns="45720" rIns="91440" bIns="45720" anchor="ctr">
            <a:normAutofit/>
          </a:bodyPr>
          <a:lstStyle/>
          <a:p>
            <a:r>
              <a:rPr lang="it-IT" b="1">
                <a:latin typeface="Poppins"/>
                <a:cs typeface="Poppins"/>
              </a:rPr>
              <a:t>Dispositivo aggiuntivo</a:t>
            </a:r>
            <a:endParaRPr lang="it-IT" b="1">
              <a:latin typeface="Poppins" panose="00000500000000000000" pitchFamily="2" charset="0"/>
            </a:endParaRPr>
          </a:p>
          <a:p>
            <a:r>
              <a:rPr lang="it-IT" sz="1600" b="1">
                <a:solidFill>
                  <a:schemeClr val="bg1">
                    <a:lumMod val="65000"/>
                  </a:schemeClr>
                </a:solidFill>
                <a:latin typeface="Poppins"/>
                <a:cs typeface="Poppins"/>
              </a:rPr>
              <a:t>TWIN</a:t>
            </a:r>
            <a:endParaRPr lang="it-IT" sz="1600" b="1">
              <a:solidFill>
                <a:schemeClr val="bg1">
                  <a:lumMod val="65000"/>
                </a:schemeClr>
              </a:solidFill>
              <a:latin typeface="Poppins" panose="00000500000000000000" pitchFamily="2" charset="0"/>
            </a:endParaRPr>
          </a:p>
        </p:txBody>
      </p:sp>
      <p:sp>
        <p:nvSpPr>
          <p:cNvPr id="2" name="TextBox 1">
            <a:extLst>
              <a:ext uri="{FF2B5EF4-FFF2-40B4-BE49-F238E27FC236}">
                <a16:creationId xmlns:a16="http://schemas.microsoft.com/office/drawing/2014/main" id="{9D07B6AE-9609-AD7B-1E63-F4E51F7EBC17}"/>
              </a:ext>
            </a:extLst>
          </p:cNvPr>
          <p:cNvSpPr txBox="1"/>
          <p:nvPr/>
        </p:nvSpPr>
        <p:spPr>
          <a:xfrm>
            <a:off x="451377" y="1604335"/>
            <a:ext cx="5784264" cy="1815882"/>
          </a:xfrm>
          <a:prstGeom prst="rect">
            <a:avLst/>
          </a:prstGeom>
          <a:noFill/>
        </p:spPr>
        <p:txBody>
          <a:bodyPr wrap="square">
            <a:spAutoFit/>
          </a:bodyPr>
          <a:lstStyle/>
          <a:p>
            <a:r>
              <a:rPr lang="it-IT" sz="1600">
                <a:solidFill>
                  <a:schemeClr val="accent5"/>
                </a:solidFill>
              </a:rPr>
              <a:t>Aggiungendo l’Opzione Twin al contratto Telepass Base si ha la possibilità di </a:t>
            </a:r>
            <a:r>
              <a:rPr lang="it-IT" sz="1600" b="1">
                <a:solidFill>
                  <a:schemeClr val="accent5"/>
                </a:solidFill>
              </a:rPr>
              <a:t>aggiungere, sullo stesso contratto, un secondo dispositivo Telepass abbinato al servizio di Assistenza Stradale in Italia</a:t>
            </a:r>
            <a:r>
              <a:rPr lang="it-IT" sz="1600">
                <a:solidFill>
                  <a:schemeClr val="accent5"/>
                </a:solidFill>
              </a:rPr>
              <a:t>.</a:t>
            </a:r>
          </a:p>
          <a:p>
            <a:endParaRPr lang="it-IT" sz="1600">
              <a:solidFill>
                <a:schemeClr val="accent5"/>
              </a:solidFill>
            </a:endParaRPr>
          </a:p>
          <a:p>
            <a:r>
              <a:rPr lang="it-IT" sz="1600">
                <a:solidFill>
                  <a:schemeClr val="accent5"/>
                </a:solidFill>
              </a:rPr>
              <a:t>In questo modo si possono associare fino a </a:t>
            </a:r>
            <a:r>
              <a:rPr lang="it-IT" sz="1600" b="1">
                <a:solidFill>
                  <a:schemeClr val="accent5"/>
                </a:solidFill>
              </a:rPr>
              <a:t>4 targhe </a:t>
            </a:r>
            <a:r>
              <a:rPr lang="it-IT" sz="1600">
                <a:solidFill>
                  <a:schemeClr val="accent5"/>
                </a:solidFill>
              </a:rPr>
              <a:t>e godere di tutti i servizi già descritti.</a:t>
            </a:r>
          </a:p>
        </p:txBody>
      </p:sp>
      <p:sp>
        <p:nvSpPr>
          <p:cNvPr id="3" name="TextBox 2">
            <a:extLst>
              <a:ext uri="{FF2B5EF4-FFF2-40B4-BE49-F238E27FC236}">
                <a16:creationId xmlns:a16="http://schemas.microsoft.com/office/drawing/2014/main" id="{CDA73D5A-293D-7153-3356-A6E0BBD9D0E3}"/>
              </a:ext>
            </a:extLst>
          </p:cNvPr>
          <p:cNvSpPr txBox="1"/>
          <p:nvPr/>
        </p:nvSpPr>
        <p:spPr>
          <a:xfrm>
            <a:off x="444450" y="4083013"/>
            <a:ext cx="10260000" cy="2031325"/>
          </a:xfrm>
          <a:prstGeom prst="rect">
            <a:avLst/>
          </a:prstGeom>
          <a:noFill/>
        </p:spPr>
        <p:txBody>
          <a:bodyPr wrap="square">
            <a:spAutoFit/>
          </a:bodyPr>
          <a:lstStyle/>
          <a:p>
            <a:pPr marL="171450" indent="-171450" algn="l">
              <a:buFont typeface="Wingdings" panose="05000000000000000000" pitchFamily="2" charset="2"/>
              <a:buChar char="Ø"/>
            </a:pPr>
            <a:r>
              <a:rPr lang="it-IT" sz="1400" dirty="0">
                <a:solidFill>
                  <a:schemeClr val="accent5"/>
                </a:solidFill>
              </a:rPr>
              <a:t>Il canone ha il </a:t>
            </a:r>
            <a:r>
              <a:rPr lang="it-IT" sz="1400" b="1" u="sng" dirty="0">
                <a:solidFill>
                  <a:schemeClr val="accent5"/>
                </a:solidFill>
              </a:rPr>
              <a:t>prezzo speciale di 3,88€ al </a:t>
            </a:r>
            <a:r>
              <a:rPr lang="it-IT" sz="1400" dirty="0">
                <a:solidFill>
                  <a:schemeClr val="accent5"/>
                </a:solidFill>
              </a:rPr>
              <a:t>(IVA inclusa): quindi il secondo dispositivo costa solo 0,88€ mensili (IVA inclusa). </a:t>
            </a:r>
          </a:p>
          <a:p>
            <a:pPr marL="171450" indent="-171450" algn="l">
              <a:buFont typeface="Wingdings" panose="05000000000000000000" pitchFamily="2" charset="2"/>
              <a:buChar char="Ø"/>
            </a:pPr>
            <a:endParaRPr lang="it-IT" sz="1400" dirty="0">
              <a:solidFill>
                <a:schemeClr val="accent5"/>
              </a:solidFill>
            </a:endParaRPr>
          </a:p>
          <a:p>
            <a:pPr marL="171450" indent="-171450" algn="l">
              <a:buFont typeface="Wingdings" panose="05000000000000000000" pitchFamily="2" charset="2"/>
              <a:buChar char="Ø"/>
            </a:pPr>
            <a:r>
              <a:rPr lang="it-IT" sz="1400" dirty="0">
                <a:solidFill>
                  <a:schemeClr val="accent5"/>
                </a:solidFill>
              </a:rPr>
              <a:t>Il plafond di spesa rimane di 350,00€ (IVA inclusa) a trimestre e concorreranno al raggiungimento del tetto di spesa entrambi gli apparati Telepass. </a:t>
            </a:r>
          </a:p>
          <a:p>
            <a:pPr marL="171450" indent="-171450" algn="l">
              <a:buFont typeface="Wingdings" panose="05000000000000000000" pitchFamily="2" charset="2"/>
              <a:buChar char="Ø"/>
            </a:pPr>
            <a:endParaRPr lang="it-IT" sz="1400" dirty="0">
              <a:solidFill>
                <a:schemeClr val="accent5"/>
              </a:solidFill>
            </a:endParaRPr>
          </a:p>
          <a:p>
            <a:pPr marL="171450" indent="-171450" algn="l">
              <a:buFont typeface="Wingdings" panose="05000000000000000000" pitchFamily="2" charset="2"/>
              <a:buChar char="Ø"/>
            </a:pPr>
            <a:r>
              <a:rPr lang="it-IT" sz="1400" dirty="0">
                <a:solidFill>
                  <a:schemeClr val="accent5"/>
                </a:solidFill>
              </a:rPr>
              <a:t>In caso di rescissione dal servizio di Assistenza Stradale Italia successivamente all’adesione al Telepass Twin, il canone trimestrale applicato sarà quello normalmente previsto per il Telepass Base, senza l’applicazione del miglior prezzo praticato per l’adesione all’offerta Telepass Twin.</a:t>
            </a:r>
          </a:p>
        </p:txBody>
      </p:sp>
      <p:pic>
        <p:nvPicPr>
          <p:cNvPr id="5" name="Picture 4">
            <a:extLst>
              <a:ext uri="{FF2B5EF4-FFF2-40B4-BE49-F238E27FC236}">
                <a16:creationId xmlns:a16="http://schemas.microsoft.com/office/drawing/2014/main" id="{156B92D9-CAAA-3482-514E-94E36B28C76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14177" t="25777" r="13727" b="25717"/>
          <a:stretch/>
        </p:blipFill>
        <p:spPr>
          <a:xfrm>
            <a:off x="7025355" y="1763142"/>
            <a:ext cx="4583197" cy="1815882"/>
          </a:xfrm>
          <a:prstGeom prst="rect">
            <a:avLst/>
          </a:prstGeom>
        </p:spPr>
      </p:pic>
      <p:sp>
        <p:nvSpPr>
          <p:cNvPr id="4" name="Segnaposto numero diapositiva 3">
            <a:extLst>
              <a:ext uri="{FF2B5EF4-FFF2-40B4-BE49-F238E27FC236}">
                <a16:creationId xmlns:a16="http://schemas.microsoft.com/office/drawing/2014/main" id="{CE75830D-B5BB-41AF-BFB8-9FBE56E2064D}"/>
              </a:ext>
            </a:extLst>
          </p:cNvPr>
          <p:cNvSpPr>
            <a:spLocks noGrp="1"/>
          </p:cNvSpPr>
          <p:nvPr>
            <p:ph type="sldNum" sz="quarter" idx="2"/>
          </p:nvPr>
        </p:nvSpPr>
        <p:spPr/>
        <p:txBody>
          <a:bodyPr/>
          <a:lstStyle/>
          <a:p>
            <a:fld id="{86CB4B4D-7CA3-9044-876B-883B54F8677D}" type="slidenum">
              <a:rPr lang="it-IT" smtClean="0"/>
              <a:pPr/>
              <a:t>12</a:t>
            </a:fld>
            <a:endParaRPr lang="it-IT"/>
          </a:p>
        </p:txBody>
      </p:sp>
    </p:spTree>
    <p:extLst>
      <p:ext uri="{BB962C8B-B14F-4D97-AF65-F5344CB8AC3E}">
        <p14:creationId xmlns:p14="http://schemas.microsoft.com/office/powerpoint/2010/main" val="795510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6">
            <a:extLst>
              <a:ext uri="{FF2B5EF4-FFF2-40B4-BE49-F238E27FC236}">
                <a16:creationId xmlns:a16="http://schemas.microsoft.com/office/drawing/2014/main" id="{583C5BA4-93FC-4D3F-C594-1622AC83DFD9}"/>
              </a:ext>
            </a:extLst>
          </p:cNvPr>
          <p:cNvSpPr txBox="1">
            <a:spLocks/>
          </p:cNvSpPr>
          <p:nvPr/>
        </p:nvSpPr>
        <p:spPr>
          <a:xfrm>
            <a:off x="686902" y="158901"/>
            <a:ext cx="10260000" cy="782638"/>
          </a:xfrm>
          <a:prstGeom prst="rect">
            <a:avLst/>
          </a:prstGeom>
        </p:spPr>
        <p:txBody>
          <a:bodyPr anchor="ctr">
            <a:normAutofit/>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err="1">
                <a:latin typeface="Poppins" panose="00000500000000000000" pitchFamily="2" charset="0"/>
              </a:rPr>
              <a:t>Recap</a:t>
            </a:r>
            <a:r>
              <a:rPr lang="it-IT" b="1">
                <a:latin typeface="Poppins" panose="00000500000000000000" pitchFamily="2" charset="0"/>
              </a:rPr>
              <a:t> sui Prodotti (1/3)</a:t>
            </a:r>
          </a:p>
          <a:p>
            <a:r>
              <a:rPr lang="it-IT" sz="1600" b="1">
                <a:solidFill>
                  <a:schemeClr val="bg1">
                    <a:lumMod val="65000"/>
                  </a:schemeClr>
                </a:solidFill>
                <a:latin typeface="Poppins" panose="00000500000000000000" pitchFamily="2" charset="0"/>
              </a:rPr>
              <a:t>SCHEDA PRODOTTO</a:t>
            </a:r>
          </a:p>
        </p:txBody>
      </p:sp>
      <p:sp>
        <p:nvSpPr>
          <p:cNvPr id="1034" name="Slide Number Placeholder 6">
            <a:extLst>
              <a:ext uri="{FF2B5EF4-FFF2-40B4-BE49-F238E27FC236}">
                <a16:creationId xmlns:a16="http://schemas.microsoft.com/office/drawing/2014/main" id="{55FD79C6-E450-0DD0-F6AB-33B24841F948}"/>
              </a:ext>
            </a:extLst>
          </p:cNvPr>
          <p:cNvSpPr>
            <a:spLocks noGrp="1"/>
          </p:cNvSpPr>
          <p:nvPr>
            <p:ph type="sldNum" sz="quarter" idx="2"/>
          </p:nvPr>
        </p:nvSpPr>
        <p:spPr>
          <a:xfrm>
            <a:off x="11614996" y="6443521"/>
            <a:ext cx="409933" cy="272589"/>
          </a:xfrm>
        </p:spPr>
        <p:txBody>
          <a:bodyPr/>
          <a:lstStyle/>
          <a:p>
            <a:fld id="{86CB4B4D-7CA3-9044-876B-883B54F8677D}" type="slidenum">
              <a:rPr lang="it-IT" smtClean="0"/>
              <a:pPr/>
              <a:t>13</a:t>
            </a:fld>
            <a:endParaRPr lang="it-IT"/>
          </a:p>
        </p:txBody>
      </p:sp>
      <p:sp>
        <p:nvSpPr>
          <p:cNvPr id="6" name="TextBox 5">
            <a:extLst>
              <a:ext uri="{FF2B5EF4-FFF2-40B4-BE49-F238E27FC236}">
                <a16:creationId xmlns:a16="http://schemas.microsoft.com/office/drawing/2014/main" id="{4AD23886-BE4E-DF8C-C20C-597A30FC3AE3}"/>
              </a:ext>
            </a:extLst>
          </p:cNvPr>
          <p:cNvSpPr txBox="1"/>
          <p:nvPr/>
        </p:nvSpPr>
        <p:spPr>
          <a:xfrm>
            <a:off x="292046" y="2097866"/>
            <a:ext cx="11732883" cy="2739211"/>
          </a:xfrm>
          <a:prstGeom prst="rect">
            <a:avLst/>
          </a:prstGeom>
          <a:noFill/>
        </p:spPr>
        <p:txBody>
          <a:bodyPr wrap="square">
            <a:spAutoFit/>
          </a:bodyPr>
          <a:lstStyle/>
          <a:p>
            <a:pPr>
              <a:spcAft>
                <a:spcPts val="600"/>
              </a:spcAft>
            </a:pPr>
            <a:r>
              <a:rPr lang="it-IT" sz="1200">
                <a:solidFill>
                  <a:schemeClr val="accent5"/>
                </a:solidFill>
              </a:rPr>
              <a:t>Telepass Base consente di pagare, senza alcun costo aggiuntivo</a:t>
            </a:r>
          </a:p>
          <a:p>
            <a:pPr marL="285750" indent="-285750">
              <a:spcAft>
                <a:spcPts val="600"/>
              </a:spcAft>
              <a:buFont typeface="Arial" panose="020B0604020202020204" pitchFamily="34" charset="0"/>
              <a:buChar char="•"/>
            </a:pPr>
            <a:r>
              <a:rPr lang="it-IT" sz="1200">
                <a:solidFill>
                  <a:schemeClr val="accent5"/>
                </a:solidFill>
              </a:rPr>
              <a:t>il </a:t>
            </a:r>
            <a:r>
              <a:rPr lang="it-IT" sz="1200" b="1">
                <a:solidFill>
                  <a:schemeClr val="accent5"/>
                </a:solidFill>
              </a:rPr>
              <a:t>pedaggio</a:t>
            </a:r>
            <a:r>
              <a:rPr lang="it-IT" sz="1200">
                <a:solidFill>
                  <a:schemeClr val="accent5"/>
                </a:solidFill>
              </a:rPr>
              <a:t> in autostrada senza fermarsi al casello;</a:t>
            </a:r>
          </a:p>
          <a:p>
            <a:pPr marL="285750" indent="-285750">
              <a:spcAft>
                <a:spcPts val="600"/>
              </a:spcAft>
              <a:buFont typeface="Arial" panose="020B0604020202020204" pitchFamily="34" charset="0"/>
              <a:buChar char="•"/>
            </a:pPr>
            <a:r>
              <a:rPr lang="it-IT" sz="1200">
                <a:solidFill>
                  <a:schemeClr val="accent5"/>
                </a:solidFill>
              </a:rPr>
              <a:t>la sosta nei principali </a:t>
            </a:r>
            <a:r>
              <a:rPr lang="it-IT" sz="1200" b="1">
                <a:solidFill>
                  <a:schemeClr val="accent5"/>
                </a:solidFill>
              </a:rPr>
              <a:t>parcheggi</a:t>
            </a:r>
            <a:r>
              <a:rPr lang="it-IT" sz="1200">
                <a:solidFill>
                  <a:schemeClr val="accent5"/>
                </a:solidFill>
              </a:rPr>
              <a:t> </a:t>
            </a:r>
            <a:r>
              <a:rPr lang="it-IT" sz="1200" b="1">
                <a:solidFill>
                  <a:schemeClr val="accent5"/>
                </a:solidFill>
              </a:rPr>
              <a:t>convenzionati</a:t>
            </a:r>
            <a:r>
              <a:rPr lang="it-IT" sz="1200">
                <a:solidFill>
                  <a:schemeClr val="accent5"/>
                </a:solidFill>
              </a:rPr>
              <a:t> di aeroporti, stazioni, fiere e città;</a:t>
            </a:r>
          </a:p>
          <a:p>
            <a:pPr marL="285750" indent="-285750">
              <a:spcAft>
                <a:spcPts val="600"/>
              </a:spcAft>
              <a:buFont typeface="Arial" panose="020B0604020202020204" pitchFamily="34" charset="0"/>
              <a:buChar char="•"/>
            </a:pPr>
            <a:r>
              <a:rPr lang="it-IT" sz="1200">
                <a:solidFill>
                  <a:schemeClr val="accent5"/>
                </a:solidFill>
              </a:rPr>
              <a:t>l’accesso </a:t>
            </a:r>
            <a:r>
              <a:rPr lang="it-IT" sz="1200" b="1">
                <a:solidFill>
                  <a:schemeClr val="accent5"/>
                </a:solidFill>
              </a:rPr>
              <a:t>all’Area C </a:t>
            </a:r>
            <a:r>
              <a:rPr lang="it-IT" sz="1200">
                <a:solidFill>
                  <a:schemeClr val="accent5"/>
                </a:solidFill>
              </a:rPr>
              <a:t>di Milano, anche senza il dispositivo a bordo;</a:t>
            </a:r>
          </a:p>
          <a:p>
            <a:pPr marL="285750" indent="-285750">
              <a:spcAft>
                <a:spcPts val="600"/>
              </a:spcAft>
              <a:buFont typeface="Arial" panose="020B0604020202020204" pitchFamily="34" charset="0"/>
              <a:buChar char="•"/>
            </a:pPr>
            <a:r>
              <a:rPr lang="it-IT" sz="1200">
                <a:solidFill>
                  <a:schemeClr val="accent5"/>
                </a:solidFill>
              </a:rPr>
              <a:t>il biglietto per il </a:t>
            </a:r>
            <a:r>
              <a:rPr lang="it-IT" sz="1200" b="1">
                <a:solidFill>
                  <a:schemeClr val="accent5"/>
                </a:solidFill>
              </a:rPr>
              <a:t>traghetto</a:t>
            </a:r>
            <a:r>
              <a:rPr lang="it-IT" sz="1200">
                <a:solidFill>
                  <a:schemeClr val="accent5"/>
                </a:solidFill>
              </a:rPr>
              <a:t> sullo stretto di Messina senza scendere dall’auto;</a:t>
            </a:r>
          </a:p>
          <a:p>
            <a:pPr marL="285750" indent="-285750">
              <a:spcAft>
                <a:spcPts val="600"/>
              </a:spcAft>
              <a:buFont typeface="Arial" panose="020B0604020202020204" pitchFamily="34" charset="0"/>
              <a:buChar char="•"/>
            </a:pPr>
            <a:r>
              <a:rPr lang="it-IT" sz="1200">
                <a:solidFill>
                  <a:schemeClr val="accent5"/>
                </a:solidFill>
              </a:rPr>
              <a:t>le </a:t>
            </a:r>
            <a:r>
              <a:rPr lang="it-IT" sz="1200" b="1">
                <a:solidFill>
                  <a:schemeClr val="accent5"/>
                </a:solidFill>
              </a:rPr>
              <a:t>assicurazioni</a:t>
            </a:r>
            <a:r>
              <a:rPr lang="it-IT" sz="1200">
                <a:solidFill>
                  <a:schemeClr val="accent5"/>
                </a:solidFill>
              </a:rPr>
              <a:t> per l’auto e la persona, offerte dai partner Telepass.</a:t>
            </a:r>
          </a:p>
          <a:p>
            <a:pPr marL="285750" indent="-285750">
              <a:spcAft>
                <a:spcPts val="600"/>
              </a:spcAft>
              <a:buFont typeface="Arial" panose="020B0604020202020204" pitchFamily="34" charset="0"/>
              <a:buChar char="•"/>
            </a:pPr>
            <a:r>
              <a:rPr lang="it-IT" sz="1200">
                <a:solidFill>
                  <a:schemeClr val="accent5"/>
                </a:solidFill>
              </a:rPr>
              <a:t>le </a:t>
            </a:r>
            <a:r>
              <a:rPr lang="it-IT" sz="1200" b="1">
                <a:solidFill>
                  <a:schemeClr val="accent5"/>
                </a:solidFill>
              </a:rPr>
              <a:t>vignette elettroniche</a:t>
            </a:r>
            <a:r>
              <a:rPr lang="it-IT" sz="1200">
                <a:solidFill>
                  <a:schemeClr val="accent5"/>
                </a:solidFill>
              </a:rPr>
              <a:t>: la versione digitale del bollino o del contrassegno</a:t>
            </a:r>
          </a:p>
          <a:p>
            <a:pPr marL="285750" indent="-285750">
              <a:spcAft>
                <a:spcPts val="600"/>
              </a:spcAft>
              <a:buFont typeface="Arial" panose="020B0604020202020204" pitchFamily="34" charset="0"/>
              <a:buChar char="•"/>
            </a:pPr>
            <a:r>
              <a:rPr lang="it-IT" sz="1200">
                <a:solidFill>
                  <a:schemeClr val="accent5"/>
                </a:solidFill>
              </a:rPr>
              <a:t>autostradale che ti fa viaggiare in </a:t>
            </a:r>
            <a:r>
              <a:rPr lang="it-IT" sz="1200" b="1">
                <a:solidFill>
                  <a:schemeClr val="accent5"/>
                </a:solidFill>
              </a:rPr>
              <a:t>Svizzera, Austria, Slovenia e Repubblica Ceca</a:t>
            </a:r>
          </a:p>
          <a:p>
            <a:endParaRPr lang="it-IT" sz="1200">
              <a:solidFill>
                <a:schemeClr val="accent5"/>
              </a:solidFill>
            </a:endParaRPr>
          </a:p>
          <a:p>
            <a:r>
              <a:rPr lang="it-IT" sz="1200">
                <a:solidFill>
                  <a:schemeClr val="accent5"/>
                </a:solidFill>
              </a:rPr>
              <a:t>Il dispositivo può essere utilizzato su </a:t>
            </a:r>
            <a:r>
              <a:rPr lang="it-IT" sz="1200" b="1">
                <a:solidFill>
                  <a:schemeClr val="accent5"/>
                </a:solidFill>
              </a:rPr>
              <a:t>autovetture, moto e camper </a:t>
            </a:r>
            <a:r>
              <a:rPr lang="it-IT" sz="1200">
                <a:solidFill>
                  <a:schemeClr val="accent5"/>
                </a:solidFill>
              </a:rPr>
              <a:t>(2 assi, di peso inferiore a 3,5t e altezza inferiore a 3m) e può essere associato a </a:t>
            </a:r>
            <a:r>
              <a:rPr lang="it-IT" sz="1200" b="1">
                <a:solidFill>
                  <a:schemeClr val="accent5"/>
                </a:solidFill>
              </a:rPr>
              <a:t>due targhe alla volta</a:t>
            </a:r>
            <a:r>
              <a:rPr lang="it-IT" sz="1200">
                <a:solidFill>
                  <a:schemeClr val="accent5"/>
                </a:solidFill>
              </a:rPr>
              <a:t> che possono essere aggiornate in ogni momento nell’area riservata sul sito telepass.com o sull’App Telepass.</a:t>
            </a:r>
          </a:p>
        </p:txBody>
      </p:sp>
      <p:sp>
        <p:nvSpPr>
          <p:cNvPr id="9" name="TextBox 8">
            <a:extLst>
              <a:ext uri="{FF2B5EF4-FFF2-40B4-BE49-F238E27FC236}">
                <a16:creationId xmlns:a16="http://schemas.microsoft.com/office/drawing/2014/main" id="{63AF95A3-6C73-F57A-E5DC-CAB29604AD1B}"/>
              </a:ext>
            </a:extLst>
          </p:cNvPr>
          <p:cNvSpPr txBox="1"/>
          <p:nvPr/>
        </p:nvSpPr>
        <p:spPr>
          <a:xfrm>
            <a:off x="292046" y="5017175"/>
            <a:ext cx="10439754" cy="1338828"/>
          </a:xfrm>
          <a:prstGeom prst="rect">
            <a:avLst/>
          </a:prstGeom>
          <a:noFill/>
        </p:spPr>
        <p:txBody>
          <a:bodyPr wrap="square">
            <a:spAutoFit/>
          </a:bodyPr>
          <a:lstStyle/>
          <a:p>
            <a:pPr algn="l">
              <a:spcAft>
                <a:spcPts val="600"/>
              </a:spcAft>
            </a:pPr>
            <a:r>
              <a:rPr lang="it-IT" sz="1600" b="1"/>
              <a:t>QUANTO COSTA</a:t>
            </a:r>
          </a:p>
          <a:p>
            <a:pPr algn="l"/>
            <a:r>
              <a:rPr lang="it-IT" sz="1200">
                <a:solidFill>
                  <a:schemeClr val="accent5"/>
                </a:solidFill>
              </a:rPr>
              <a:t>Il canone è di 3,90€ al mese (IVA inclusa) e viene addebitato in via posticipata ogni 3 mesi direttamente sul conto.</a:t>
            </a:r>
          </a:p>
          <a:p>
            <a:pPr algn="l"/>
            <a:r>
              <a:rPr lang="it-IT" sz="1200">
                <a:solidFill>
                  <a:schemeClr val="accent5"/>
                </a:solidFill>
              </a:rPr>
              <a:t>È previsto un plafond di spesa di 350,00€ (IVA inclusa) su base trimestrale, al superamento del plafond la quota</a:t>
            </a:r>
          </a:p>
          <a:p>
            <a:pPr algn="l"/>
            <a:r>
              <a:rPr lang="it-IT" sz="1200">
                <a:solidFill>
                  <a:schemeClr val="accent5"/>
                </a:solidFill>
              </a:rPr>
              <a:t>associativa mensile è pari a 3,72€ (IVA inclusa).</a:t>
            </a:r>
          </a:p>
          <a:p>
            <a:pPr algn="l"/>
            <a:r>
              <a:rPr lang="it-IT" sz="1200">
                <a:solidFill>
                  <a:schemeClr val="accent5"/>
                </a:solidFill>
              </a:rPr>
              <a:t>Il cliente può consultare la fattura </a:t>
            </a:r>
            <a:r>
              <a:rPr lang="it-IT" sz="1200" err="1">
                <a:solidFill>
                  <a:schemeClr val="accent5"/>
                </a:solidFill>
              </a:rPr>
              <a:t>n¬ell’area</a:t>
            </a:r>
            <a:r>
              <a:rPr lang="it-IT" sz="1200">
                <a:solidFill>
                  <a:schemeClr val="accent5"/>
                </a:solidFill>
              </a:rPr>
              <a:t> riservata su telepass.com o sull’App Telepass, oppure può richiedere</a:t>
            </a:r>
          </a:p>
          <a:p>
            <a:pPr algn="l"/>
            <a:r>
              <a:rPr lang="it-IT" sz="1200">
                <a:solidFill>
                  <a:schemeClr val="accent5"/>
                </a:solidFill>
              </a:rPr>
              <a:t>l’invio di una copia cartacea, con il relativo elenco viaggi, al costo di 0,56€ per ciascuna fattura emessa.</a:t>
            </a:r>
          </a:p>
        </p:txBody>
      </p:sp>
      <p:pic>
        <p:nvPicPr>
          <p:cNvPr id="10" name="Picture 9">
            <a:extLst>
              <a:ext uri="{FF2B5EF4-FFF2-40B4-BE49-F238E27FC236}">
                <a16:creationId xmlns:a16="http://schemas.microsoft.com/office/drawing/2014/main" id="{80DF7A9C-15FC-246A-04AE-9253247644D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69772" t="10659" b="47635"/>
          <a:stretch/>
        </p:blipFill>
        <p:spPr>
          <a:xfrm>
            <a:off x="8194964" y="1787238"/>
            <a:ext cx="1860702" cy="1413164"/>
          </a:xfrm>
          <a:prstGeom prst="rect">
            <a:avLst/>
          </a:prstGeom>
          <a:ln>
            <a:noFill/>
          </a:ln>
        </p:spPr>
      </p:pic>
      <p:sp>
        <p:nvSpPr>
          <p:cNvPr id="12" name="TextBox 11">
            <a:extLst>
              <a:ext uri="{FF2B5EF4-FFF2-40B4-BE49-F238E27FC236}">
                <a16:creationId xmlns:a16="http://schemas.microsoft.com/office/drawing/2014/main" id="{EF104DCD-8172-B093-982C-3A759B45DB37}"/>
              </a:ext>
            </a:extLst>
          </p:cNvPr>
          <p:cNvSpPr txBox="1"/>
          <p:nvPr/>
        </p:nvSpPr>
        <p:spPr>
          <a:xfrm>
            <a:off x="292046" y="1360440"/>
            <a:ext cx="6106390" cy="707886"/>
          </a:xfrm>
          <a:prstGeom prst="rect">
            <a:avLst/>
          </a:prstGeom>
          <a:noFill/>
        </p:spPr>
        <p:txBody>
          <a:bodyPr wrap="square">
            <a:spAutoFit/>
          </a:bodyPr>
          <a:lstStyle/>
          <a:p>
            <a:pPr algn="l"/>
            <a:r>
              <a:rPr lang="it-IT" sz="2400" b="1"/>
              <a:t>TELEPASS BASE</a:t>
            </a:r>
          </a:p>
          <a:p>
            <a:pPr algn="l">
              <a:spcAft>
                <a:spcPts val="600"/>
              </a:spcAft>
            </a:pPr>
            <a:r>
              <a:rPr lang="it-IT" sz="1600"/>
              <a:t>SERVIZI INCLUSI</a:t>
            </a:r>
            <a:endParaRPr lang="it-IT" sz="1800"/>
          </a:p>
        </p:txBody>
      </p:sp>
    </p:spTree>
    <p:extLst>
      <p:ext uri="{BB962C8B-B14F-4D97-AF65-F5344CB8AC3E}">
        <p14:creationId xmlns:p14="http://schemas.microsoft.com/office/powerpoint/2010/main" val="165544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6">
            <a:extLst>
              <a:ext uri="{FF2B5EF4-FFF2-40B4-BE49-F238E27FC236}">
                <a16:creationId xmlns:a16="http://schemas.microsoft.com/office/drawing/2014/main" id="{583C5BA4-93FC-4D3F-C594-1622AC83DFD9}"/>
              </a:ext>
            </a:extLst>
          </p:cNvPr>
          <p:cNvSpPr txBox="1">
            <a:spLocks/>
          </p:cNvSpPr>
          <p:nvPr/>
        </p:nvSpPr>
        <p:spPr>
          <a:xfrm>
            <a:off x="686902" y="158901"/>
            <a:ext cx="10260000" cy="782638"/>
          </a:xfrm>
          <a:prstGeom prst="rect">
            <a:avLst/>
          </a:prstGeom>
        </p:spPr>
        <p:txBody>
          <a:bodyPr anchor="ctr">
            <a:normAutofit/>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err="1">
                <a:latin typeface="Poppins" panose="00000500000000000000" pitchFamily="2" charset="0"/>
              </a:rPr>
              <a:t>Recap</a:t>
            </a:r>
            <a:r>
              <a:rPr lang="it-IT" b="1">
                <a:latin typeface="Poppins" panose="00000500000000000000" pitchFamily="2" charset="0"/>
              </a:rPr>
              <a:t> sui Prodotti (2/3)</a:t>
            </a:r>
          </a:p>
          <a:p>
            <a:r>
              <a:rPr lang="it-IT" sz="1600" b="1">
                <a:solidFill>
                  <a:schemeClr val="bg1">
                    <a:lumMod val="65000"/>
                  </a:schemeClr>
                </a:solidFill>
                <a:latin typeface="Poppins" panose="00000500000000000000" pitchFamily="2" charset="0"/>
              </a:rPr>
              <a:t>SCHEDA PRODOTTO</a:t>
            </a:r>
          </a:p>
        </p:txBody>
      </p:sp>
      <p:sp>
        <p:nvSpPr>
          <p:cNvPr id="1034" name="Slide Number Placeholder 6">
            <a:extLst>
              <a:ext uri="{FF2B5EF4-FFF2-40B4-BE49-F238E27FC236}">
                <a16:creationId xmlns:a16="http://schemas.microsoft.com/office/drawing/2014/main" id="{55FD79C6-E450-0DD0-F6AB-33B24841F948}"/>
              </a:ext>
            </a:extLst>
          </p:cNvPr>
          <p:cNvSpPr>
            <a:spLocks noGrp="1"/>
          </p:cNvSpPr>
          <p:nvPr>
            <p:ph type="sldNum" sz="quarter" idx="2"/>
          </p:nvPr>
        </p:nvSpPr>
        <p:spPr>
          <a:xfrm>
            <a:off x="11614996" y="6443521"/>
            <a:ext cx="409933" cy="272589"/>
          </a:xfrm>
        </p:spPr>
        <p:txBody>
          <a:bodyPr/>
          <a:lstStyle/>
          <a:p>
            <a:fld id="{86CB4B4D-7CA3-9044-876B-883B54F8677D}" type="slidenum">
              <a:rPr lang="it-IT" smtClean="0"/>
              <a:pPr/>
              <a:t>14</a:t>
            </a:fld>
            <a:endParaRPr lang="it-IT"/>
          </a:p>
        </p:txBody>
      </p:sp>
      <p:sp>
        <p:nvSpPr>
          <p:cNvPr id="6" name="TextBox 5">
            <a:extLst>
              <a:ext uri="{FF2B5EF4-FFF2-40B4-BE49-F238E27FC236}">
                <a16:creationId xmlns:a16="http://schemas.microsoft.com/office/drawing/2014/main" id="{4AD23886-BE4E-DF8C-C20C-597A30FC3AE3}"/>
              </a:ext>
            </a:extLst>
          </p:cNvPr>
          <p:cNvSpPr txBox="1"/>
          <p:nvPr/>
        </p:nvSpPr>
        <p:spPr>
          <a:xfrm>
            <a:off x="292046" y="2097866"/>
            <a:ext cx="11732883" cy="2308324"/>
          </a:xfrm>
          <a:prstGeom prst="rect">
            <a:avLst/>
          </a:prstGeom>
          <a:noFill/>
        </p:spPr>
        <p:txBody>
          <a:bodyPr wrap="square">
            <a:spAutoFit/>
          </a:bodyPr>
          <a:lstStyle/>
          <a:p>
            <a:r>
              <a:rPr lang="it-IT" sz="1200">
                <a:solidFill>
                  <a:schemeClr val="accent5"/>
                </a:solidFill>
              </a:rPr>
              <a:t>Con il Telepass Europeo puoi usufruire di tutti i servizi inclusi nel pacchetto</a:t>
            </a:r>
          </a:p>
          <a:p>
            <a:r>
              <a:rPr lang="it-IT" sz="1200">
                <a:solidFill>
                  <a:schemeClr val="accent5"/>
                </a:solidFill>
              </a:rPr>
              <a:t>Telepass Base e in più viaggi senza confini in Italia e in Europa.</a:t>
            </a:r>
          </a:p>
          <a:p>
            <a:endParaRPr lang="it-IT" sz="1200">
              <a:solidFill>
                <a:schemeClr val="accent5"/>
              </a:solidFill>
            </a:endParaRPr>
          </a:p>
          <a:p>
            <a:r>
              <a:rPr lang="it-IT" sz="1200">
                <a:solidFill>
                  <a:schemeClr val="accent5"/>
                </a:solidFill>
              </a:rPr>
              <a:t>Infatti, con un unico dispositivo puoi pagare i </a:t>
            </a:r>
            <a:r>
              <a:rPr lang="it-IT" sz="1200" b="1">
                <a:solidFill>
                  <a:schemeClr val="accent5"/>
                </a:solidFill>
              </a:rPr>
              <a:t>pedaggi e i parcheggi in struttura</a:t>
            </a:r>
          </a:p>
          <a:p>
            <a:r>
              <a:rPr lang="it-IT" sz="1200">
                <a:solidFill>
                  <a:schemeClr val="accent5"/>
                </a:solidFill>
              </a:rPr>
              <a:t>anche in </a:t>
            </a:r>
            <a:r>
              <a:rPr lang="it-IT" sz="1200" b="1">
                <a:solidFill>
                  <a:schemeClr val="accent5"/>
                </a:solidFill>
              </a:rPr>
              <a:t>Francia</a:t>
            </a:r>
            <a:r>
              <a:rPr lang="it-IT" sz="1200">
                <a:solidFill>
                  <a:schemeClr val="accent5"/>
                </a:solidFill>
              </a:rPr>
              <a:t>, </a:t>
            </a:r>
            <a:r>
              <a:rPr lang="it-IT" sz="1200" b="1">
                <a:solidFill>
                  <a:schemeClr val="accent5"/>
                </a:solidFill>
              </a:rPr>
              <a:t>Spagna</a:t>
            </a:r>
            <a:r>
              <a:rPr lang="it-IT" sz="1200">
                <a:solidFill>
                  <a:schemeClr val="accent5"/>
                </a:solidFill>
              </a:rPr>
              <a:t>, </a:t>
            </a:r>
            <a:r>
              <a:rPr lang="it-IT" sz="1200" b="1">
                <a:solidFill>
                  <a:schemeClr val="accent5"/>
                </a:solidFill>
              </a:rPr>
              <a:t>Portogallo</a:t>
            </a:r>
            <a:r>
              <a:rPr lang="it-IT" sz="1200">
                <a:solidFill>
                  <a:schemeClr val="accent5"/>
                </a:solidFill>
              </a:rPr>
              <a:t> e </a:t>
            </a:r>
            <a:r>
              <a:rPr lang="it-IT" sz="1200" b="1">
                <a:solidFill>
                  <a:schemeClr val="accent5"/>
                </a:solidFill>
              </a:rPr>
              <a:t>Croazia</a:t>
            </a:r>
            <a:r>
              <a:rPr lang="it-IT" sz="1200">
                <a:solidFill>
                  <a:schemeClr val="accent5"/>
                </a:solidFill>
              </a:rPr>
              <a:t> senza alcun costo aggiuntivo.</a:t>
            </a:r>
          </a:p>
          <a:p>
            <a:r>
              <a:rPr lang="it-IT" sz="1200">
                <a:solidFill>
                  <a:schemeClr val="accent5"/>
                </a:solidFill>
              </a:rPr>
              <a:t>Se sei già cliente Telepass, basta sostituire il tuo dispositivo con un Telepass Europeo.</a:t>
            </a:r>
          </a:p>
          <a:p>
            <a:r>
              <a:rPr lang="it-IT" sz="1200">
                <a:solidFill>
                  <a:schemeClr val="accent5"/>
                </a:solidFill>
              </a:rPr>
              <a:t>Se invece non sei ancora cliente puoi richiedere il servizio direttamente al momento</a:t>
            </a:r>
          </a:p>
          <a:p>
            <a:r>
              <a:rPr lang="it-IT" sz="1200">
                <a:solidFill>
                  <a:schemeClr val="accent5"/>
                </a:solidFill>
              </a:rPr>
              <a:t>della sottoscrizione.</a:t>
            </a:r>
          </a:p>
          <a:p>
            <a:endParaRPr lang="it-IT" sz="1200">
              <a:solidFill>
                <a:schemeClr val="accent5"/>
              </a:solidFill>
            </a:endParaRPr>
          </a:p>
          <a:p>
            <a:r>
              <a:rPr lang="it-IT" sz="1200">
                <a:solidFill>
                  <a:schemeClr val="accent5"/>
                </a:solidFill>
              </a:rPr>
              <a:t>Il dispositivo può essere utilizzato su autovetture, moto e camper (2 assi, di peso inferiore a 3,5t e altezza inferiore a 3m)</a:t>
            </a:r>
          </a:p>
          <a:p>
            <a:r>
              <a:rPr lang="it-IT" sz="1200">
                <a:solidFill>
                  <a:schemeClr val="accent5"/>
                </a:solidFill>
              </a:rPr>
              <a:t>e può essere associato a </a:t>
            </a:r>
            <a:r>
              <a:rPr lang="it-IT" sz="1200" b="1">
                <a:solidFill>
                  <a:schemeClr val="accent5"/>
                </a:solidFill>
              </a:rPr>
              <a:t>due targhe alla volta </a:t>
            </a:r>
            <a:r>
              <a:rPr lang="it-IT" sz="1200">
                <a:solidFill>
                  <a:schemeClr val="accent5"/>
                </a:solidFill>
              </a:rPr>
              <a:t>che possono essere aggiornate in ogni momento nell’area riservata</a:t>
            </a:r>
          </a:p>
          <a:p>
            <a:r>
              <a:rPr lang="it-IT" sz="1200">
                <a:solidFill>
                  <a:schemeClr val="accent5"/>
                </a:solidFill>
              </a:rPr>
              <a:t>sul sito telepass.com o sull’App Telepass.</a:t>
            </a:r>
          </a:p>
        </p:txBody>
      </p:sp>
      <p:sp>
        <p:nvSpPr>
          <p:cNvPr id="9" name="TextBox 8">
            <a:extLst>
              <a:ext uri="{FF2B5EF4-FFF2-40B4-BE49-F238E27FC236}">
                <a16:creationId xmlns:a16="http://schemas.microsoft.com/office/drawing/2014/main" id="{63AF95A3-6C73-F57A-E5DC-CAB29604AD1B}"/>
              </a:ext>
            </a:extLst>
          </p:cNvPr>
          <p:cNvSpPr txBox="1"/>
          <p:nvPr/>
        </p:nvSpPr>
        <p:spPr>
          <a:xfrm>
            <a:off x="292047" y="5017175"/>
            <a:ext cx="10439754" cy="1154162"/>
          </a:xfrm>
          <a:prstGeom prst="rect">
            <a:avLst/>
          </a:prstGeom>
          <a:noFill/>
        </p:spPr>
        <p:txBody>
          <a:bodyPr wrap="square">
            <a:spAutoFit/>
          </a:bodyPr>
          <a:lstStyle/>
          <a:p>
            <a:pPr algn="l">
              <a:spcAft>
                <a:spcPts val="600"/>
              </a:spcAft>
            </a:pPr>
            <a:r>
              <a:rPr lang="it-IT" sz="1600" b="1"/>
              <a:t>QUANTO COSTA</a:t>
            </a:r>
          </a:p>
          <a:p>
            <a:pPr algn="l"/>
            <a:r>
              <a:rPr lang="it-IT" sz="1200" err="1">
                <a:solidFill>
                  <a:schemeClr val="accent5"/>
                </a:solidFill>
              </a:rPr>
              <a:t>ll</a:t>
            </a:r>
            <a:r>
              <a:rPr lang="it-IT" sz="1200">
                <a:solidFill>
                  <a:schemeClr val="accent5"/>
                </a:solidFill>
              </a:rPr>
              <a:t> servizio ha un costo di attivazione di 10€ (IVA inclusa) una tantum. Il canone mensile del Telepass è di 3,90€ (IVA inclusa),</a:t>
            </a:r>
          </a:p>
          <a:p>
            <a:pPr algn="l"/>
            <a:r>
              <a:rPr lang="it-IT" sz="1200">
                <a:solidFill>
                  <a:schemeClr val="accent5"/>
                </a:solidFill>
              </a:rPr>
              <a:t>in più se viaggi in Francia, Croazia o nella penisola Iberica (Spagna e Portogallo) ha un costo di 2,40€ (IVA inclusa) al mese</a:t>
            </a:r>
          </a:p>
          <a:p>
            <a:pPr algn="l"/>
            <a:r>
              <a:rPr lang="it-IT" sz="1200">
                <a:solidFill>
                  <a:schemeClr val="accent5"/>
                </a:solidFill>
              </a:rPr>
              <a:t>per nazione, per ogni mese di effettivo utilizzo. L’importo del pedaggio sarà fatturato e addebitato sul proprio conto</a:t>
            </a:r>
          </a:p>
          <a:p>
            <a:pPr algn="l"/>
            <a:r>
              <a:rPr lang="it-IT" sz="1200">
                <a:solidFill>
                  <a:schemeClr val="accent5"/>
                </a:solidFill>
              </a:rPr>
              <a:t>corrente con le stesse modalità del pedaggio in Italia.</a:t>
            </a:r>
          </a:p>
        </p:txBody>
      </p:sp>
      <p:sp>
        <p:nvSpPr>
          <p:cNvPr id="12" name="TextBox 11">
            <a:extLst>
              <a:ext uri="{FF2B5EF4-FFF2-40B4-BE49-F238E27FC236}">
                <a16:creationId xmlns:a16="http://schemas.microsoft.com/office/drawing/2014/main" id="{EF104DCD-8172-B093-982C-3A759B45DB37}"/>
              </a:ext>
            </a:extLst>
          </p:cNvPr>
          <p:cNvSpPr txBox="1"/>
          <p:nvPr/>
        </p:nvSpPr>
        <p:spPr>
          <a:xfrm>
            <a:off x="292046" y="1360440"/>
            <a:ext cx="6106390" cy="707886"/>
          </a:xfrm>
          <a:prstGeom prst="rect">
            <a:avLst/>
          </a:prstGeom>
          <a:noFill/>
        </p:spPr>
        <p:txBody>
          <a:bodyPr wrap="square">
            <a:spAutoFit/>
          </a:bodyPr>
          <a:lstStyle/>
          <a:p>
            <a:pPr algn="l"/>
            <a:r>
              <a:rPr lang="it-IT" sz="2400" b="1"/>
              <a:t>TELEPASS EUROPEO</a:t>
            </a:r>
          </a:p>
          <a:p>
            <a:pPr algn="l">
              <a:spcAft>
                <a:spcPts val="600"/>
              </a:spcAft>
            </a:pPr>
            <a:r>
              <a:rPr lang="it-IT" sz="1600"/>
              <a:t>SERVIZI INCLUSI</a:t>
            </a:r>
            <a:endParaRPr lang="it-IT" sz="1800"/>
          </a:p>
        </p:txBody>
      </p:sp>
      <p:pic>
        <p:nvPicPr>
          <p:cNvPr id="13" name="Picture 12">
            <a:extLst>
              <a:ext uri="{FF2B5EF4-FFF2-40B4-BE49-F238E27FC236}">
                <a16:creationId xmlns:a16="http://schemas.microsoft.com/office/drawing/2014/main" id="{FB75264C-9901-02D1-0512-05916CA6C1C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8567" t="4498" b="46028"/>
          <a:stretch/>
        </p:blipFill>
        <p:spPr>
          <a:xfrm>
            <a:off x="8208819" y="1714383"/>
            <a:ext cx="1990223" cy="1676400"/>
          </a:xfrm>
          <a:prstGeom prst="rect">
            <a:avLst/>
          </a:prstGeom>
          <a:ln>
            <a:noFill/>
          </a:ln>
        </p:spPr>
      </p:pic>
    </p:spTree>
    <p:extLst>
      <p:ext uri="{BB962C8B-B14F-4D97-AF65-F5344CB8AC3E}">
        <p14:creationId xmlns:p14="http://schemas.microsoft.com/office/powerpoint/2010/main" val="4159951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6">
            <a:extLst>
              <a:ext uri="{FF2B5EF4-FFF2-40B4-BE49-F238E27FC236}">
                <a16:creationId xmlns:a16="http://schemas.microsoft.com/office/drawing/2014/main" id="{583C5BA4-93FC-4D3F-C594-1622AC83DFD9}"/>
              </a:ext>
            </a:extLst>
          </p:cNvPr>
          <p:cNvSpPr txBox="1">
            <a:spLocks/>
          </p:cNvSpPr>
          <p:nvPr/>
        </p:nvSpPr>
        <p:spPr>
          <a:xfrm>
            <a:off x="686902" y="158901"/>
            <a:ext cx="10260000" cy="782638"/>
          </a:xfrm>
          <a:prstGeom prst="rect">
            <a:avLst/>
          </a:prstGeom>
        </p:spPr>
        <p:txBody>
          <a:bodyPr anchor="ctr">
            <a:normAutofit/>
          </a:bodyPr>
          <a:lstStyle>
            <a:lvl1pPr marL="0" indent="0" algn="l" defTabSz="914400" rtl="0" eaLnBrk="1" latinLnBrk="0" hangingPunct="1">
              <a:lnSpc>
                <a:spcPct val="90000"/>
              </a:lnSpc>
              <a:spcBef>
                <a:spcPts val="0"/>
              </a:spcBef>
              <a:buFont typeface="Arial" panose="020B0604020202020204" pitchFamily="34" charset="0"/>
              <a:buNone/>
              <a:defRPr lang="en-US" sz="2800" b="0" kern="1200" dirty="0">
                <a:solidFill>
                  <a:srgbClr val="0057B7"/>
                </a:solidFill>
                <a:latin typeface="+mj-lt"/>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err="1">
                <a:latin typeface="Poppins" panose="00000500000000000000" pitchFamily="2" charset="0"/>
              </a:rPr>
              <a:t>Recap</a:t>
            </a:r>
            <a:r>
              <a:rPr lang="it-IT" b="1">
                <a:latin typeface="Poppins" panose="00000500000000000000" pitchFamily="2" charset="0"/>
              </a:rPr>
              <a:t> sui Prodotti (3/3)</a:t>
            </a:r>
          </a:p>
          <a:p>
            <a:r>
              <a:rPr lang="it-IT" sz="1600" b="1">
                <a:solidFill>
                  <a:schemeClr val="bg1">
                    <a:lumMod val="65000"/>
                  </a:schemeClr>
                </a:solidFill>
                <a:latin typeface="Poppins" panose="00000500000000000000" pitchFamily="2" charset="0"/>
              </a:rPr>
              <a:t>SCHEDA PRODOTTO</a:t>
            </a:r>
          </a:p>
        </p:txBody>
      </p:sp>
      <p:sp>
        <p:nvSpPr>
          <p:cNvPr id="1034" name="Slide Number Placeholder 6">
            <a:extLst>
              <a:ext uri="{FF2B5EF4-FFF2-40B4-BE49-F238E27FC236}">
                <a16:creationId xmlns:a16="http://schemas.microsoft.com/office/drawing/2014/main" id="{55FD79C6-E450-0DD0-F6AB-33B24841F948}"/>
              </a:ext>
            </a:extLst>
          </p:cNvPr>
          <p:cNvSpPr>
            <a:spLocks noGrp="1"/>
          </p:cNvSpPr>
          <p:nvPr>
            <p:ph type="sldNum" sz="quarter" idx="2"/>
          </p:nvPr>
        </p:nvSpPr>
        <p:spPr>
          <a:xfrm>
            <a:off x="11614996" y="6443521"/>
            <a:ext cx="409933" cy="272589"/>
          </a:xfrm>
        </p:spPr>
        <p:txBody>
          <a:bodyPr/>
          <a:lstStyle/>
          <a:p>
            <a:fld id="{86CB4B4D-7CA3-9044-876B-883B54F8677D}" type="slidenum">
              <a:rPr lang="it-IT" smtClean="0"/>
              <a:pPr/>
              <a:t>15</a:t>
            </a:fld>
            <a:endParaRPr lang="it-IT"/>
          </a:p>
        </p:txBody>
      </p:sp>
      <p:sp>
        <p:nvSpPr>
          <p:cNvPr id="7" name="TextBox 6">
            <a:extLst>
              <a:ext uri="{FF2B5EF4-FFF2-40B4-BE49-F238E27FC236}">
                <a16:creationId xmlns:a16="http://schemas.microsoft.com/office/drawing/2014/main" id="{D5864358-1AA1-4038-FA2E-5E61DC463F0C}"/>
              </a:ext>
            </a:extLst>
          </p:cNvPr>
          <p:cNvSpPr txBox="1"/>
          <p:nvPr/>
        </p:nvSpPr>
        <p:spPr>
          <a:xfrm>
            <a:off x="360218" y="2097866"/>
            <a:ext cx="11524149" cy="830997"/>
          </a:xfrm>
          <a:prstGeom prst="rect">
            <a:avLst/>
          </a:prstGeom>
          <a:noFill/>
        </p:spPr>
        <p:txBody>
          <a:bodyPr wrap="square">
            <a:spAutoFit/>
          </a:bodyPr>
          <a:lstStyle/>
          <a:p>
            <a:r>
              <a:rPr lang="it-IT" sz="1200">
                <a:solidFill>
                  <a:schemeClr val="accent5"/>
                </a:solidFill>
              </a:rPr>
              <a:t>Con il servizio Assistenza Stradale Europa si ha la possibilità di usufruire del </a:t>
            </a:r>
            <a:r>
              <a:rPr lang="it-IT" sz="1200" b="1">
                <a:solidFill>
                  <a:schemeClr val="accent5"/>
                </a:solidFill>
              </a:rPr>
              <a:t>Soccorso Meccanico gratuito </a:t>
            </a:r>
            <a:r>
              <a:rPr lang="it-IT" sz="1200">
                <a:solidFill>
                  <a:schemeClr val="accent5"/>
                </a:solidFill>
              </a:rPr>
              <a:t>sulle </a:t>
            </a:r>
            <a:r>
              <a:rPr lang="it-IT" sz="1200" b="1">
                <a:solidFill>
                  <a:schemeClr val="accent5"/>
                </a:solidFill>
              </a:rPr>
              <a:t>due targhe </a:t>
            </a:r>
            <a:r>
              <a:rPr lang="it-IT" sz="1200">
                <a:solidFill>
                  <a:schemeClr val="accent5"/>
                </a:solidFill>
              </a:rPr>
              <a:t>associate al dispositivo Telepass. Il servizio è attivo </a:t>
            </a:r>
            <a:r>
              <a:rPr lang="it-IT" sz="1200" b="1">
                <a:solidFill>
                  <a:schemeClr val="accent5"/>
                </a:solidFill>
              </a:rPr>
              <a:t>h24 e valido su strade e autostrade di tutta Europa, Italia compresa</a:t>
            </a:r>
            <a:r>
              <a:rPr lang="it-IT" sz="1200">
                <a:solidFill>
                  <a:schemeClr val="accent5"/>
                </a:solidFill>
              </a:rPr>
              <a:t>. La copertura, </a:t>
            </a:r>
            <a:r>
              <a:rPr lang="it-IT" sz="1200" b="1">
                <a:solidFill>
                  <a:schemeClr val="accent5"/>
                </a:solidFill>
              </a:rPr>
              <a:t>senza limiti </a:t>
            </a:r>
            <a:r>
              <a:rPr lang="it-IT" sz="1200">
                <a:solidFill>
                  <a:schemeClr val="accent5"/>
                </a:solidFill>
              </a:rPr>
              <a:t>di </a:t>
            </a:r>
            <a:r>
              <a:rPr lang="it-IT" sz="1200" b="1">
                <a:solidFill>
                  <a:schemeClr val="accent5"/>
                </a:solidFill>
              </a:rPr>
              <a:t>chiamata</a:t>
            </a:r>
            <a:r>
              <a:rPr lang="it-IT" sz="1200">
                <a:solidFill>
                  <a:schemeClr val="accent5"/>
                </a:solidFill>
              </a:rPr>
              <a:t>, comprende </a:t>
            </a:r>
            <a:r>
              <a:rPr lang="it-IT" sz="1200" b="1">
                <a:solidFill>
                  <a:schemeClr val="accent5"/>
                </a:solidFill>
              </a:rPr>
              <a:t>l'intervento sul posto </a:t>
            </a:r>
            <a:r>
              <a:rPr lang="it-IT" sz="1200">
                <a:solidFill>
                  <a:schemeClr val="accent5"/>
                </a:solidFill>
              </a:rPr>
              <a:t>del servizio di assistenza anche per piccoli guasti come la sostituzione della gomma in caso di foratura, batteria scarica o rifornimento.</a:t>
            </a:r>
          </a:p>
        </p:txBody>
      </p:sp>
      <p:sp>
        <p:nvSpPr>
          <p:cNvPr id="8" name="TextBox 7">
            <a:extLst>
              <a:ext uri="{FF2B5EF4-FFF2-40B4-BE49-F238E27FC236}">
                <a16:creationId xmlns:a16="http://schemas.microsoft.com/office/drawing/2014/main" id="{D2A5B75B-FA79-83C5-CC30-60946EF53097}"/>
              </a:ext>
            </a:extLst>
          </p:cNvPr>
          <p:cNvSpPr txBox="1"/>
          <p:nvPr/>
        </p:nvSpPr>
        <p:spPr>
          <a:xfrm>
            <a:off x="506262" y="5398779"/>
            <a:ext cx="11378104" cy="784830"/>
          </a:xfrm>
          <a:prstGeom prst="rect">
            <a:avLst/>
          </a:prstGeom>
          <a:noFill/>
        </p:spPr>
        <p:txBody>
          <a:bodyPr wrap="square">
            <a:spAutoFit/>
          </a:bodyPr>
          <a:lstStyle/>
          <a:p>
            <a:pPr algn="l">
              <a:spcAft>
                <a:spcPts val="600"/>
              </a:spcAft>
            </a:pPr>
            <a:r>
              <a:rPr lang="it-IT" sz="1600" b="1" dirty="0"/>
              <a:t>QUANTO COSTA</a:t>
            </a:r>
          </a:p>
          <a:p>
            <a:pPr algn="l"/>
            <a:r>
              <a:rPr lang="it-IT" sz="1200" dirty="0">
                <a:solidFill>
                  <a:schemeClr val="accent5"/>
                </a:solidFill>
              </a:rPr>
              <a:t>È previsto un costo di 3,60€ (IVA inclusa) al mese, in aggiunta all’abbonamento mensile Telepass, mentre le regole di fatturazione</a:t>
            </a:r>
          </a:p>
          <a:p>
            <a:pPr algn="l"/>
            <a:r>
              <a:rPr lang="it-IT" sz="1200" dirty="0">
                <a:solidFill>
                  <a:schemeClr val="accent5"/>
                </a:solidFill>
              </a:rPr>
              <a:t>sono le stesse.</a:t>
            </a:r>
          </a:p>
        </p:txBody>
      </p:sp>
      <p:sp>
        <p:nvSpPr>
          <p:cNvPr id="10" name="TextBox 9">
            <a:extLst>
              <a:ext uri="{FF2B5EF4-FFF2-40B4-BE49-F238E27FC236}">
                <a16:creationId xmlns:a16="http://schemas.microsoft.com/office/drawing/2014/main" id="{42605A7A-FC8E-2DC1-FF28-D94ED32B2DD0}"/>
              </a:ext>
            </a:extLst>
          </p:cNvPr>
          <p:cNvSpPr txBox="1"/>
          <p:nvPr/>
        </p:nvSpPr>
        <p:spPr>
          <a:xfrm>
            <a:off x="360218" y="1360440"/>
            <a:ext cx="11664711" cy="707886"/>
          </a:xfrm>
          <a:prstGeom prst="rect">
            <a:avLst/>
          </a:prstGeom>
          <a:noFill/>
        </p:spPr>
        <p:txBody>
          <a:bodyPr wrap="square">
            <a:spAutoFit/>
          </a:bodyPr>
          <a:lstStyle/>
          <a:p>
            <a:pPr algn="l"/>
            <a:r>
              <a:rPr lang="it-IT" sz="2400" b="1"/>
              <a:t>ASSISTENZA STRADALE EUROPEA</a:t>
            </a:r>
          </a:p>
          <a:p>
            <a:pPr algn="l">
              <a:spcAft>
                <a:spcPts val="600"/>
              </a:spcAft>
            </a:pPr>
            <a:r>
              <a:rPr lang="it-IT" sz="1600"/>
              <a:t>SERVIZI INCLUSI</a:t>
            </a:r>
            <a:endParaRPr lang="it-IT" sz="1800"/>
          </a:p>
        </p:txBody>
      </p:sp>
      <p:pic>
        <p:nvPicPr>
          <p:cNvPr id="16" name="Picture 15">
            <a:extLst>
              <a:ext uri="{FF2B5EF4-FFF2-40B4-BE49-F238E27FC236}">
                <a16:creationId xmlns:a16="http://schemas.microsoft.com/office/drawing/2014/main" id="{C3619359-3DE3-94F4-AAB2-7C055EC0E03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1635" b="16565"/>
          <a:stretch/>
        </p:blipFill>
        <p:spPr>
          <a:xfrm>
            <a:off x="4364465" y="3016597"/>
            <a:ext cx="2749843" cy="1928449"/>
          </a:xfrm>
          <a:prstGeom prst="rect">
            <a:avLst/>
          </a:prstGeom>
        </p:spPr>
      </p:pic>
    </p:spTree>
    <p:extLst>
      <p:ext uri="{BB962C8B-B14F-4D97-AF65-F5344CB8AC3E}">
        <p14:creationId xmlns:p14="http://schemas.microsoft.com/office/powerpoint/2010/main" val="2939965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4CF8796-E637-41CC-8EA2-4FA9A2FC7E43}"/>
              </a:ext>
            </a:extLst>
          </p:cNvPr>
          <p:cNvSpPr>
            <a:spLocks noGrp="1"/>
          </p:cNvSpPr>
          <p:nvPr>
            <p:ph type="sldNum" sz="quarter" idx="2"/>
          </p:nvPr>
        </p:nvSpPr>
        <p:spPr>
          <a:xfrm>
            <a:off x="11614996" y="6443521"/>
            <a:ext cx="409933" cy="272589"/>
          </a:xfrm>
        </p:spPr>
        <p:txBody>
          <a:bodyPr/>
          <a:lstStyle/>
          <a:p>
            <a:fld id="{86CB4B4D-7CA3-9044-876B-883B54F8677D}" type="slidenum">
              <a:rPr lang="it-IT" smtClean="0"/>
              <a:pPr/>
              <a:t>16</a:t>
            </a:fld>
            <a:endParaRPr lang="it-IT"/>
          </a:p>
        </p:txBody>
      </p:sp>
      <p:sp>
        <p:nvSpPr>
          <p:cNvPr id="5" name="Text Placeholder 26">
            <a:extLst>
              <a:ext uri="{FF2B5EF4-FFF2-40B4-BE49-F238E27FC236}">
                <a16:creationId xmlns:a16="http://schemas.microsoft.com/office/drawing/2014/main" id="{EED3FCE0-23D1-A034-F1BD-40817AE9A91B}"/>
              </a:ext>
            </a:extLst>
          </p:cNvPr>
          <p:cNvSpPr>
            <a:spLocks noGrp="1"/>
          </p:cNvSpPr>
          <p:nvPr>
            <p:ph type="body" sz="quarter" idx="11"/>
          </p:nvPr>
        </p:nvSpPr>
        <p:spPr>
          <a:xfrm>
            <a:off x="686902" y="158901"/>
            <a:ext cx="10260000" cy="782638"/>
          </a:xfrm>
        </p:spPr>
        <p:txBody>
          <a:bodyPr anchor="ctr"/>
          <a:lstStyle/>
          <a:p>
            <a:r>
              <a:rPr lang="it-IT" b="1" dirty="0">
                <a:latin typeface="Poppins" panose="00000500000000000000" pitchFamily="2" charset="0"/>
                <a:cs typeface="Poppins" panose="00000500000000000000" pitchFamily="2" charset="0"/>
              </a:rPr>
              <a:t>Cosa può fare il cliente da </a:t>
            </a:r>
            <a:r>
              <a:rPr lang="it-IT" b="1" dirty="0">
                <a:latin typeface="Poppins" panose="00000500000000000000" pitchFamily="2" charset="0"/>
              </a:rPr>
              <a:t>Eni</a:t>
            </a:r>
            <a:endParaRPr lang="it-IT" b="1" dirty="0">
              <a:latin typeface="Poppins" panose="00000500000000000000" pitchFamily="2" charset="0"/>
              <a:cs typeface="Poppins" panose="00000500000000000000" pitchFamily="2" charset="0"/>
            </a:endParaRPr>
          </a:p>
        </p:txBody>
      </p:sp>
      <p:sp>
        <p:nvSpPr>
          <p:cNvPr id="2" name="Rectangle: Rounded Corners 1">
            <a:extLst>
              <a:ext uri="{FF2B5EF4-FFF2-40B4-BE49-F238E27FC236}">
                <a16:creationId xmlns:a16="http://schemas.microsoft.com/office/drawing/2014/main" id="{0C5F41BA-733C-3ED3-4AFA-B0324DBD62E7}"/>
              </a:ext>
            </a:extLst>
          </p:cNvPr>
          <p:cNvSpPr/>
          <p:nvPr/>
        </p:nvSpPr>
        <p:spPr>
          <a:xfrm>
            <a:off x="755330" y="1653986"/>
            <a:ext cx="4841684" cy="3832414"/>
          </a:xfrm>
          <a:prstGeom prst="roundRect">
            <a:avLst>
              <a:gd name="adj" fmla="val 6931"/>
            </a:avLst>
          </a:prstGeom>
          <a:solidFill>
            <a:schemeClr val="bg1"/>
          </a:solidFill>
          <a:ln>
            <a:solidFill>
              <a:schemeClr val="bg1">
                <a:lumMod val="8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ctangle: Rounded Corners 3">
            <a:extLst>
              <a:ext uri="{FF2B5EF4-FFF2-40B4-BE49-F238E27FC236}">
                <a16:creationId xmlns:a16="http://schemas.microsoft.com/office/drawing/2014/main" id="{93596B0B-09EC-61AB-B92E-3A596B208D3A}"/>
              </a:ext>
            </a:extLst>
          </p:cNvPr>
          <p:cNvSpPr/>
          <p:nvPr/>
        </p:nvSpPr>
        <p:spPr>
          <a:xfrm>
            <a:off x="6240607" y="1653986"/>
            <a:ext cx="4841684" cy="3832414"/>
          </a:xfrm>
          <a:prstGeom prst="roundRect">
            <a:avLst>
              <a:gd name="adj" fmla="val 6931"/>
            </a:avLst>
          </a:prstGeom>
          <a:solidFill>
            <a:schemeClr val="bg1"/>
          </a:solidFill>
          <a:ln>
            <a:solidFill>
              <a:schemeClr val="bg1">
                <a:lumMod val="8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5124" name="Picture 4" descr="segno di spunta. segno di spunta verde e icona della croce rossa 4815280  Arte vettoriale a Vecteezy">
            <a:extLst>
              <a:ext uri="{FF2B5EF4-FFF2-40B4-BE49-F238E27FC236}">
                <a16:creationId xmlns:a16="http://schemas.microsoft.com/office/drawing/2014/main" id="{DD1AF54A-2FD1-70BC-43AA-496DFCED00E6}"/>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10609" t="25220" r="54220" b="24031"/>
          <a:stretch/>
        </p:blipFill>
        <p:spPr bwMode="auto">
          <a:xfrm>
            <a:off x="448651" y="1449514"/>
            <a:ext cx="966568" cy="8656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egno di spunta. segno di spunta verde e icona della croce rossa 4815280  Arte vettoriale a Vecteezy">
            <a:extLst>
              <a:ext uri="{FF2B5EF4-FFF2-40B4-BE49-F238E27FC236}">
                <a16:creationId xmlns:a16="http://schemas.microsoft.com/office/drawing/2014/main" id="{28530E36-C694-CB0B-D5D9-133714EDD077}"/>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60746" t="25064" r="10962" b="23669"/>
          <a:stretch/>
        </p:blipFill>
        <p:spPr bwMode="auto">
          <a:xfrm>
            <a:off x="5776241" y="1553272"/>
            <a:ext cx="777523" cy="87449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685E902-B472-AFF4-1644-BEE078040C44}"/>
              </a:ext>
            </a:extLst>
          </p:cNvPr>
          <p:cNvSpPr txBox="1"/>
          <p:nvPr/>
        </p:nvSpPr>
        <p:spPr>
          <a:xfrm>
            <a:off x="911945" y="2360427"/>
            <a:ext cx="4609465" cy="2585323"/>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
            </a:pPr>
            <a:r>
              <a:rPr lang="it-IT" sz="1400" dirty="0">
                <a:solidFill>
                  <a:schemeClr val="accent5"/>
                </a:solidFill>
              </a:rPr>
              <a:t>Aprire un contratto Telepass Base per viaggiare in Italia o anche in Europa</a:t>
            </a:r>
          </a:p>
          <a:p>
            <a:pPr marL="285750" indent="-285750">
              <a:spcBef>
                <a:spcPts val="600"/>
              </a:spcBef>
              <a:spcAft>
                <a:spcPts val="600"/>
              </a:spcAft>
              <a:buFont typeface="Wingdings" panose="05000000000000000000" pitchFamily="2" charset="2"/>
              <a:buChar char="§"/>
            </a:pPr>
            <a:r>
              <a:rPr lang="it-IT" sz="1400" dirty="0">
                <a:solidFill>
                  <a:schemeClr val="accent5"/>
                </a:solidFill>
              </a:rPr>
              <a:t>Attivare l’assistenza stradale</a:t>
            </a:r>
          </a:p>
          <a:p>
            <a:pPr marL="285750" indent="-285750">
              <a:spcBef>
                <a:spcPts val="600"/>
              </a:spcBef>
              <a:spcAft>
                <a:spcPts val="600"/>
              </a:spcAft>
              <a:buFont typeface="Wingdings" panose="05000000000000000000" pitchFamily="2" charset="2"/>
              <a:buChar char="§"/>
            </a:pPr>
            <a:r>
              <a:rPr lang="it-IT" sz="1400" dirty="0">
                <a:solidFill>
                  <a:schemeClr val="accent5"/>
                </a:solidFill>
              </a:rPr>
              <a:t>Richiedere un secondo dispositivo (Twin)</a:t>
            </a:r>
          </a:p>
          <a:p>
            <a:pPr marL="285750" indent="-285750">
              <a:spcBef>
                <a:spcPts val="600"/>
              </a:spcBef>
              <a:spcAft>
                <a:spcPts val="600"/>
              </a:spcAft>
              <a:buFont typeface="Wingdings" panose="05000000000000000000" pitchFamily="2" charset="2"/>
              <a:buChar char="§"/>
            </a:pPr>
            <a:r>
              <a:rPr lang="it-IT" sz="1400" dirty="0">
                <a:solidFill>
                  <a:schemeClr val="accent5"/>
                </a:solidFill>
              </a:rPr>
              <a:t>Sostituire il vecchio dispositivo</a:t>
            </a:r>
          </a:p>
          <a:p>
            <a:pPr marL="285750" indent="-285750">
              <a:spcBef>
                <a:spcPts val="600"/>
              </a:spcBef>
              <a:spcAft>
                <a:spcPts val="600"/>
              </a:spcAft>
              <a:buFont typeface="Wingdings" panose="05000000000000000000" pitchFamily="2" charset="2"/>
              <a:buChar char="§"/>
            </a:pPr>
            <a:r>
              <a:rPr lang="it-IT" sz="1400" dirty="0">
                <a:solidFill>
                  <a:schemeClr val="accent5"/>
                </a:solidFill>
              </a:rPr>
              <a:t>Cambiare la targa associata ad un dispositivo</a:t>
            </a:r>
          </a:p>
          <a:p>
            <a:pPr marL="285750" indent="-285750">
              <a:spcBef>
                <a:spcPts val="600"/>
              </a:spcBef>
              <a:spcAft>
                <a:spcPts val="600"/>
              </a:spcAft>
              <a:buFont typeface="Wingdings" panose="05000000000000000000" pitchFamily="2" charset="2"/>
              <a:buChar char="§"/>
            </a:pPr>
            <a:r>
              <a:rPr lang="it-IT" sz="1400" dirty="0">
                <a:solidFill>
                  <a:schemeClr val="accent5"/>
                </a:solidFill>
              </a:rPr>
              <a:t>Restituire il dispositivo con PIN</a:t>
            </a:r>
          </a:p>
        </p:txBody>
      </p:sp>
      <p:sp>
        <p:nvSpPr>
          <p:cNvPr id="12" name="TextBox 11">
            <a:extLst>
              <a:ext uri="{FF2B5EF4-FFF2-40B4-BE49-F238E27FC236}">
                <a16:creationId xmlns:a16="http://schemas.microsoft.com/office/drawing/2014/main" id="{7ECC38C9-83CF-F7C7-684B-EAE893A2C83C}"/>
              </a:ext>
            </a:extLst>
          </p:cNvPr>
          <p:cNvSpPr txBox="1"/>
          <p:nvPr/>
        </p:nvSpPr>
        <p:spPr>
          <a:xfrm>
            <a:off x="6359412" y="2360427"/>
            <a:ext cx="4609465" cy="2000548"/>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
            </a:pPr>
            <a:r>
              <a:rPr lang="it-IT" sz="1400" dirty="0">
                <a:solidFill>
                  <a:schemeClr val="accent5"/>
                </a:solidFill>
              </a:rPr>
              <a:t>Cambiare l’IBAN associato al contratto</a:t>
            </a:r>
          </a:p>
          <a:p>
            <a:pPr marL="285750" indent="-285750">
              <a:spcBef>
                <a:spcPts val="600"/>
              </a:spcBef>
              <a:spcAft>
                <a:spcPts val="600"/>
              </a:spcAft>
              <a:buFont typeface="Wingdings" panose="05000000000000000000" pitchFamily="2" charset="2"/>
              <a:buChar char="§"/>
            </a:pPr>
            <a:r>
              <a:rPr lang="it-IT" sz="1400" dirty="0">
                <a:solidFill>
                  <a:schemeClr val="accent5"/>
                </a:solidFill>
              </a:rPr>
              <a:t>Bloccare un dispositivo per furto o smarrimento</a:t>
            </a:r>
          </a:p>
          <a:p>
            <a:pPr marL="285750" indent="-285750">
              <a:spcBef>
                <a:spcPts val="600"/>
              </a:spcBef>
              <a:spcAft>
                <a:spcPts val="600"/>
              </a:spcAft>
              <a:buFont typeface="Wingdings" panose="05000000000000000000" pitchFamily="2" charset="2"/>
              <a:buChar char="§"/>
            </a:pPr>
            <a:r>
              <a:rPr lang="it-IT" sz="1400" dirty="0">
                <a:solidFill>
                  <a:schemeClr val="accent5"/>
                </a:solidFill>
              </a:rPr>
              <a:t>Pagare i rapporti di mancato pagamento</a:t>
            </a:r>
          </a:p>
          <a:p>
            <a:pPr marL="285750" indent="-285750">
              <a:spcBef>
                <a:spcPts val="600"/>
              </a:spcBef>
              <a:spcAft>
                <a:spcPts val="600"/>
              </a:spcAft>
              <a:buFont typeface="Wingdings" panose="05000000000000000000" pitchFamily="2" charset="2"/>
              <a:buChar char="§"/>
            </a:pPr>
            <a:r>
              <a:rPr lang="it-IT" sz="1400" dirty="0">
                <a:solidFill>
                  <a:schemeClr val="accent5"/>
                </a:solidFill>
              </a:rPr>
              <a:t>Attivare il servizio di Area C Milano</a:t>
            </a:r>
          </a:p>
          <a:p>
            <a:pPr marL="285750" indent="-285750">
              <a:spcBef>
                <a:spcPts val="600"/>
              </a:spcBef>
              <a:spcAft>
                <a:spcPts val="600"/>
              </a:spcAft>
              <a:buFont typeface="Wingdings" panose="05000000000000000000" pitchFamily="2" charset="2"/>
              <a:buChar char="§"/>
            </a:pPr>
            <a:r>
              <a:rPr lang="it-IT" sz="1400" dirty="0">
                <a:solidFill>
                  <a:schemeClr val="accent5"/>
                </a:solidFill>
              </a:rPr>
              <a:t>Richiedere lo sconto moto (consulta il sito) </a:t>
            </a:r>
          </a:p>
        </p:txBody>
      </p:sp>
      <p:sp>
        <p:nvSpPr>
          <p:cNvPr id="15" name="Arrow: Right 14">
            <a:extLst>
              <a:ext uri="{FF2B5EF4-FFF2-40B4-BE49-F238E27FC236}">
                <a16:creationId xmlns:a16="http://schemas.microsoft.com/office/drawing/2014/main" id="{AAEEA9C7-D2A8-A9FF-E5D0-E1EB3F876850}"/>
              </a:ext>
            </a:extLst>
          </p:cNvPr>
          <p:cNvSpPr/>
          <p:nvPr/>
        </p:nvSpPr>
        <p:spPr>
          <a:xfrm rot="5400000">
            <a:off x="8504346" y="5168900"/>
            <a:ext cx="374168" cy="836428"/>
          </a:xfrm>
          <a:prstGeom prst="rightArrow">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TextBox 16">
            <a:extLst>
              <a:ext uri="{FF2B5EF4-FFF2-40B4-BE49-F238E27FC236}">
                <a16:creationId xmlns:a16="http://schemas.microsoft.com/office/drawing/2014/main" id="{AD53691E-CBB3-3582-3463-4CE63767378C}"/>
              </a:ext>
            </a:extLst>
          </p:cNvPr>
          <p:cNvSpPr txBox="1"/>
          <p:nvPr/>
        </p:nvSpPr>
        <p:spPr>
          <a:xfrm>
            <a:off x="7253472" y="5915897"/>
            <a:ext cx="2875917" cy="276999"/>
          </a:xfrm>
          <a:prstGeom prst="rect">
            <a:avLst/>
          </a:prstGeom>
          <a:solidFill>
            <a:schemeClr val="bg1"/>
          </a:solidFill>
        </p:spPr>
        <p:txBody>
          <a:bodyPr wrap="square" rtlCol="0">
            <a:spAutoFit/>
          </a:bodyPr>
          <a:lstStyle/>
          <a:p>
            <a:pPr algn="ctr"/>
            <a:r>
              <a:rPr lang="it-IT" sz="1200" b="1">
                <a:solidFill>
                  <a:schemeClr val="accent5"/>
                </a:solidFill>
              </a:rPr>
              <a:t>Scarica l’App Telepass</a:t>
            </a:r>
          </a:p>
        </p:txBody>
      </p:sp>
    </p:spTree>
    <p:extLst>
      <p:ext uri="{BB962C8B-B14F-4D97-AF65-F5344CB8AC3E}">
        <p14:creationId xmlns:p14="http://schemas.microsoft.com/office/powerpoint/2010/main" val="3935902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2E0E4-C615-B4A9-C1C8-915143B8AAE0}"/>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0BD5A307-A806-7693-8475-1C969AD467EB}"/>
              </a:ext>
            </a:extLst>
          </p:cNvPr>
          <p:cNvSpPr/>
          <p:nvPr/>
        </p:nvSpPr>
        <p:spPr>
          <a:xfrm>
            <a:off x="6774321" y="1208262"/>
            <a:ext cx="4941869" cy="3598939"/>
          </a:xfrm>
          <a:prstGeom prst="rect">
            <a:avLst/>
          </a:prstGeom>
          <a:solidFill>
            <a:srgbClr val="FDFDFD"/>
          </a:solidFill>
          <a:ln w="1905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grpSp>
        <p:nvGrpSpPr>
          <p:cNvPr id="70" name="Group 69">
            <a:extLst>
              <a:ext uri="{FF2B5EF4-FFF2-40B4-BE49-F238E27FC236}">
                <a16:creationId xmlns:a16="http://schemas.microsoft.com/office/drawing/2014/main" id="{9E58C945-552E-7A4D-694C-7DC8722E4BE1}"/>
              </a:ext>
            </a:extLst>
          </p:cNvPr>
          <p:cNvGrpSpPr/>
          <p:nvPr/>
        </p:nvGrpSpPr>
        <p:grpSpPr>
          <a:xfrm>
            <a:off x="7226852" y="2366401"/>
            <a:ext cx="3827085" cy="1022772"/>
            <a:chOff x="2090506" y="2737615"/>
            <a:chExt cx="3827085" cy="1022772"/>
          </a:xfrm>
        </p:grpSpPr>
        <p:sp>
          <p:nvSpPr>
            <p:cNvPr id="71" name="Rectangle: Rounded Corners 70">
              <a:extLst>
                <a:ext uri="{FF2B5EF4-FFF2-40B4-BE49-F238E27FC236}">
                  <a16:creationId xmlns:a16="http://schemas.microsoft.com/office/drawing/2014/main" id="{0E1F837D-B1B8-107B-3BA3-D083C50D6B7A}"/>
                </a:ext>
              </a:extLst>
            </p:cNvPr>
            <p:cNvSpPr/>
            <p:nvPr/>
          </p:nvSpPr>
          <p:spPr>
            <a:xfrm>
              <a:off x="2241425" y="3001005"/>
              <a:ext cx="3676166" cy="759382"/>
            </a:xfrm>
            <a:prstGeom prst="roundRect">
              <a:avLst>
                <a:gd name="adj" fmla="val 5966"/>
              </a:avLst>
            </a:prstGeom>
            <a:solidFill>
              <a:srgbClr val="CCECFF">
                <a:alpha val="30196"/>
              </a:srgbClr>
            </a:solidFill>
            <a:ln w="19050" cap="flat">
              <a:no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108000" rIns="0" bIns="0" numCol="1" spcCol="38100" rtlCol="0" anchor="ctr">
              <a:noAutofit/>
            </a:bodyPr>
            <a:lstStyle/>
            <a:p>
              <a:pPr lvl="0" defTabSz="825500" hangingPunct="0">
                <a:defRPr/>
              </a:pPr>
              <a:r>
                <a:rPr lang="it-IT" sz="1400" b="1" dirty="0">
                  <a:solidFill>
                    <a:srgbClr val="205CA0"/>
                  </a:solidFill>
                  <a:latin typeface="Avenir Next LT Pro" panose="020B0504020202020204" pitchFamily="34" charset="0"/>
                  <a:cs typeface="Poppins" panose="02000000000000000000" pitchFamily="2" charset="0"/>
                  <a:sym typeface="Helvetica Neue Medium"/>
                </a:rPr>
                <a:t>Promo: </a:t>
              </a:r>
              <a:r>
                <a:rPr lang="it-IT" sz="1400" dirty="0">
                  <a:solidFill>
                    <a:srgbClr val="205CA0"/>
                  </a:solidFill>
                  <a:latin typeface="Avenir Next LT Pro" panose="020B0504020202020204" pitchFamily="34" charset="0"/>
                  <a:cs typeface="Poppins" panose="02000000000000000000" pitchFamily="2" charset="0"/>
                  <a:sym typeface="Helvetica Neue Medium"/>
                </a:rPr>
                <a:t>12 mesi FREE </a:t>
              </a:r>
              <a:r>
                <a:rPr lang="it-IT" sz="1200" dirty="0">
                  <a:solidFill>
                    <a:srgbClr val="205CA0"/>
                  </a:solidFill>
                  <a:latin typeface="Avenir Next LT Pro" panose="020B0504020202020204" pitchFamily="34" charset="0"/>
                  <a:cs typeface="Poppins" panose="02000000000000000000" pitchFamily="2" charset="0"/>
                  <a:sym typeface="Helvetica Neue Medium"/>
                </a:rPr>
                <a:t>e poi €1,50 per sempre anziché 3.88€/mese  </a:t>
              </a:r>
            </a:p>
            <a:p>
              <a:pPr lvl="0" defTabSz="825500" hangingPunct="0">
                <a:defRPr/>
              </a:pPr>
              <a:r>
                <a:rPr lang="it-IT" sz="1400" b="1" dirty="0">
                  <a:solidFill>
                    <a:srgbClr val="205CA0"/>
                  </a:solidFill>
                  <a:latin typeface="Avenir Next LT Pro" panose="020B0504020202020204" pitchFamily="34" charset="0"/>
                  <a:cs typeface="Poppins" panose="02000000000000000000" pitchFamily="2" charset="0"/>
                  <a:sym typeface="Helvetica Neue Medium"/>
                </a:rPr>
                <a:t>Controvalore offerta: </a:t>
              </a:r>
              <a:r>
                <a:rPr lang="it-IT" sz="1200" b="1" dirty="0">
                  <a:solidFill>
                    <a:srgbClr val="205CA0"/>
                  </a:solidFill>
                  <a:latin typeface="Avenir Next LT Pro" panose="020B0504020202020204" pitchFamily="34" charset="0"/>
                  <a:cs typeface="Poppins" panose="02000000000000000000" pitchFamily="2" charset="0"/>
                  <a:sym typeface="Helvetica Neue Medium"/>
                </a:rPr>
                <a:t>€46,6</a:t>
              </a:r>
              <a:endParaRPr kumimoji="0" lang="it-IT" sz="12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endParaRPr>
            </a:p>
          </p:txBody>
        </p:sp>
        <p:grpSp>
          <p:nvGrpSpPr>
            <p:cNvPr id="72" name="Group 71">
              <a:extLst>
                <a:ext uri="{FF2B5EF4-FFF2-40B4-BE49-F238E27FC236}">
                  <a16:creationId xmlns:a16="http://schemas.microsoft.com/office/drawing/2014/main" id="{5704A9E2-C693-75E8-8867-7381BC0A9EF5}"/>
                </a:ext>
              </a:extLst>
            </p:cNvPr>
            <p:cNvGrpSpPr/>
            <p:nvPr/>
          </p:nvGrpSpPr>
          <p:grpSpPr>
            <a:xfrm>
              <a:off x="2090506" y="2737615"/>
              <a:ext cx="1151530" cy="360000"/>
              <a:chOff x="2090506" y="2737615"/>
              <a:chExt cx="1151530" cy="360000"/>
            </a:xfrm>
          </p:grpSpPr>
          <p:sp>
            <p:nvSpPr>
              <p:cNvPr id="73" name="object 42">
                <a:extLst>
                  <a:ext uri="{FF2B5EF4-FFF2-40B4-BE49-F238E27FC236}">
                    <a16:creationId xmlns:a16="http://schemas.microsoft.com/office/drawing/2014/main" id="{CD05E6D3-CFD8-8172-FA57-4D1411E82F0B}"/>
                  </a:ext>
                </a:extLst>
              </p:cNvPr>
              <p:cNvSpPr txBox="1"/>
              <p:nvPr/>
            </p:nvSpPr>
            <p:spPr>
              <a:xfrm>
                <a:off x="2270036" y="2786421"/>
                <a:ext cx="972000" cy="262389"/>
              </a:xfrm>
              <a:prstGeom prst="roundRect">
                <a:avLst>
                  <a:gd name="adj" fmla="val 49298"/>
                </a:avLst>
              </a:prstGeom>
              <a:solidFill>
                <a:srgbClr val="FEE01A"/>
              </a:solidFill>
              <a:ln w="12700">
                <a:noFill/>
                <a:miter lim="400000"/>
              </a:ln>
            </p:spPr>
            <p:txBody>
              <a:bodyPr lIns="216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205CA0"/>
                    </a:solidFill>
                    <a:effectLst/>
                    <a:uLnTx/>
                    <a:uFillTx/>
                    <a:latin typeface="Avenir Next LT Pro"/>
                  </a:rPr>
                  <a:t>TWIN</a:t>
                </a:r>
                <a:endParaRPr kumimoji="0" lang="it-IT" sz="1400" b="0" i="0" u="none" strike="noStrike" kern="0" cap="none" spc="0" normalizeH="0" baseline="0" noProof="0">
                  <a:ln>
                    <a:noFill/>
                  </a:ln>
                  <a:solidFill>
                    <a:srgbClr val="205CA0"/>
                  </a:solidFill>
                  <a:effectLst/>
                  <a:uLnTx/>
                  <a:uFillTx/>
                  <a:latin typeface="Avenir Next LT Pro"/>
                </a:endParaRPr>
              </a:p>
            </p:txBody>
          </p:sp>
          <p:sp>
            <p:nvSpPr>
              <p:cNvPr id="74" name="Oval 73">
                <a:extLst>
                  <a:ext uri="{FF2B5EF4-FFF2-40B4-BE49-F238E27FC236}">
                    <a16:creationId xmlns:a16="http://schemas.microsoft.com/office/drawing/2014/main" id="{41F94C6D-ADD0-7786-AA52-B1DC41862D97}"/>
                  </a:ext>
                </a:extLst>
              </p:cNvPr>
              <p:cNvSpPr/>
              <p:nvPr/>
            </p:nvSpPr>
            <p:spPr>
              <a:xfrm>
                <a:off x="2090506" y="2737615"/>
                <a:ext cx="360000" cy="360000"/>
              </a:xfrm>
              <a:prstGeom prst="ellipse">
                <a:avLst/>
              </a:prstGeom>
              <a:solidFill>
                <a:srgbClr val="205CA0"/>
              </a:solidFill>
              <a:ln w="19050" cap="flat">
                <a:solidFill>
                  <a:srgbClr val="0057B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grpSp>
            <p:nvGrpSpPr>
              <p:cNvPr id="75" name="Gruppo 5">
                <a:extLst>
                  <a:ext uri="{FF2B5EF4-FFF2-40B4-BE49-F238E27FC236}">
                    <a16:creationId xmlns:a16="http://schemas.microsoft.com/office/drawing/2014/main" id="{7C0CC1F5-84D9-49BC-BA71-3714A6D2873B}"/>
                  </a:ext>
                </a:extLst>
              </p:cNvPr>
              <p:cNvGrpSpPr/>
              <p:nvPr/>
            </p:nvGrpSpPr>
            <p:grpSpPr>
              <a:xfrm>
                <a:off x="2112182" y="2780550"/>
                <a:ext cx="298887" cy="262390"/>
                <a:chOff x="1323335" y="4170834"/>
                <a:chExt cx="365694" cy="337400"/>
              </a:xfrm>
              <a:solidFill>
                <a:schemeClr val="accent3">
                  <a:lumMod val="75000"/>
                </a:schemeClr>
              </a:solidFill>
            </p:grpSpPr>
            <p:pic>
              <p:nvPicPr>
                <p:cNvPr id="76" name="Image 4" descr=" ">
                  <a:extLst>
                    <a:ext uri="{FF2B5EF4-FFF2-40B4-BE49-F238E27FC236}">
                      <a16:creationId xmlns:a16="http://schemas.microsoft.com/office/drawing/2014/main" id="{5B4B6DCA-9DD7-789E-1F29-90ADDB64FA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3335" y="4170834"/>
                  <a:ext cx="256077" cy="188669"/>
                </a:xfrm>
                <a:prstGeom prst="rect">
                  <a:avLst/>
                </a:prstGeom>
              </p:spPr>
            </p:pic>
            <p:pic>
              <p:nvPicPr>
                <p:cNvPr id="77" name="Image 4" descr=" ">
                  <a:extLst>
                    <a:ext uri="{FF2B5EF4-FFF2-40B4-BE49-F238E27FC236}">
                      <a16:creationId xmlns:a16="http://schemas.microsoft.com/office/drawing/2014/main" id="{0762F94D-FA6A-949F-5E27-5186379001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32952" y="4319565"/>
                  <a:ext cx="256077" cy="188669"/>
                </a:xfrm>
                <a:prstGeom prst="rect">
                  <a:avLst/>
                </a:prstGeom>
              </p:spPr>
            </p:pic>
          </p:grpSp>
        </p:grpSp>
      </p:grpSp>
      <p:grpSp>
        <p:nvGrpSpPr>
          <p:cNvPr id="53" name="Group 52">
            <a:extLst>
              <a:ext uri="{FF2B5EF4-FFF2-40B4-BE49-F238E27FC236}">
                <a16:creationId xmlns:a16="http://schemas.microsoft.com/office/drawing/2014/main" id="{26934FFB-A2C1-33B9-1A59-37DA8B4B8274}"/>
              </a:ext>
            </a:extLst>
          </p:cNvPr>
          <p:cNvGrpSpPr/>
          <p:nvPr/>
        </p:nvGrpSpPr>
        <p:grpSpPr>
          <a:xfrm>
            <a:off x="7226852" y="1277696"/>
            <a:ext cx="3820601" cy="1022772"/>
            <a:chOff x="8124288" y="1370162"/>
            <a:chExt cx="3820601" cy="1022772"/>
          </a:xfrm>
        </p:grpSpPr>
        <p:sp>
          <p:nvSpPr>
            <p:cNvPr id="54" name="Rectangle: Rounded Corners 53">
              <a:extLst>
                <a:ext uri="{FF2B5EF4-FFF2-40B4-BE49-F238E27FC236}">
                  <a16:creationId xmlns:a16="http://schemas.microsoft.com/office/drawing/2014/main" id="{EBA40031-D31C-2A0C-6162-FE18E0C8DF48}"/>
                </a:ext>
              </a:extLst>
            </p:cNvPr>
            <p:cNvSpPr/>
            <p:nvPr/>
          </p:nvSpPr>
          <p:spPr>
            <a:xfrm>
              <a:off x="8268723" y="1633552"/>
              <a:ext cx="3676166" cy="759382"/>
            </a:xfrm>
            <a:prstGeom prst="roundRect">
              <a:avLst>
                <a:gd name="adj" fmla="val 5966"/>
              </a:avLst>
            </a:prstGeom>
            <a:solidFill>
              <a:srgbClr val="CCECFF">
                <a:alpha val="30196"/>
              </a:srgbClr>
            </a:solidFill>
            <a:ln w="19050" cap="flat">
              <a:no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2000" tIns="108000" rIns="144000" bIns="0" numCol="1" spcCol="38100" rtlCol="0" anchor="ctr">
              <a:noAutofit/>
            </a:bodyPr>
            <a:lstStyle/>
            <a:p>
              <a:pPr defTabSz="825500" hangingPunct="0">
                <a:defRPr/>
              </a:pPr>
              <a:r>
                <a:rPr kumimoji="0" lang="it-IT" sz="14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Promo: </a:t>
              </a:r>
              <a:r>
                <a:rPr lang="it-IT" sz="1400" dirty="0">
                  <a:solidFill>
                    <a:srgbClr val="205CA0"/>
                  </a:solidFill>
                  <a:latin typeface="Avenir Next LT Pro" panose="020B0504020202020204" pitchFamily="34" charset="0"/>
                  <a:cs typeface="Poppins" panose="02000000000000000000" pitchFamily="2" charset="0"/>
                  <a:sym typeface="Helvetica Neue Medium"/>
                </a:rPr>
                <a:t>3</a:t>
              </a:r>
              <a:r>
                <a:rPr kumimoji="0" lang="it-IT" sz="1400" b="0"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 mesi </a:t>
              </a:r>
              <a:r>
                <a:rPr lang="it-IT" sz="1400" dirty="0">
                  <a:solidFill>
                    <a:srgbClr val="205CA0"/>
                  </a:solidFill>
                  <a:latin typeface="Avenir Next LT Pro" panose="020B0504020202020204" pitchFamily="34" charset="0"/>
                  <a:cs typeface="Poppins" panose="02000000000000000000" pitchFamily="2" charset="0"/>
                  <a:sym typeface="Helvetica Neue Medium"/>
                </a:rPr>
                <a:t>FREE </a:t>
              </a:r>
              <a:r>
                <a:rPr lang="it-IT" sz="1200" dirty="0">
                  <a:solidFill>
                    <a:srgbClr val="205CA0"/>
                  </a:solidFill>
                  <a:latin typeface="Avenir Next LT Pro" panose="020B0504020202020204" pitchFamily="34" charset="0"/>
                  <a:cs typeface="Poppins" panose="02000000000000000000" pitchFamily="2" charset="0"/>
                  <a:sym typeface="Helvetica Neue Medium"/>
                </a:rPr>
                <a:t>(poi a 3.60 €/mese) </a:t>
              </a:r>
              <a:endParaRPr kumimoji="0" lang="it-IT" sz="1200" b="0"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endParaRP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Controvalore offerta: </a:t>
              </a:r>
              <a:r>
                <a:rPr kumimoji="0" lang="it-IT" sz="12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a:t>
              </a:r>
              <a:r>
                <a:rPr lang="it-IT" sz="1200" b="1" dirty="0">
                  <a:solidFill>
                    <a:srgbClr val="205CA0"/>
                  </a:solidFill>
                  <a:latin typeface="Avenir Next LT Pro" panose="020B0504020202020204" pitchFamily="34" charset="0"/>
                  <a:cs typeface="Poppins" panose="02000000000000000000" pitchFamily="2" charset="0"/>
                  <a:sym typeface="Helvetica Neue Medium"/>
                </a:rPr>
                <a:t>10.80</a:t>
              </a:r>
              <a:endParaRPr kumimoji="0" lang="it-IT" sz="12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endParaRPr>
            </a:p>
          </p:txBody>
        </p:sp>
        <p:sp>
          <p:nvSpPr>
            <p:cNvPr id="55" name="object 42">
              <a:extLst>
                <a:ext uri="{FF2B5EF4-FFF2-40B4-BE49-F238E27FC236}">
                  <a16:creationId xmlns:a16="http://schemas.microsoft.com/office/drawing/2014/main" id="{484A6610-415B-BE0C-AFB3-71147E74D331}"/>
                </a:ext>
              </a:extLst>
            </p:cNvPr>
            <p:cNvSpPr txBox="1"/>
            <p:nvPr/>
          </p:nvSpPr>
          <p:spPr>
            <a:xfrm>
              <a:off x="8297334" y="1418968"/>
              <a:ext cx="2808000" cy="262389"/>
            </a:xfrm>
            <a:prstGeom prst="roundRect">
              <a:avLst>
                <a:gd name="adj" fmla="val 49298"/>
              </a:avLst>
            </a:prstGeom>
            <a:solidFill>
              <a:srgbClr val="FEE01A"/>
            </a:solidFill>
            <a:ln w="12700">
              <a:noFill/>
              <a:miter lim="400000"/>
            </a:ln>
          </p:spPr>
          <p:txBody>
            <a:bodyPr lIns="216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205CA0"/>
                  </a:solidFill>
                  <a:effectLst/>
                  <a:uLnTx/>
                  <a:uFillTx/>
                  <a:latin typeface="Avenir Next LT Pro"/>
                </a:rPr>
                <a:t>ASSISTENZA STRADALE EU</a:t>
              </a:r>
              <a:endParaRPr kumimoji="0" lang="it-IT" sz="1400" b="0" i="0" u="none" strike="noStrike" kern="0" cap="none" spc="0" normalizeH="0" baseline="0" noProof="0">
                <a:ln>
                  <a:noFill/>
                </a:ln>
                <a:solidFill>
                  <a:srgbClr val="205CA0"/>
                </a:solidFill>
                <a:effectLst/>
                <a:uLnTx/>
                <a:uFillTx/>
                <a:latin typeface="Avenir Next LT Pro"/>
              </a:endParaRPr>
            </a:p>
          </p:txBody>
        </p:sp>
        <p:sp>
          <p:nvSpPr>
            <p:cNvPr id="57" name="Oval 56">
              <a:extLst>
                <a:ext uri="{FF2B5EF4-FFF2-40B4-BE49-F238E27FC236}">
                  <a16:creationId xmlns:a16="http://schemas.microsoft.com/office/drawing/2014/main" id="{F104E7FD-95E3-4AD8-DEB5-114CCAD565AC}"/>
                </a:ext>
              </a:extLst>
            </p:cNvPr>
            <p:cNvSpPr/>
            <p:nvPr/>
          </p:nvSpPr>
          <p:spPr>
            <a:xfrm>
              <a:off x="8124288" y="1370162"/>
              <a:ext cx="360000" cy="360000"/>
            </a:xfrm>
            <a:prstGeom prst="ellipse">
              <a:avLst/>
            </a:prstGeom>
            <a:solidFill>
              <a:srgbClr val="205CA0"/>
            </a:solidFill>
            <a:ln w="19050" cap="flat">
              <a:solidFill>
                <a:srgbClr val="0057B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pic>
          <p:nvPicPr>
            <p:cNvPr id="59" name="Picture 58">
              <a:extLst>
                <a:ext uri="{FF2B5EF4-FFF2-40B4-BE49-F238E27FC236}">
                  <a16:creationId xmlns:a16="http://schemas.microsoft.com/office/drawing/2014/main" id="{21919D1B-82E6-6DFA-67F2-68BAB3598000}"/>
                </a:ext>
              </a:extLst>
            </p:cNvPr>
            <p:cNvPicPr>
              <a:picLocks noChangeAspect="1"/>
            </p:cNvPicPr>
            <p:nvPr/>
          </p:nvPicPr>
          <p:blipFill>
            <a:blip r:embed="rId6">
              <a:lum bright="70000" contrast="-70000"/>
            </a:blip>
            <a:stretch>
              <a:fillRect/>
            </a:stretch>
          </p:blipFill>
          <p:spPr>
            <a:xfrm>
              <a:off x="8165274" y="1390212"/>
              <a:ext cx="288000" cy="288000"/>
            </a:xfrm>
            <a:prstGeom prst="rect">
              <a:avLst/>
            </a:prstGeom>
          </p:spPr>
        </p:pic>
      </p:grpSp>
      <p:sp>
        <p:nvSpPr>
          <p:cNvPr id="10" name="Rectangle 9">
            <a:extLst>
              <a:ext uri="{FF2B5EF4-FFF2-40B4-BE49-F238E27FC236}">
                <a16:creationId xmlns:a16="http://schemas.microsoft.com/office/drawing/2014/main" id="{16A3FE71-6FDF-51C1-015C-D362D76E8CE5}"/>
              </a:ext>
            </a:extLst>
          </p:cNvPr>
          <p:cNvSpPr/>
          <p:nvPr/>
        </p:nvSpPr>
        <p:spPr>
          <a:xfrm>
            <a:off x="852758" y="1208262"/>
            <a:ext cx="4941869" cy="5566226"/>
          </a:xfrm>
          <a:prstGeom prst="rect">
            <a:avLst/>
          </a:prstGeom>
          <a:solidFill>
            <a:srgbClr val="FDFDFD"/>
          </a:solidFill>
          <a:ln w="1905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graphicFrame>
        <p:nvGraphicFramePr>
          <p:cNvPr id="13" name="Oggetto 12" hidden="1">
            <a:extLst>
              <a:ext uri="{FF2B5EF4-FFF2-40B4-BE49-F238E27FC236}">
                <a16:creationId xmlns:a16="http://schemas.microsoft.com/office/drawing/2014/main" id="{F2AD966A-6717-729B-ED24-AA51363E9D9A}"/>
              </a:ext>
            </a:extLst>
          </p:cNvPr>
          <p:cNvGraphicFramePr>
            <a:graphicFrameLocks noChangeAspect="1"/>
          </p:cNvGraphicFramePr>
          <p:nvPr>
            <p:custDataLst>
              <p:tags r:id="rId1"/>
            </p:custData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7" imgW="503" imgH="503" progId="TCLayout.ActiveDocument.1">
                  <p:embed/>
                </p:oleObj>
              </mc:Choice>
              <mc:Fallback>
                <p:oleObj name="think-cell Slide" r:id="rId7" imgW="503" imgH="503" progId="TCLayout.ActiveDocument.1">
                  <p:embed/>
                  <p:pic>
                    <p:nvPicPr>
                      <p:cNvPr id="13" name="Oggetto 12" hidden="1">
                        <a:extLst>
                          <a:ext uri="{FF2B5EF4-FFF2-40B4-BE49-F238E27FC236}">
                            <a16:creationId xmlns:a16="http://schemas.microsoft.com/office/drawing/2014/main" id="{F2AD966A-6717-729B-ED24-AA51363E9D9A}"/>
                          </a:ext>
                        </a:extLst>
                      </p:cNvPr>
                      <p:cNvPicPr/>
                      <p:nvPr/>
                    </p:nvPicPr>
                    <p:blipFill>
                      <a:blip r:embed="rId8"/>
                      <a:stretch>
                        <a:fillRect/>
                      </a:stretch>
                    </p:blipFill>
                    <p:spPr>
                      <a:xfrm>
                        <a:off x="794" y="794"/>
                        <a:ext cx="794" cy="794"/>
                      </a:xfrm>
                      <a:prstGeom prst="rect">
                        <a:avLst/>
                      </a:prstGeom>
                    </p:spPr>
                  </p:pic>
                </p:oleObj>
              </mc:Fallback>
            </mc:AlternateContent>
          </a:graphicData>
        </a:graphic>
      </p:graphicFrame>
      <p:sp>
        <p:nvSpPr>
          <p:cNvPr id="2" name="Segnaposto numero diapositiva 1">
            <a:extLst>
              <a:ext uri="{FF2B5EF4-FFF2-40B4-BE49-F238E27FC236}">
                <a16:creationId xmlns:a16="http://schemas.microsoft.com/office/drawing/2014/main" id="{7D41125A-4D9C-2156-4766-2E8C632C2811}"/>
              </a:ext>
            </a:extLst>
          </p:cNvPr>
          <p:cNvSpPr txBox="1">
            <a:spLocks/>
          </p:cNvSpPr>
          <p:nvPr/>
        </p:nvSpPr>
        <p:spPr>
          <a:xfrm>
            <a:off x="11710915" y="6458097"/>
            <a:ext cx="173270" cy="364935"/>
          </a:xfrm>
          <a:prstGeom prst="rect">
            <a:avLst/>
          </a:prstGeom>
          <a:noFill/>
        </p:spPr>
        <p:txBody>
          <a:bodyPr vert="horz" wrap="none" lIns="0" tIns="0" rIns="0" bIns="0" rtlCol="0" anchor="ctr">
            <a:noAutofit/>
          </a:bodyPr>
          <a:lstStyle>
            <a:defPPr>
              <a:defRPr lang="it-IT"/>
            </a:defPPr>
            <a:lvl1pPr marL="0" algn="l" defTabSz="914400" rtl="0" eaLnBrk="1" latinLnBrk="0" hangingPunct="1">
              <a:lnSpc>
                <a:spcPct val="100000"/>
              </a:lnSpc>
              <a:defRPr lang="en-GB" sz="100" kern="1200" smtClean="0">
                <a:solidFill>
                  <a:srgbClr val="E6E6E6"/>
                </a:solidFill>
                <a:latin typeface="Arial" panose="020B0604020202020204" pitchFamily="34" charset="0"/>
                <a:ea typeface="Arial SF MT"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8F195DD-C741-A946-923F-EAE98B8B4B71}" type="slidenum">
              <a:rPr kumimoji="0" lang="en-US" sz="1199" b="0" i="0" u="none" strike="noStrike" kern="1200" cap="none" spc="0" normalizeH="0" baseline="0" noProof="0">
                <a:ln>
                  <a:noFill/>
                </a:ln>
                <a:solidFill>
                  <a:srgbClr val="000000"/>
                </a:solidFill>
                <a:effectLst/>
                <a:uLnTx/>
                <a:uFillTx/>
                <a:latin typeface="Avenir Next LT Pro" panose="020B0504020202020204" pitchFamily="34" charset="0"/>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199" b="0" i="0" u="none" strike="noStrike" kern="1200" cap="none" spc="0" normalizeH="0" baseline="0" noProof="0">
              <a:ln>
                <a:noFill/>
              </a:ln>
              <a:solidFill>
                <a:srgbClr val="000000"/>
              </a:solidFill>
              <a:effectLst/>
              <a:uLnTx/>
              <a:uFillTx/>
              <a:latin typeface="Avenir Next LT Pro" panose="020B0504020202020204" pitchFamily="34" charset="0"/>
              <a:cs typeface="Arial" panose="020B0604020202020204" pitchFamily="34" charset="0"/>
            </a:endParaRPr>
          </a:p>
        </p:txBody>
      </p:sp>
      <p:sp>
        <p:nvSpPr>
          <p:cNvPr id="7" name="Text Placeholder 1">
            <a:extLst>
              <a:ext uri="{FF2B5EF4-FFF2-40B4-BE49-F238E27FC236}">
                <a16:creationId xmlns:a16="http://schemas.microsoft.com/office/drawing/2014/main" id="{C3FEAF5A-773B-D6BB-33DC-AAB3814EDD40}"/>
              </a:ext>
            </a:extLst>
          </p:cNvPr>
          <p:cNvSpPr txBox="1">
            <a:spLocks/>
          </p:cNvSpPr>
          <p:nvPr/>
        </p:nvSpPr>
        <p:spPr>
          <a:xfrm>
            <a:off x="818300" y="254975"/>
            <a:ext cx="10249321" cy="781824"/>
          </a:xfrm>
          <a:prstGeom prst="rect">
            <a:avLst/>
          </a:prstGeom>
        </p:spPr>
        <p:txBody>
          <a:bodyPr vert="horz" lIns="91344" tIns="45672" rIns="91344" bIns="45672" rtlCol="0" anchor="t">
            <a:normAutofit lnSpcReduction="10000"/>
          </a:bodyPr>
          <a:lstStyle>
            <a:lvl1pPr marL="0" indent="0" algn="l" defTabSz="913943" rtl="0" eaLnBrk="1" latinLnBrk="0" hangingPunct="1">
              <a:lnSpc>
                <a:spcPct val="90000"/>
              </a:lnSpc>
              <a:spcBef>
                <a:spcPts val="0"/>
              </a:spcBef>
              <a:buFont typeface="Arial" panose="020B0604020202020204" pitchFamily="34" charset="0"/>
              <a:buNone/>
              <a:defRPr lang="en-US" sz="2999" b="0" kern="1200" dirty="0">
                <a:solidFill>
                  <a:srgbClr val="0057B7"/>
                </a:solidFill>
                <a:latin typeface="Avenir Next LT Pro" panose="020B0504020202020204" pitchFamily="34" charset="0"/>
                <a:ea typeface="+mn-ea"/>
                <a:cs typeface="Poppins" panose="00000500000000000000" pitchFamily="2" charset="0"/>
              </a:defRPr>
            </a:lvl1pPr>
            <a:lvl2pPr marL="685457" indent="-228486" algn="l" defTabSz="913943"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429" indent="-228486" algn="l" defTabSz="913943"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400" indent="-228486" algn="l" defTabSz="91394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371" indent="-228486" algn="l" defTabSz="91394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343" indent="-228486" algn="l" defTabSz="91394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314" indent="-228486" algn="l" defTabSz="91394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286" indent="-228486" algn="l" defTabSz="91394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257" indent="-228486" algn="l" defTabSz="913943"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3943"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it-IT" sz="2800" b="1" i="0" u="none" strike="noStrike" kern="1200" cap="none" spc="0" normalizeH="0" baseline="0" noProof="0" dirty="0">
                <a:ln>
                  <a:noFill/>
                </a:ln>
                <a:solidFill>
                  <a:srgbClr val="0057B7"/>
                </a:solidFill>
                <a:effectLst/>
                <a:uLnTx/>
                <a:uFillTx/>
                <a:latin typeface="Avenir Next LT Pro"/>
                <a:ea typeface="+mn-ea"/>
                <a:cs typeface="Poppins"/>
              </a:rPr>
              <a:t>Promozioni offerta </a:t>
            </a:r>
            <a:r>
              <a:rPr kumimoji="0" lang="it-IT" sz="2800" b="1" i="0" u="none" strike="noStrike" kern="1200" cap="none" spc="0" normalizeH="0" baseline="0" noProof="0" dirty="0" err="1">
                <a:ln>
                  <a:noFill/>
                </a:ln>
                <a:solidFill>
                  <a:srgbClr val="0057B7"/>
                </a:solidFill>
                <a:effectLst/>
                <a:uLnTx/>
                <a:uFillTx/>
                <a:latin typeface="Avenir Next LT Pro"/>
                <a:ea typeface="+mn-ea"/>
                <a:cs typeface="Poppins"/>
              </a:rPr>
              <a:t>massmarket</a:t>
            </a:r>
            <a:r>
              <a:rPr kumimoji="0" lang="it-IT" sz="2800" b="1" i="0" u="none" strike="noStrike" kern="1200" cap="none" spc="0" normalizeH="0" baseline="0" noProof="0" dirty="0">
                <a:ln>
                  <a:noFill/>
                </a:ln>
                <a:solidFill>
                  <a:srgbClr val="0057B7"/>
                </a:solidFill>
                <a:effectLst/>
                <a:uLnTx/>
                <a:uFillTx/>
                <a:latin typeface="Avenir Next LT Pro"/>
                <a:ea typeface="+mn-ea"/>
                <a:cs typeface="Poppins"/>
              </a:rPr>
              <a:t> / standalone </a:t>
            </a:r>
          </a:p>
          <a:p>
            <a:pPr marL="0" marR="0" lvl="0" indent="0" algn="l" defTabSz="913943"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it-IT" sz="2600" b="1" i="0" u="sng" strike="noStrike" kern="1200" cap="none" spc="0" normalizeH="0" baseline="0" noProof="0" dirty="0">
                <a:ln>
                  <a:noFill/>
                </a:ln>
                <a:solidFill>
                  <a:srgbClr val="0057B7"/>
                </a:solidFill>
                <a:effectLst/>
                <a:uLnTx/>
                <a:uFillTx/>
                <a:latin typeface="Avenir Next LT Pro"/>
                <a:ea typeface="+mn-ea"/>
                <a:cs typeface="Poppins"/>
              </a:rPr>
              <a:t>valide fino al 31/03</a:t>
            </a:r>
            <a:endParaRPr kumimoji="0" lang="it-IT" sz="2600" b="0" i="1" u="sng" strike="noStrike" kern="1200" cap="none" spc="0" normalizeH="0" baseline="0" noProof="0" dirty="0">
              <a:ln>
                <a:noFill/>
              </a:ln>
              <a:solidFill>
                <a:srgbClr val="0057B7"/>
              </a:solidFill>
              <a:effectLst/>
              <a:uLnTx/>
              <a:uFillTx/>
              <a:latin typeface="Avenir Next LT Pro"/>
              <a:ea typeface="+mn-ea"/>
              <a:cs typeface="Poppins"/>
            </a:endParaRPr>
          </a:p>
        </p:txBody>
      </p:sp>
      <p:sp>
        <p:nvSpPr>
          <p:cNvPr id="5" name="TextBox 4">
            <a:extLst>
              <a:ext uri="{FF2B5EF4-FFF2-40B4-BE49-F238E27FC236}">
                <a16:creationId xmlns:a16="http://schemas.microsoft.com/office/drawing/2014/main" id="{7A22C657-F8C0-CFEA-5C70-598F8306AE68}"/>
              </a:ext>
            </a:extLst>
          </p:cNvPr>
          <p:cNvSpPr txBox="1"/>
          <p:nvPr/>
        </p:nvSpPr>
        <p:spPr>
          <a:xfrm>
            <a:off x="6769046" y="5343944"/>
            <a:ext cx="4941869" cy="7848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900" b="1" i="1" u="none" strike="noStrike" kern="1200" cap="none" spc="0" normalizeH="0" baseline="0" noProof="0" dirty="0">
                <a:ln>
                  <a:noFill/>
                </a:ln>
                <a:solidFill>
                  <a:srgbClr val="2059A8"/>
                </a:solidFill>
                <a:effectLst/>
                <a:uLnTx/>
                <a:uFillTx/>
                <a:latin typeface="Avenir Next LT Pro"/>
              </a:rPr>
              <a:t>*50€ di cashback su carburante solo su rete ENI </a:t>
            </a:r>
            <a:r>
              <a:rPr kumimoji="0" lang="it-IT" sz="900" i="1" u="none" strike="noStrike" kern="1200" cap="none" spc="0" normalizeH="0" baseline="0" noProof="0" dirty="0">
                <a:ln>
                  <a:noFill/>
                </a:ln>
                <a:solidFill>
                  <a:srgbClr val="2059A8"/>
                </a:solidFill>
                <a:effectLst/>
                <a:uLnTx/>
                <a:uFillTx/>
                <a:latin typeface="Avenir Next LT Pro"/>
              </a:rPr>
              <a:t>con tetto mensile di </a:t>
            </a:r>
            <a:r>
              <a:rPr kumimoji="0" lang="it-IT" sz="900" b="1" i="1" u="none" strike="noStrike" kern="1200" cap="none" spc="0" normalizeH="0" baseline="0" noProof="0" dirty="0">
                <a:ln>
                  <a:noFill/>
                </a:ln>
                <a:solidFill>
                  <a:srgbClr val="2059A8"/>
                </a:solidFill>
                <a:effectLst/>
                <a:uLnTx/>
                <a:uFillTx/>
                <a:latin typeface="Avenir Next LT Pro"/>
              </a:rPr>
              <a:t>10€ x 5 mesi </a:t>
            </a:r>
            <a:r>
              <a:rPr kumimoji="0" lang="it-IT" sz="900" i="1" u="none" strike="noStrike" kern="1200" cap="none" spc="0" normalizeH="0" baseline="0" noProof="0" dirty="0">
                <a:ln>
                  <a:noFill/>
                </a:ln>
                <a:solidFill>
                  <a:srgbClr val="2059A8"/>
                </a:solidFill>
                <a:effectLst/>
                <a:uLnTx/>
                <a:uFillTx/>
                <a:latin typeface="Avenir Next LT Pro"/>
              </a:rPr>
              <a:t>su importo minimo transazione di </a:t>
            </a:r>
            <a:r>
              <a:rPr kumimoji="0" lang="it-IT" sz="900" b="1" i="1" u="none" strike="noStrike" kern="1200" cap="none" spc="0" normalizeH="0" baseline="0" noProof="0" dirty="0">
                <a:ln>
                  <a:noFill/>
                </a:ln>
                <a:solidFill>
                  <a:srgbClr val="2059A8"/>
                </a:solidFill>
                <a:effectLst/>
                <a:uLnTx/>
                <a:uFillTx/>
                <a:latin typeface="Avenir Next LT Pro"/>
              </a:rPr>
              <a:t>30€ </a:t>
            </a:r>
            <a:r>
              <a:rPr kumimoji="0" lang="it-IT" sz="900" i="1" u="none" strike="noStrike" kern="1200" cap="none" spc="0" normalizeH="0" baseline="0" noProof="0" dirty="0">
                <a:ln>
                  <a:noFill/>
                </a:ln>
                <a:solidFill>
                  <a:srgbClr val="2059A8"/>
                </a:solidFill>
                <a:effectLst/>
                <a:uLnTx/>
                <a:uFillTx/>
                <a:latin typeface="Avenir Next LT Pro"/>
              </a:rPr>
              <a:t>con necessità di inserire del codice promo: </a:t>
            </a:r>
            <a:r>
              <a:rPr kumimoji="0" lang="it-IT" sz="900" b="1" i="1" u="none" strike="noStrike" kern="1200" cap="none" spc="0" normalizeH="0" baseline="0" noProof="0" dirty="0">
                <a:ln>
                  <a:noFill/>
                </a:ln>
                <a:solidFill>
                  <a:srgbClr val="2059A8"/>
                </a:solidFill>
                <a:effectLst/>
                <a:uLnTx/>
                <a:uFillTx/>
                <a:latin typeface="Avenir Next LT Pro"/>
              </a:rPr>
              <a:t>INVERNO26</a:t>
            </a:r>
            <a:r>
              <a:rPr lang="it-IT" sz="900" b="1" i="1" dirty="0">
                <a:solidFill>
                  <a:srgbClr val="2059A8"/>
                </a:solidFill>
                <a:latin typeface="Avenir Next LT Pro"/>
              </a:rPr>
              <a:t> - </a:t>
            </a:r>
            <a:r>
              <a:rPr kumimoji="0" lang="it-IT" sz="900" i="1" u="none" strike="noStrike" kern="1200" cap="none" spc="0" normalizeH="0" baseline="0" noProof="0" dirty="0">
                <a:ln>
                  <a:noFill/>
                </a:ln>
                <a:solidFill>
                  <a:srgbClr val="2059A8"/>
                </a:solidFill>
                <a:effectLst/>
                <a:uLnTx/>
                <a:uFillTx/>
                <a:latin typeface="Avenir Next LT Pro"/>
              </a:rPr>
              <a:t>periodo inserimento codici: entro 15 giorni dall’attivazione del contratto, max 15 aprile 2026</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900" b="1" i="1" dirty="0">
              <a:solidFill>
                <a:srgbClr val="2059A8"/>
              </a:solidFill>
              <a:latin typeface="Avenir Next LT Pro"/>
            </a:endParaRPr>
          </a:p>
        </p:txBody>
      </p:sp>
      <p:sp>
        <p:nvSpPr>
          <p:cNvPr id="46" name="object 42">
            <a:extLst>
              <a:ext uri="{FF2B5EF4-FFF2-40B4-BE49-F238E27FC236}">
                <a16:creationId xmlns:a16="http://schemas.microsoft.com/office/drawing/2014/main" id="{9BE92FDD-324B-3314-F1E9-2001779DD68F}"/>
              </a:ext>
            </a:extLst>
          </p:cNvPr>
          <p:cNvSpPr txBox="1"/>
          <p:nvPr/>
        </p:nvSpPr>
        <p:spPr>
          <a:xfrm rot="16200000">
            <a:off x="-1860559" y="3865964"/>
            <a:ext cx="5566226" cy="250822"/>
          </a:xfrm>
          <a:prstGeom prst="roundRect">
            <a:avLst>
              <a:gd name="adj" fmla="val 49298"/>
            </a:avLst>
          </a:prstGeom>
          <a:solidFill>
            <a:srgbClr val="205CA0"/>
          </a:solidFill>
          <a:ln w="12700">
            <a:noFill/>
            <a:miter lim="400000"/>
          </a:ln>
        </p:spPr>
        <p:txBody>
          <a:bodyPr lIns="72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Avenir Next LT Pro"/>
              </a:rPr>
              <a:t>PROSPECT</a:t>
            </a:r>
            <a:endParaRPr kumimoji="0" lang="it-IT" sz="1600" b="0" i="0" u="none" strike="noStrike" kern="0" cap="none" spc="0" normalizeH="0" baseline="0" noProof="0">
              <a:ln>
                <a:noFill/>
              </a:ln>
              <a:solidFill>
                <a:schemeClr val="bg1"/>
              </a:solidFill>
              <a:effectLst/>
              <a:uLnTx/>
              <a:uFillTx/>
              <a:latin typeface="Avenir Next LT Pro"/>
            </a:endParaRPr>
          </a:p>
        </p:txBody>
      </p:sp>
      <p:grpSp>
        <p:nvGrpSpPr>
          <p:cNvPr id="68" name="Group 67">
            <a:extLst>
              <a:ext uri="{FF2B5EF4-FFF2-40B4-BE49-F238E27FC236}">
                <a16:creationId xmlns:a16="http://schemas.microsoft.com/office/drawing/2014/main" id="{0D4B0516-42C6-CA66-21C9-2F06893A582A}"/>
              </a:ext>
            </a:extLst>
          </p:cNvPr>
          <p:cNvGrpSpPr/>
          <p:nvPr/>
        </p:nvGrpSpPr>
        <p:grpSpPr>
          <a:xfrm>
            <a:off x="1305289" y="1277696"/>
            <a:ext cx="3825619" cy="1022772"/>
            <a:chOff x="179163" y="1370162"/>
            <a:chExt cx="3825619" cy="1022772"/>
          </a:xfrm>
        </p:grpSpPr>
        <p:sp>
          <p:nvSpPr>
            <p:cNvPr id="44" name="Rectangle: Rounded Corners 43">
              <a:extLst>
                <a:ext uri="{FF2B5EF4-FFF2-40B4-BE49-F238E27FC236}">
                  <a16:creationId xmlns:a16="http://schemas.microsoft.com/office/drawing/2014/main" id="{4CFA1421-183E-E3F0-859A-9819023029BF}"/>
                </a:ext>
              </a:extLst>
            </p:cNvPr>
            <p:cNvSpPr/>
            <p:nvPr/>
          </p:nvSpPr>
          <p:spPr>
            <a:xfrm>
              <a:off x="328616" y="1633552"/>
              <a:ext cx="3676166" cy="759382"/>
            </a:xfrm>
            <a:prstGeom prst="roundRect">
              <a:avLst>
                <a:gd name="adj" fmla="val 5966"/>
              </a:avLst>
            </a:prstGeom>
            <a:solidFill>
              <a:srgbClr val="CCECFF">
                <a:alpha val="30196"/>
              </a:srgbClr>
            </a:solidFill>
            <a:ln w="19050" cap="flat">
              <a:no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2000" tIns="108000" rIns="144000" bIns="0" numCol="1" spcCol="38100" rtlCol="0" anchor="ctr">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Promo: </a:t>
              </a:r>
              <a:r>
                <a:rPr kumimoji="0" lang="it-IT" sz="14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12 mesi FREE </a:t>
              </a:r>
              <a:r>
                <a:rPr kumimoji="0" lang="it-IT" sz="12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(poi a 3.90 €/mese) </a:t>
              </a: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Controvalore offerta: </a:t>
              </a:r>
              <a:r>
                <a:rPr kumimoji="0" lang="it-IT" sz="12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€46,8</a:t>
              </a:r>
            </a:p>
          </p:txBody>
        </p:sp>
        <p:sp>
          <p:nvSpPr>
            <p:cNvPr id="3" name="object 42">
              <a:extLst>
                <a:ext uri="{FF2B5EF4-FFF2-40B4-BE49-F238E27FC236}">
                  <a16:creationId xmlns:a16="http://schemas.microsoft.com/office/drawing/2014/main" id="{74F5E19D-3347-D1C1-F898-6DF6FDDA3CB0}"/>
                </a:ext>
              </a:extLst>
            </p:cNvPr>
            <p:cNvSpPr txBox="1"/>
            <p:nvPr/>
          </p:nvSpPr>
          <p:spPr>
            <a:xfrm>
              <a:off x="357227" y="1418968"/>
              <a:ext cx="1836000" cy="262389"/>
            </a:xfrm>
            <a:prstGeom prst="roundRect">
              <a:avLst>
                <a:gd name="adj" fmla="val 49298"/>
              </a:avLst>
            </a:prstGeom>
            <a:solidFill>
              <a:srgbClr val="FEE01A"/>
            </a:solidFill>
            <a:ln w="12700">
              <a:noFill/>
              <a:miter lim="400000"/>
            </a:ln>
          </p:spPr>
          <p:txBody>
            <a:bodyPr lIns="216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205CA0"/>
                  </a:solidFill>
                  <a:effectLst/>
                  <a:uLnTx/>
                  <a:uFillTx/>
                  <a:latin typeface="Avenir Next LT Pro"/>
                </a:rPr>
                <a:t>TELEPASS BASE</a:t>
              </a:r>
              <a:endParaRPr kumimoji="0" lang="it-IT" sz="1400" b="0" i="0" u="none" strike="noStrike" kern="0" cap="none" spc="0" normalizeH="0" baseline="0" noProof="0">
                <a:ln>
                  <a:noFill/>
                </a:ln>
                <a:solidFill>
                  <a:srgbClr val="205CA0"/>
                </a:solidFill>
                <a:effectLst/>
                <a:uLnTx/>
                <a:uFillTx/>
                <a:latin typeface="Avenir Next LT Pro"/>
              </a:endParaRPr>
            </a:p>
          </p:txBody>
        </p:sp>
        <p:grpSp>
          <p:nvGrpSpPr>
            <p:cNvPr id="6" name="Group 5">
              <a:extLst>
                <a:ext uri="{FF2B5EF4-FFF2-40B4-BE49-F238E27FC236}">
                  <a16:creationId xmlns:a16="http://schemas.microsoft.com/office/drawing/2014/main" id="{89C98AD9-10BD-4A2A-ED44-671386DB9DF9}"/>
                </a:ext>
              </a:extLst>
            </p:cNvPr>
            <p:cNvGrpSpPr/>
            <p:nvPr/>
          </p:nvGrpSpPr>
          <p:grpSpPr>
            <a:xfrm>
              <a:off x="179163" y="1370162"/>
              <a:ext cx="360000" cy="360000"/>
              <a:chOff x="711682" y="1592388"/>
              <a:chExt cx="360000" cy="360000"/>
            </a:xfrm>
          </p:grpSpPr>
          <p:sp>
            <p:nvSpPr>
              <p:cNvPr id="4" name="Oval 3">
                <a:extLst>
                  <a:ext uri="{FF2B5EF4-FFF2-40B4-BE49-F238E27FC236}">
                    <a16:creationId xmlns:a16="http://schemas.microsoft.com/office/drawing/2014/main" id="{7C58BA77-9AA0-941A-522E-BA924CEC6C36}"/>
                  </a:ext>
                </a:extLst>
              </p:cNvPr>
              <p:cNvSpPr/>
              <p:nvPr/>
            </p:nvSpPr>
            <p:spPr>
              <a:xfrm>
                <a:off x="711682" y="1592388"/>
                <a:ext cx="360000" cy="360000"/>
              </a:xfrm>
              <a:prstGeom prst="ellipse">
                <a:avLst/>
              </a:prstGeom>
              <a:solidFill>
                <a:srgbClr val="205CA0"/>
              </a:solidFill>
              <a:ln w="19050" cap="flat">
                <a:solidFill>
                  <a:srgbClr val="0057B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pic>
            <p:nvPicPr>
              <p:cNvPr id="48" name="Image 4" descr=" ">
                <a:extLst>
                  <a:ext uri="{FF2B5EF4-FFF2-40B4-BE49-F238E27FC236}">
                    <a16:creationId xmlns:a16="http://schemas.microsoft.com/office/drawing/2014/main" id="{916FD78D-63BF-6121-72BF-70997616AB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317" y="1654235"/>
                <a:ext cx="320731" cy="236307"/>
              </a:xfrm>
              <a:prstGeom prst="rect">
                <a:avLst/>
              </a:prstGeom>
            </p:spPr>
          </p:pic>
        </p:grpSp>
      </p:grpSp>
      <p:grpSp>
        <p:nvGrpSpPr>
          <p:cNvPr id="69" name="Group 68">
            <a:extLst>
              <a:ext uri="{FF2B5EF4-FFF2-40B4-BE49-F238E27FC236}">
                <a16:creationId xmlns:a16="http://schemas.microsoft.com/office/drawing/2014/main" id="{5CE35861-60BE-3368-011A-0F7F4C751E11}"/>
              </a:ext>
            </a:extLst>
          </p:cNvPr>
          <p:cNvGrpSpPr/>
          <p:nvPr/>
        </p:nvGrpSpPr>
        <p:grpSpPr>
          <a:xfrm>
            <a:off x="1305289" y="2366401"/>
            <a:ext cx="3825619" cy="1022772"/>
            <a:chOff x="4149216" y="1370162"/>
            <a:chExt cx="3825619" cy="1022772"/>
          </a:xfrm>
        </p:grpSpPr>
        <p:sp>
          <p:nvSpPr>
            <p:cNvPr id="8" name="Rectangle: Rounded Corners 7">
              <a:extLst>
                <a:ext uri="{FF2B5EF4-FFF2-40B4-BE49-F238E27FC236}">
                  <a16:creationId xmlns:a16="http://schemas.microsoft.com/office/drawing/2014/main" id="{35CF78A5-02EA-13CD-F6AF-4D8D7112F738}"/>
                </a:ext>
              </a:extLst>
            </p:cNvPr>
            <p:cNvSpPr/>
            <p:nvPr/>
          </p:nvSpPr>
          <p:spPr>
            <a:xfrm>
              <a:off x="4298669" y="1633552"/>
              <a:ext cx="3676166" cy="759382"/>
            </a:xfrm>
            <a:prstGeom prst="roundRect">
              <a:avLst>
                <a:gd name="adj" fmla="val 5966"/>
              </a:avLst>
            </a:prstGeom>
            <a:solidFill>
              <a:srgbClr val="CCECFF">
                <a:alpha val="30196"/>
              </a:srgbClr>
            </a:solidFill>
            <a:ln w="19050" cap="flat">
              <a:no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2000" tIns="108000" rIns="144000" bIns="0" numCol="1" spcCol="38100" rtlCol="0" anchor="ctr">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Promo: </a:t>
              </a:r>
              <a:r>
                <a:rPr kumimoji="0" lang="it-IT" sz="1400" b="0"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50€ Cash-Back </a:t>
              </a:r>
              <a:r>
                <a:rPr kumimoji="0" lang="it-IT" sz="1400" b="0" i="0" u="none" strike="noStrike" kern="1200" cap="none" spc="0" normalizeH="0" baseline="0" noProof="0" dirty="0" err="1">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fuel</a:t>
              </a:r>
              <a:r>
                <a:rPr kumimoji="0" lang="it-IT" sz="1400" b="0"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 </a:t>
              </a: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Controvalore offerta: </a:t>
              </a:r>
              <a:r>
                <a:rPr kumimoji="0" lang="it-IT" sz="12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€50</a:t>
              </a:r>
            </a:p>
          </p:txBody>
        </p:sp>
        <p:sp>
          <p:nvSpPr>
            <p:cNvPr id="9" name="object 42">
              <a:extLst>
                <a:ext uri="{FF2B5EF4-FFF2-40B4-BE49-F238E27FC236}">
                  <a16:creationId xmlns:a16="http://schemas.microsoft.com/office/drawing/2014/main" id="{DA7E74BF-4723-B25E-C363-4FFB1502437F}"/>
                </a:ext>
              </a:extLst>
            </p:cNvPr>
            <p:cNvSpPr txBox="1"/>
            <p:nvPr/>
          </p:nvSpPr>
          <p:spPr>
            <a:xfrm>
              <a:off x="4327280" y="1418968"/>
              <a:ext cx="1980000" cy="262389"/>
            </a:xfrm>
            <a:prstGeom prst="roundRect">
              <a:avLst>
                <a:gd name="adj" fmla="val 49298"/>
              </a:avLst>
            </a:prstGeom>
            <a:solidFill>
              <a:srgbClr val="FEE01A"/>
            </a:solidFill>
            <a:ln w="12700">
              <a:noFill/>
              <a:miter lim="400000"/>
            </a:ln>
          </p:spPr>
          <p:txBody>
            <a:bodyPr lIns="216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dirty="0">
                  <a:ln>
                    <a:noFill/>
                  </a:ln>
                  <a:solidFill>
                    <a:srgbClr val="205CA0"/>
                  </a:solidFill>
                  <a:effectLst/>
                  <a:uLnTx/>
                  <a:uFillTx/>
                  <a:latin typeface="Avenir Next LT Pro"/>
                </a:rPr>
                <a:t>CASHBACK FUEL</a:t>
              </a:r>
              <a:endParaRPr kumimoji="0" lang="it-IT" sz="1400" b="0" i="0" u="none" strike="noStrike" kern="0" cap="none" spc="0" normalizeH="0" baseline="0" noProof="0" dirty="0">
                <a:ln>
                  <a:noFill/>
                </a:ln>
                <a:solidFill>
                  <a:srgbClr val="205CA0"/>
                </a:solidFill>
                <a:effectLst/>
                <a:uLnTx/>
                <a:uFillTx/>
                <a:latin typeface="Avenir Next LT Pro"/>
              </a:endParaRPr>
            </a:p>
          </p:txBody>
        </p:sp>
        <p:sp>
          <p:nvSpPr>
            <p:cNvPr id="11" name="Oval 10">
              <a:extLst>
                <a:ext uri="{FF2B5EF4-FFF2-40B4-BE49-F238E27FC236}">
                  <a16:creationId xmlns:a16="http://schemas.microsoft.com/office/drawing/2014/main" id="{849B9FDA-0AFB-0B12-81F5-9481BBA766D0}"/>
                </a:ext>
              </a:extLst>
            </p:cNvPr>
            <p:cNvSpPr/>
            <p:nvPr/>
          </p:nvSpPr>
          <p:spPr>
            <a:xfrm>
              <a:off x="4149216" y="1370162"/>
              <a:ext cx="360000" cy="360000"/>
            </a:xfrm>
            <a:prstGeom prst="ellipse">
              <a:avLst/>
            </a:prstGeom>
            <a:solidFill>
              <a:srgbClr val="205CA0"/>
            </a:solidFill>
            <a:ln w="19050" cap="flat">
              <a:solidFill>
                <a:srgbClr val="0057B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pic>
          <p:nvPicPr>
            <p:cNvPr id="14" name="Picture 13">
              <a:extLst>
                <a:ext uri="{FF2B5EF4-FFF2-40B4-BE49-F238E27FC236}">
                  <a16:creationId xmlns:a16="http://schemas.microsoft.com/office/drawing/2014/main" id="{B8F09DD9-C567-71E1-4728-00784EB285EA}"/>
                </a:ext>
              </a:extLst>
            </p:cNvPr>
            <p:cNvPicPr>
              <a:picLocks noChangeAspect="1"/>
            </p:cNvPicPr>
            <p:nvPr/>
          </p:nvPicPr>
          <p:blipFill>
            <a:blip r:embed="rId9">
              <a:lum bright="70000" contrast="-70000"/>
            </a:blip>
            <a:stretch>
              <a:fillRect/>
            </a:stretch>
          </p:blipFill>
          <p:spPr>
            <a:xfrm>
              <a:off x="4176834" y="1397555"/>
              <a:ext cx="319897" cy="319897"/>
            </a:xfrm>
            <a:prstGeom prst="rect">
              <a:avLst/>
            </a:prstGeom>
          </p:spPr>
        </p:pic>
      </p:grpSp>
      <p:grpSp>
        <p:nvGrpSpPr>
          <p:cNvPr id="66" name="Group 65">
            <a:extLst>
              <a:ext uri="{FF2B5EF4-FFF2-40B4-BE49-F238E27FC236}">
                <a16:creationId xmlns:a16="http://schemas.microsoft.com/office/drawing/2014/main" id="{8546B5A7-3490-F34E-EFC5-F8BF83B730A7}"/>
              </a:ext>
            </a:extLst>
          </p:cNvPr>
          <p:cNvGrpSpPr/>
          <p:nvPr/>
        </p:nvGrpSpPr>
        <p:grpSpPr>
          <a:xfrm>
            <a:off x="1305289" y="5632515"/>
            <a:ext cx="3820291" cy="1022772"/>
            <a:chOff x="6142080" y="2737615"/>
            <a:chExt cx="3820291" cy="1022772"/>
          </a:xfrm>
        </p:grpSpPr>
        <p:sp>
          <p:nvSpPr>
            <p:cNvPr id="39" name="Rectangle: Rounded Corners 38">
              <a:extLst>
                <a:ext uri="{FF2B5EF4-FFF2-40B4-BE49-F238E27FC236}">
                  <a16:creationId xmlns:a16="http://schemas.microsoft.com/office/drawing/2014/main" id="{8FC7B518-0D96-BF07-6942-BBFB9911A200}"/>
                </a:ext>
              </a:extLst>
            </p:cNvPr>
            <p:cNvSpPr/>
            <p:nvPr/>
          </p:nvSpPr>
          <p:spPr>
            <a:xfrm>
              <a:off x="6286205" y="3001005"/>
              <a:ext cx="3676166" cy="759382"/>
            </a:xfrm>
            <a:prstGeom prst="roundRect">
              <a:avLst>
                <a:gd name="adj" fmla="val 5966"/>
              </a:avLst>
            </a:prstGeom>
            <a:solidFill>
              <a:srgbClr val="CCECFF">
                <a:alpha val="30196"/>
              </a:srgbClr>
            </a:solidFill>
            <a:ln w="19050" cap="flat">
              <a:no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2000" tIns="108000" rIns="144000" bIns="0" numCol="1" spcCol="38100" rtlCol="0" anchor="ctr">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Promo: </a:t>
              </a:r>
              <a:r>
                <a:rPr kumimoji="0" lang="it-IT" sz="14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FREE attivazione </a:t>
              </a:r>
              <a:r>
                <a:rPr kumimoji="0" lang="it-IT" sz="12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(anziché</a:t>
              </a:r>
              <a:r>
                <a:rPr kumimoji="0" lang="en-US" sz="12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 </a:t>
              </a:r>
              <a:r>
                <a:rPr lang="en-US" sz="1200">
                  <a:solidFill>
                    <a:srgbClr val="205CA0"/>
                  </a:solidFill>
                  <a:latin typeface="Avenir Next LT Pro" panose="020B0504020202020204" pitchFamily="34" charset="0"/>
                  <a:cs typeface="Poppins" panose="02000000000000000000" pitchFamily="2" charset="0"/>
                  <a:sym typeface="Helvetica Neue Medium"/>
                </a:rPr>
                <a:t>10€</a:t>
              </a:r>
              <a:r>
                <a:rPr kumimoji="0" lang="it-IT" sz="12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 </a:t>
              </a: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Controvalore offerta: </a:t>
              </a:r>
              <a:r>
                <a:rPr kumimoji="0" lang="it-IT" sz="12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€10</a:t>
              </a:r>
            </a:p>
          </p:txBody>
        </p:sp>
        <p:sp>
          <p:nvSpPr>
            <p:cNvPr id="40" name="object 42">
              <a:extLst>
                <a:ext uri="{FF2B5EF4-FFF2-40B4-BE49-F238E27FC236}">
                  <a16:creationId xmlns:a16="http://schemas.microsoft.com/office/drawing/2014/main" id="{1A7794C5-5E6F-7BED-E45E-5165E7BB5E4F}"/>
                </a:ext>
              </a:extLst>
            </p:cNvPr>
            <p:cNvSpPr txBox="1"/>
            <p:nvPr/>
          </p:nvSpPr>
          <p:spPr>
            <a:xfrm>
              <a:off x="6314816" y="2786421"/>
              <a:ext cx="2232000" cy="262389"/>
            </a:xfrm>
            <a:prstGeom prst="roundRect">
              <a:avLst>
                <a:gd name="adj" fmla="val 49298"/>
              </a:avLst>
            </a:prstGeom>
            <a:solidFill>
              <a:srgbClr val="FEE01A"/>
            </a:solidFill>
            <a:ln w="12700">
              <a:noFill/>
              <a:miter lim="400000"/>
            </a:ln>
          </p:spPr>
          <p:txBody>
            <a:bodyPr lIns="216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205CA0"/>
                  </a:solidFill>
                  <a:effectLst/>
                  <a:uLnTx/>
                  <a:uFillTx/>
                  <a:latin typeface="Avenir Next LT Pro"/>
                </a:rPr>
                <a:t>TELEPASS EUROPEO</a:t>
              </a:r>
              <a:endParaRPr kumimoji="0" lang="it-IT" sz="1400" b="0" i="0" u="none" strike="noStrike" kern="0" cap="none" spc="0" normalizeH="0" baseline="0" noProof="0">
                <a:ln>
                  <a:noFill/>
                </a:ln>
                <a:solidFill>
                  <a:srgbClr val="205CA0"/>
                </a:solidFill>
                <a:effectLst/>
                <a:uLnTx/>
                <a:uFillTx/>
                <a:latin typeface="Avenir Next LT Pro"/>
              </a:endParaRPr>
            </a:p>
          </p:txBody>
        </p:sp>
        <p:grpSp>
          <p:nvGrpSpPr>
            <p:cNvPr id="56" name="Group 55">
              <a:extLst>
                <a:ext uri="{FF2B5EF4-FFF2-40B4-BE49-F238E27FC236}">
                  <a16:creationId xmlns:a16="http://schemas.microsoft.com/office/drawing/2014/main" id="{E65992F3-DE86-364F-3DA6-AE5ECDFF7E77}"/>
                </a:ext>
              </a:extLst>
            </p:cNvPr>
            <p:cNvGrpSpPr/>
            <p:nvPr/>
          </p:nvGrpSpPr>
          <p:grpSpPr>
            <a:xfrm>
              <a:off x="6142080" y="2737615"/>
              <a:ext cx="360000" cy="360000"/>
              <a:chOff x="8124288" y="1370162"/>
              <a:chExt cx="360000" cy="360000"/>
            </a:xfrm>
          </p:grpSpPr>
          <p:grpSp>
            <p:nvGrpSpPr>
              <p:cNvPr id="26" name="Group 25">
                <a:extLst>
                  <a:ext uri="{FF2B5EF4-FFF2-40B4-BE49-F238E27FC236}">
                    <a16:creationId xmlns:a16="http://schemas.microsoft.com/office/drawing/2014/main" id="{2F864740-F8A8-8E94-566F-9E2047B91806}"/>
                  </a:ext>
                </a:extLst>
              </p:cNvPr>
              <p:cNvGrpSpPr/>
              <p:nvPr/>
            </p:nvGrpSpPr>
            <p:grpSpPr>
              <a:xfrm>
                <a:off x="8124288" y="1370162"/>
                <a:ext cx="360000" cy="360000"/>
                <a:chOff x="711682" y="1592388"/>
                <a:chExt cx="360000" cy="360000"/>
              </a:xfrm>
            </p:grpSpPr>
            <p:sp>
              <p:nvSpPr>
                <p:cNvPr id="27" name="Oval 26">
                  <a:extLst>
                    <a:ext uri="{FF2B5EF4-FFF2-40B4-BE49-F238E27FC236}">
                      <a16:creationId xmlns:a16="http://schemas.microsoft.com/office/drawing/2014/main" id="{3D5618A3-F320-9A89-74BF-79C8108A933E}"/>
                    </a:ext>
                  </a:extLst>
                </p:cNvPr>
                <p:cNvSpPr/>
                <p:nvPr/>
              </p:nvSpPr>
              <p:spPr>
                <a:xfrm>
                  <a:off x="711682" y="1592388"/>
                  <a:ext cx="360000" cy="360000"/>
                </a:xfrm>
                <a:prstGeom prst="ellipse">
                  <a:avLst/>
                </a:prstGeom>
                <a:solidFill>
                  <a:srgbClr val="205CA0"/>
                </a:solidFill>
                <a:ln w="19050" cap="flat">
                  <a:solidFill>
                    <a:srgbClr val="0057B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pic>
              <p:nvPicPr>
                <p:cNvPr id="28" name="Image 4" descr=" ">
                  <a:extLst>
                    <a:ext uri="{FF2B5EF4-FFF2-40B4-BE49-F238E27FC236}">
                      <a16:creationId xmlns:a16="http://schemas.microsoft.com/office/drawing/2014/main" id="{63BB9E21-EE3E-E008-4BB0-DF7A33305F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317" y="1654235"/>
                  <a:ext cx="320731" cy="236307"/>
                </a:xfrm>
                <a:prstGeom prst="rect">
                  <a:avLst/>
                </a:prstGeom>
              </p:spPr>
            </p:pic>
          </p:grpSp>
          <p:sp>
            <p:nvSpPr>
              <p:cNvPr id="25" name="TextBox 24">
                <a:extLst>
                  <a:ext uri="{FF2B5EF4-FFF2-40B4-BE49-F238E27FC236}">
                    <a16:creationId xmlns:a16="http://schemas.microsoft.com/office/drawing/2014/main" id="{AD2DAA2F-CBA6-11CA-26A2-166DF83493D7}"/>
                  </a:ext>
                </a:extLst>
              </p:cNvPr>
              <p:cNvSpPr txBox="1"/>
              <p:nvPr/>
            </p:nvSpPr>
            <p:spPr>
              <a:xfrm>
                <a:off x="8167220" y="1413115"/>
                <a:ext cx="275047" cy="241824"/>
              </a:xfrm>
              <a:prstGeom prst="rect">
                <a:avLst/>
              </a:prstGeom>
            </p:spPr>
            <p:txBody>
              <a:bodyPr wrap="square" lIns="0" tIns="0" rIns="0" bIns="0" rtlCol="0"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0" normalizeH="0" baseline="0" noProof="0">
                    <a:ln>
                      <a:noFill/>
                    </a:ln>
                    <a:solidFill>
                      <a:schemeClr val="bg1"/>
                    </a:solidFill>
                    <a:effectLst/>
                    <a:uLnTx/>
                    <a:uFillTx/>
                    <a:latin typeface="Vodafone Rg" pitchFamily="34" charset="0"/>
                  </a:rPr>
                  <a:t>EU</a:t>
                </a:r>
              </a:p>
            </p:txBody>
          </p:sp>
        </p:grpSp>
      </p:grpSp>
      <p:grpSp>
        <p:nvGrpSpPr>
          <p:cNvPr id="61" name="Group 60">
            <a:extLst>
              <a:ext uri="{FF2B5EF4-FFF2-40B4-BE49-F238E27FC236}">
                <a16:creationId xmlns:a16="http://schemas.microsoft.com/office/drawing/2014/main" id="{5AD33A2B-44A6-5806-AA3E-C39DE0305270}"/>
              </a:ext>
            </a:extLst>
          </p:cNvPr>
          <p:cNvGrpSpPr/>
          <p:nvPr/>
        </p:nvGrpSpPr>
        <p:grpSpPr>
          <a:xfrm>
            <a:off x="1305289" y="3455106"/>
            <a:ext cx="3820601" cy="1022772"/>
            <a:chOff x="8124288" y="1370162"/>
            <a:chExt cx="3820601" cy="1022772"/>
          </a:xfrm>
        </p:grpSpPr>
        <p:sp>
          <p:nvSpPr>
            <p:cNvPr id="16" name="Rectangle: Rounded Corners 15">
              <a:extLst>
                <a:ext uri="{FF2B5EF4-FFF2-40B4-BE49-F238E27FC236}">
                  <a16:creationId xmlns:a16="http://schemas.microsoft.com/office/drawing/2014/main" id="{1C68DD0F-3329-AE33-D385-AD7B5E78C696}"/>
                </a:ext>
              </a:extLst>
            </p:cNvPr>
            <p:cNvSpPr/>
            <p:nvPr/>
          </p:nvSpPr>
          <p:spPr>
            <a:xfrm>
              <a:off x="8268723" y="1633552"/>
              <a:ext cx="3676166" cy="759382"/>
            </a:xfrm>
            <a:prstGeom prst="roundRect">
              <a:avLst>
                <a:gd name="adj" fmla="val 5966"/>
              </a:avLst>
            </a:prstGeom>
            <a:solidFill>
              <a:srgbClr val="CCECFF">
                <a:alpha val="30196"/>
              </a:srgbClr>
            </a:solidFill>
            <a:ln w="19050" cap="flat">
              <a:no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2000" tIns="108000" rIns="144000" bIns="0" numCol="1" spcCol="38100" rtlCol="0" anchor="ctr">
              <a:noAutofit/>
            </a:bodyPr>
            <a:lstStyle/>
            <a:p>
              <a:pPr defTabSz="825500" hangingPunct="0">
                <a:defRPr/>
              </a:pPr>
              <a:r>
                <a:rPr kumimoji="0" lang="it-IT" sz="14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Promo: </a:t>
              </a:r>
              <a:r>
                <a:rPr lang="it-IT" sz="1400" dirty="0">
                  <a:solidFill>
                    <a:srgbClr val="205CA0"/>
                  </a:solidFill>
                  <a:latin typeface="Avenir Next LT Pro" panose="020B0504020202020204" pitchFamily="34" charset="0"/>
                  <a:cs typeface="Poppins" panose="02000000000000000000" pitchFamily="2" charset="0"/>
                  <a:sym typeface="Helvetica Neue Medium"/>
                </a:rPr>
                <a:t>3</a:t>
              </a:r>
              <a:r>
                <a:rPr kumimoji="0" lang="it-IT" sz="1400" b="0"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 mesi </a:t>
              </a:r>
              <a:r>
                <a:rPr lang="it-IT" sz="1400" dirty="0">
                  <a:solidFill>
                    <a:srgbClr val="205CA0"/>
                  </a:solidFill>
                  <a:latin typeface="Avenir Next LT Pro" panose="020B0504020202020204" pitchFamily="34" charset="0"/>
                  <a:cs typeface="Poppins" panose="02000000000000000000" pitchFamily="2" charset="0"/>
                  <a:sym typeface="Helvetica Neue Medium"/>
                </a:rPr>
                <a:t>FREE </a:t>
              </a:r>
              <a:r>
                <a:rPr lang="it-IT" sz="1200" dirty="0">
                  <a:solidFill>
                    <a:srgbClr val="205CA0"/>
                  </a:solidFill>
                  <a:latin typeface="Avenir Next LT Pro" panose="020B0504020202020204" pitchFamily="34" charset="0"/>
                  <a:cs typeface="Poppins" panose="02000000000000000000" pitchFamily="2" charset="0"/>
                  <a:sym typeface="Helvetica Neue Medium"/>
                </a:rPr>
                <a:t>(poi a 3.60 €/mese) </a:t>
              </a:r>
              <a:endParaRPr kumimoji="0" lang="it-IT" sz="1200" b="0"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endParaRP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Controvalore offerta: </a:t>
              </a:r>
              <a:r>
                <a:rPr kumimoji="0" lang="it-IT" sz="12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a:t>
              </a:r>
              <a:r>
                <a:rPr lang="it-IT" sz="1200" b="1" dirty="0">
                  <a:solidFill>
                    <a:srgbClr val="205CA0"/>
                  </a:solidFill>
                  <a:latin typeface="Avenir Next LT Pro" panose="020B0504020202020204" pitchFamily="34" charset="0"/>
                  <a:cs typeface="Poppins" panose="02000000000000000000" pitchFamily="2" charset="0"/>
                  <a:sym typeface="Helvetica Neue Medium"/>
                </a:rPr>
                <a:t>10</a:t>
              </a:r>
              <a:r>
                <a:rPr kumimoji="0" lang="it-IT" sz="12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,8</a:t>
              </a:r>
            </a:p>
          </p:txBody>
        </p:sp>
        <p:sp>
          <p:nvSpPr>
            <p:cNvPr id="17" name="object 42">
              <a:extLst>
                <a:ext uri="{FF2B5EF4-FFF2-40B4-BE49-F238E27FC236}">
                  <a16:creationId xmlns:a16="http://schemas.microsoft.com/office/drawing/2014/main" id="{3A51674C-6DA3-80AD-00F1-43C9C350EFB2}"/>
                </a:ext>
              </a:extLst>
            </p:cNvPr>
            <p:cNvSpPr txBox="1"/>
            <p:nvPr/>
          </p:nvSpPr>
          <p:spPr>
            <a:xfrm>
              <a:off x="8297334" y="1418968"/>
              <a:ext cx="2808000" cy="262389"/>
            </a:xfrm>
            <a:prstGeom prst="roundRect">
              <a:avLst>
                <a:gd name="adj" fmla="val 49298"/>
              </a:avLst>
            </a:prstGeom>
            <a:solidFill>
              <a:srgbClr val="FEE01A"/>
            </a:solidFill>
            <a:ln w="12700">
              <a:noFill/>
              <a:miter lim="400000"/>
            </a:ln>
          </p:spPr>
          <p:txBody>
            <a:bodyPr lIns="216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205CA0"/>
                  </a:solidFill>
                  <a:effectLst/>
                  <a:uLnTx/>
                  <a:uFillTx/>
                  <a:latin typeface="Avenir Next LT Pro"/>
                </a:rPr>
                <a:t>ASSISTENZA STRADALE EU</a:t>
              </a:r>
              <a:endParaRPr kumimoji="0" lang="it-IT" sz="1400" b="0" i="0" u="none" strike="noStrike" kern="0" cap="none" spc="0" normalizeH="0" baseline="0" noProof="0">
                <a:ln>
                  <a:noFill/>
                </a:ln>
                <a:solidFill>
                  <a:srgbClr val="205CA0"/>
                </a:solidFill>
                <a:effectLst/>
                <a:uLnTx/>
                <a:uFillTx/>
                <a:latin typeface="Avenir Next LT Pro"/>
              </a:endParaRPr>
            </a:p>
          </p:txBody>
        </p:sp>
        <p:sp>
          <p:nvSpPr>
            <p:cNvPr id="58" name="Oval 57">
              <a:extLst>
                <a:ext uri="{FF2B5EF4-FFF2-40B4-BE49-F238E27FC236}">
                  <a16:creationId xmlns:a16="http://schemas.microsoft.com/office/drawing/2014/main" id="{1B53F466-CADE-EF7C-3C64-111E6B913970}"/>
                </a:ext>
              </a:extLst>
            </p:cNvPr>
            <p:cNvSpPr/>
            <p:nvPr/>
          </p:nvSpPr>
          <p:spPr>
            <a:xfrm>
              <a:off x="8124288" y="1370162"/>
              <a:ext cx="360000" cy="360000"/>
            </a:xfrm>
            <a:prstGeom prst="ellipse">
              <a:avLst/>
            </a:prstGeom>
            <a:solidFill>
              <a:srgbClr val="205CA0"/>
            </a:solidFill>
            <a:ln w="19050" cap="flat">
              <a:solidFill>
                <a:srgbClr val="0057B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pic>
          <p:nvPicPr>
            <p:cNvPr id="60" name="Picture 59">
              <a:extLst>
                <a:ext uri="{FF2B5EF4-FFF2-40B4-BE49-F238E27FC236}">
                  <a16:creationId xmlns:a16="http://schemas.microsoft.com/office/drawing/2014/main" id="{BE89F0BB-7627-CBFA-A190-A93590EFEF13}"/>
                </a:ext>
              </a:extLst>
            </p:cNvPr>
            <p:cNvPicPr>
              <a:picLocks noChangeAspect="1"/>
            </p:cNvPicPr>
            <p:nvPr/>
          </p:nvPicPr>
          <p:blipFill>
            <a:blip r:embed="rId6">
              <a:lum bright="70000" contrast="-70000"/>
            </a:blip>
            <a:stretch>
              <a:fillRect/>
            </a:stretch>
          </p:blipFill>
          <p:spPr>
            <a:xfrm>
              <a:off x="8165274" y="1390212"/>
              <a:ext cx="288000" cy="288000"/>
            </a:xfrm>
            <a:prstGeom prst="rect">
              <a:avLst/>
            </a:prstGeom>
          </p:spPr>
        </p:pic>
      </p:grpSp>
      <p:grpSp>
        <p:nvGrpSpPr>
          <p:cNvPr id="67" name="Group 66">
            <a:extLst>
              <a:ext uri="{FF2B5EF4-FFF2-40B4-BE49-F238E27FC236}">
                <a16:creationId xmlns:a16="http://schemas.microsoft.com/office/drawing/2014/main" id="{22F791EB-5145-C995-8EDF-9EF96EF1991F}"/>
              </a:ext>
            </a:extLst>
          </p:cNvPr>
          <p:cNvGrpSpPr/>
          <p:nvPr/>
        </p:nvGrpSpPr>
        <p:grpSpPr>
          <a:xfrm>
            <a:off x="1305289" y="4543811"/>
            <a:ext cx="3827085" cy="1022772"/>
            <a:chOff x="2090506" y="2737615"/>
            <a:chExt cx="3827085" cy="1022772"/>
          </a:xfrm>
        </p:grpSpPr>
        <p:sp>
          <p:nvSpPr>
            <p:cNvPr id="32" name="Rectangle: Rounded Corners 31">
              <a:extLst>
                <a:ext uri="{FF2B5EF4-FFF2-40B4-BE49-F238E27FC236}">
                  <a16:creationId xmlns:a16="http://schemas.microsoft.com/office/drawing/2014/main" id="{9B28E17D-E08D-F91B-71C8-312A7FE51FEF}"/>
                </a:ext>
              </a:extLst>
            </p:cNvPr>
            <p:cNvSpPr/>
            <p:nvPr/>
          </p:nvSpPr>
          <p:spPr>
            <a:xfrm>
              <a:off x="2241425" y="3001005"/>
              <a:ext cx="3676166" cy="759382"/>
            </a:xfrm>
            <a:prstGeom prst="roundRect">
              <a:avLst>
                <a:gd name="adj" fmla="val 5966"/>
              </a:avLst>
            </a:prstGeom>
            <a:solidFill>
              <a:srgbClr val="CCECFF">
                <a:alpha val="30196"/>
              </a:srgbClr>
            </a:solidFill>
            <a:ln w="19050" cap="flat">
              <a:no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108000" rIns="0" bIns="36000" numCol="1" spcCol="38100" rtlCol="0" anchor="ctr">
              <a:noAutofit/>
            </a:bodyPr>
            <a:lstStyle/>
            <a:p>
              <a:pPr lvl="0" defTabSz="825500" hangingPunct="0">
                <a:defRPr/>
              </a:pPr>
              <a:r>
                <a:rPr kumimoji="0" lang="it-IT" sz="14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Promo: </a:t>
              </a:r>
              <a:r>
                <a:rPr kumimoji="0" lang="it-IT" sz="1400" b="0"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12 mesi FREE </a:t>
              </a:r>
              <a:r>
                <a:rPr lang="it-IT" sz="1200" dirty="0">
                  <a:solidFill>
                    <a:srgbClr val="205CA0"/>
                  </a:solidFill>
                  <a:latin typeface="Avenir Next LT Pro" panose="020B0504020202020204" pitchFamily="34" charset="0"/>
                  <a:cs typeface="Poppins" panose="02000000000000000000" pitchFamily="2" charset="0"/>
                  <a:sym typeface="Helvetica Neue Medium"/>
                </a:rPr>
                <a:t>e poi €1,50 per sempre anziché 3.88€/mese  </a:t>
              </a:r>
              <a:endParaRPr kumimoji="0" lang="it-IT" sz="1200" b="0"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endParaRP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Controvalore offerta: </a:t>
              </a:r>
              <a:r>
                <a:rPr kumimoji="0" lang="it-IT" sz="1200" b="1" i="0" u="none" strike="noStrike" kern="1200" cap="none" spc="0" normalizeH="0" baseline="0" noProof="0" dirty="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€46,6</a:t>
              </a:r>
            </a:p>
          </p:txBody>
        </p:sp>
        <p:grpSp>
          <p:nvGrpSpPr>
            <p:cNvPr id="65" name="Group 64">
              <a:extLst>
                <a:ext uri="{FF2B5EF4-FFF2-40B4-BE49-F238E27FC236}">
                  <a16:creationId xmlns:a16="http://schemas.microsoft.com/office/drawing/2014/main" id="{54E33095-098C-AA1B-DF5D-2581B195C45E}"/>
                </a:ext>
              </a:extLst>
            </p:cNvPr>
            <p:cNvGrpSpPr/>
            <p:nvPr/>
          </p:nvGrpSpPr>
          <p:grpSpPr>
            <a:xfrm>
              <a:off x="2090506" y="2737615"/>
              <a:ext cx="1151530" cy="360000"/>
              <a:chOff x="2090506" y="2737615"/>
              <a:chExt cx="1151530" cy="360000"/>
            </a:xfrm>
          </p:grpSpPr>
          <p:sp>
            <p:nvSpPr>
              <p:cNvPr id="33" name="object 42">
                <a:extLst>
                  <a:ext uri="{FF2B5EF4-FFF2-40B4-BE49-F238E27FC236}">
                    <a16:creationId xmlns:a16="http://schemas.microsoft.com/office/drawing/2014/main" id="{6391ED5D-C813-FD69-DAD1-57AAA9600B14}"/>
                  </a:ext>
                </a:extLst>
              </p:cNvPr>
              <p:cNvSpPr txBox="1"/>
              <p:nvPr/>
            </p:nvSpPr>
            <p:spPr>
              <a:xfrm>
                <a:off x="2270036" y="2786421"/>
                <a:ext cx="972000" cy="262389"/>
              </a:xfrm>
              <a:prstGeom prst="roundRect">
                <a:avLst>
                  <a:gd name="adj" fmla="val 49298"/>
                </a:avLst>
              </a:prstGeom>
              <a:solidFill>
                <a:srgbClr val="FEE01A"/>
              </a:solidFill>
              <a:ln w="12700">
                <a:noFill/>
                <a:miter lim="400000"/>
              </a:ln>
            </p:spPr>
            <p:txBody>
              <a:bodyPr lIns="216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205CA0"/>
                    </a:solidFill>
                    <a:effectLst/>
                    <a:uLnTx/>
                    <a:uFillTx/>
                    <a:latin typeface="Avenir Next LT Pro"/>
                  </a:rPr>
                  <a:t>TWIN</a:t>
                </a:r>
                <a:endParaRPr kumimoji="0" lang="it-IT" sz="1400" b="0" i="0" u="none" strike="noStrike" kern="0" cap="none" spc="0" normalizeH="0" baseline="0" noProof="0">
                  <a:ln>
                    <a:noFill/>
                  </a:ln>
                  <a:solidFill>
                    <a:srgbClr val="205CA0"/>
                  </a:solidFill>
                  <a:effectLst/>
                  <a:uLnTx/>
                  <a:uFillTx/>
                  <a:latin typeface="Avenir Next LT Pro"/>
                </a:endParaRPr>
              </a:p>
            </p:txBody>
          </p:sp>
          <p:sp>
            <p:nvSpPr>
              <p:cNvPr id="35" name="Oval 34">
                <a:extLst>
                  <a:ext uri="{FF2B5EF4-FFF2-40B4-BE49-F238E27FC236}">
                    <a16:creationId xmlns:a16="http://schemas.microsoft.com/office/drawing/2014/main" id="{3F5FB321-41A8-06E1-CFF1-C692C87B90A6}"/>
                  </a:ext>
                </a:extLst>
              </p:cNvPr>
              <p:cNvSpPr/>
              <p:nvPr/>
            </p:nvSpPr>
            <p:spPr>
              <a:xfrm>
                <a:off x="2090506" y="2737615"/>
                <a:ext cx="360000" cy="360000"/>
              </a:xfrm>
              <a:prstGeom prst="ellipse">
                <a:avLst/>
              </a:prstGeom>
              <a:solidFill>
                <a:srgbClr val="205CA0"/>
              </a:solidFill>
              <a:ln w="19050" cap="flat">
                <a:solidFill>
                  <a:srgbClr val="0057B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grpSp>
            <p:nvGrpSpPr>
              <p:cNvPr id="62" name="Gruppo 5">
                <a:extLst>
                  <a:ext uri="{FF2B5EF4-FFF2-40B4-BE49-F238E27FC236}">
                    <a16:creationId xmlns:a16="http://schemas.microsoft.com/office/drawing/2014/main" id="{3A909004-F617-2120-BB3A-76A8DBB309E0}"/>
                  </a:ext>
                </a:extLst>
              </p:cNvPr>
              <p:cNvGrpSpPr/>
              <p:nvPr/>
            </p:nvGrpSpPr>
            <p:grpSpPr>
              <a:xfrm>
                <a:off x="2112182" y="2780550"/>
                <a:ext cx="298887" cy="262390"/>
                <a:chOff x="1323335" y="4170834"/>
                <a:chExt cx="365694" cy="337400"/>
              </a:xfrm>
              <a:solidFill>
                <a:schemeClr val="accent3">
                  <a:lumMod val="75000"/>
                </a:schemeClr>
              </a:solidFill>
            </p:grpSpPr>
            <p:pic>
              <p:nvPicPr>
                <p:cNvPr id="63" name="Image 4" descr=" ">
                  <a:extLst>
                    <a:ext uri="{FF2B5EF4-FFF2-40B4-BE49-F238E27FC236}">
                      <a16:creationId xmlns:a16="http://schemas.microsoft.com/office/drawing/2014/main" id="{7DA4DD17-3BEA-5310-B312-98E25C8F615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3335" y="4170834"/>
                  <a:ext cx="256077" cy="188669"/>
                </a:xfrm>
                <a:prstGeom prst="rect">
                  <a:avLst/>
                </a:prstGeom>
              </p:spPr>
            </p:pic>
            <p:pic>
              <p:nvPicPr>
                <p:cNvPr id="64" name="Image 4" descr=" ">
                  <a:extLst>
                    <a:ext uri="{FF2B5EF4-FFF2-40B4-BE49-F238E27FC236}">
                      <a16:creationId xmlns:a16="http://schemas.microsoft.com/office/drawing/2014/main" id="{8E5E3F9C-22E1-EADD-7E0B-3B4EB77FFB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32952" y="4319565"/>
                  <a:ext cx="256077" cy="188669"/>
                </a:xfrm>
                <a:prstGeom prst="rect">
                  <a:avLst/>
                </a:prstGeom>
              </p:spPr>
            </p:pic>
          </p:grpSp>
        </p:grpSp>
      </p:grpSp>
      <p:sp>
        <p:nvSpPr>
          <p:cNvPr id="19" name="object 42">
            <a:extLst>
              <a:ext uri="{FF2B5EF4-FFF2-40B4-BE49-F238E27FC236}">
                <a16:creationId xmlns:a16="http://schemas.microsoft.com/office/drawing/2014/main" id="{67D34EA4-07CC-834B-8982-22C4C890F16C}"/>
              </a:ext>
            </a:extLst>
          </p:cNvPr>
          <p:cNvSpPr txBox="1"/>
          <p:nvPr/>
        </p:nvSpPr>
        <p:spPr>
          <a:xfrm rot="16200000">
            <a:off x="5044647" y="2882321"/>
            <a:ext cx="3598939" cy="250822"/>
          </a:xfrm>
          <a:prstGeom prst="roundRect">
            <a:avLst>
              <a:gd name="adj" fmla="val 49298"/>
            </a:avLst>
          </a:prstGeom>
          <a:solidFill>
            <a:schemeClr val="accent2"/>
          </a:solidFill>
          <a:ln w="12700">
            <a:noFill/>
            <a:miter lim="400000"/>
          </a:ln>
        </p:spPr>
        <p:txBody>
          <a:bodyPr lIns="72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Avenir Next LT Pro"/>
              </a:rPr>
              <a:t>UPSELLING</a:t>
            </a:r>
            <a:endParaRPr kumimoji="0" lang="it-IT" sz="1600" b="0" i="0" u="none" strike="noStrike" kern="0" cap="none" spc="0" normalizeH="0" baseline="0" noProof="0">
              <a:ln>
                <a:noFill/>
              </a:ln>
              <a:solidFill>
                <a:schemeClr val="bg1"/>
              </a:solidFill>
              <a:effectLst/>
              <a:uLnTx/>
              <a:uFillTx/>
              <a:latin typeface="Avenir Next LT Pro"/>
            </a:endParaRPr>
          </a:p>
        </p:txBody>
      </p:sp>
      <p:grpSp>
        <p:nvGrpSpPr>
          <p:cNvPr id="42" name="Group 41">
            <a:extLst>
              <a:ext uri="{FF2B5EF4-FFF2-40B4-BE49-F238E27FC236}">
                <a16:creationId xmlns:a16="http://schemas.microsoft.com/office/drawing/2014/main" id="{1AFDA48C-ED45-CA1B-2F7F-FDD52030FFAF}"/>
              </a:ext>
            </a:extLst>
          </p:cNvPr>
          <p:cNvGrpSpPr/>
          <p:nvPr/>
        </p:nvGrpSpPr>
        <p:grpSpPr>
          <a:xfrm>
            <a:off x="7226852" y="3455106"/>
            <a:ext cx="3820291" cy="1022772"/>
            <a:chOff x="6142080" y="2737615"/>
            <a:chExt cx="3820291" cy="1022772"/>
          </a:xfrm>
        </p:grpSpPr>
        <p:sp>
          <p:nvSpPr>
            <p:cNvPr id="43" name="Rectangle: Rounded Corners 42">
              <a:extLst>
                <a:ext uri="{FF2B5EF4-FFF2-40B4-BE49-F238E27FC236}">
                  <a16:creationId xmlns:a16="http://schemas.microsoft.com/office/drawing/2014/main" id="{8766ADAD-BC63-B839-0B2A-4CA0C30BDA64}"/>
                </a:ext>
              </a:extLst>
            </p:cNvPr>
            <p:cNvSpPr/>
            <p:nvPr/>
          </p:nvSpPr>
          <p:spPr>
            <a:xfrm>
              <a:off x="6286205" y="3001005"/>
              <a:ext cx="3676166" cy="759382"/>
            </a:xfrm>
            <a:prstGeom prst="roundRect">
              <a:avLst>
                <a:gd name="adj" fmla="val 5966"/>
              </a:avLst>
            </a:prstGeom>
            <a:solidFill>
              <a:srgbClr val="CCECFF">
                <a:alpha val="30196"/>
              </a:srgbClr>
            </a:solidFill>
            <a:ln w="19050" cap="flat">
              <a:no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2000" tIns="108000" rIns="144000" bIns="0" numCol="1" spcCol="38100" rtlCol="0" anchor="ctr">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Promo: </a:t>
              </a:r>
              <a:r>
                <a:rPr kumimoji="0" lang="it-IT" sz="14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FREE attivazione </a:t>
              </a:r>
              <a:r>
                <a:rPr kumimoji="0" lang="it-IT" sz="12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(anziché</a:t>
              </a:r>
              <a:r>
                <a:rPr lang="en-US" sz="1200">
                  <a:solidFill>
                    <a:srgbClr val="205CA0"/>
                  </a:solidFill>
                  <a:latin typeface="Avenir Next LT Pro" panose="020B0504020202020204" pitchFamily="34" charset="0"/>
                  <a:cs typeface="Poppins" panose="02000000000000000000" pitchFamily="2" charset="0"/>
                  <a:sym typeface="Helvetica Neue Medium"/>
                </a:rPr>
                <a:t>è 10€</a:t>
              </a:r>
              <a:r>
                <a:rPr kumimoji="0" lang="it-IT" sz="1200" b="0"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 </a:t>
              </a: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it-IT" sz="14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Controvalore offerta: </a:t>
              </a:r>
              <a:r>
                <a:rPr kumimoji="0" lang="it-IT" sz="1200" b="1" i="0" u="none" strike="noStrike" kern="1200" cap="none" spc="0" normalizeH="0" baseline="0" noProof="0">
                  <a:ln>
                    <a:noFill/>
                  </a:ln>
                  <a:solidFill>
                    <a:srgbClr val="205CA0"/>
                  </a:solidFill>
                  <a:effectLst/>
                  <a:uLnTx/>
                  <a:uFillTx/>
                  <a:latin typeface="Avenir Next LT Pro" panose="020B0504020202020204" pitchFamily="34" charset="0"/>
                  <a:cs typeface="Poppins" panose="02000000000000000000" pitchFamily="2" charset="0"/>
                  <a:sym typeface="Helvetica Neue Medium"/>
                </a:rPr>
                <a:t>€10</a:t>
              </a:r>
            </a:p>
          </p:txBody>
        </p:sp>
        <p:sp>
          <p:nvSpPr>
            <p:cNvPr id="45" name="object 42">
              <a:extLst>
                <a:ext uri="{FF2B5EF4-FFF2-40B4-BE49-F238E27FC236}">
                  <a16:creationId xmlns:a16="http://schemas.microsoft.com/office/drawing/2014/main" id="{BEE79A00-25B6-BF01-AD90-95167F1401C5}"/>
                </a:ext>
              </a:extLst>
            </p:cNvPr>
            <p:cNvSpPr txBox="1"/>
            <p:nvPr/>
          </p:nvSpPr>
          <p:spPr>
            <a:xfrm>
              <a:off x="6314816" y="2786421"/>
              <a:ext cx="2232000" cy="262389"/>
            </a:xfrm>
            <a:prstGeom prst="roundRect">
              <a:avLst>
                <a:gd name="adj" fmla="val 49298"/>
              </a:avLst>
            </a:prstGeom>
            <a:solidFill>
              <a:srgbClr val="FEE01A"/>
            </a:solidFill>
            <a:ln w="12700">
              <a:noFill/>
              <a:miter lim="400000"/>
            </a:ln>
          </p:spPr>
          <p:txBody>
            <a:bodyPr lIns="216000" tIns="0" rIns="72000" bIns="0" anchor="ctr"/>
            <a:lstStyle>
              <a:defPPr>
                <a:defRPr lang="de-DE"/>
              </a:defPPr>
              <a:lvl1pPr algn="ctr">
                <a:spcBef>
                  <a:spcPts val="300"/>
                </a:spcBef>
                <a:spcAft>
                  <a:spcPts val="300"/>
                </a:spcAft>
                <a:defRPr sz="1200" b="1" kern="0">
                  <a:solidFill>
                    <a:srgbClr val="FFFFFF"/>
                  </a:solidFill>
                  <a:latin typeface="Avenir Next LT Pro"/>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205CA0"/>
                  </a:solidFill>
                  <a:effectLst/>
                  <a:uLnTx/>
                  <a:uFillTx/>
                  <a:latin typeface="Avenir Next LT Pro"/>
                </a:rPr>
                <a:t>TELEPASS EUROPEO</a:t>
              </a:r>
              <a:endParaRPr kumimoji="0" lang="it-IT" sz="1400" b="0" i="0" u="none" strike="noStrike" kern="0" cap="none" spc="0" normalizeH="0" baseline="0" noProof="0">
                <a:ln>
                  <a:noFill/>
                </a:ln>
                <a:solidFill>
                  <a:srgbClr val="205CA0"/>
                </a:solidFill>
                <a:effectLst/>
                <a:uLnTx/>
                <a:uFillTx/>
                <a:latin typeface="Avenir Next LT Pro"/>
              </a:endParaRPr>
            </a:p>
          </p:txBody>
        </p:sp>
        <p:grpSp>
          <p:nvGrpSpPr>
            <p:cNvPr id="47" name="Group 46">
              <a:extLst>
                <a:ext uri="{FF2B5EF4-FFF2-40B4-BE49-F238E27FC236}">
                  <a16:creationId xmlns:a16="http://schemas.microsoft.com/office/drawing/2014/main" id="{BEE81AFF-2BF6-509D-92FA-C01DACCC9464}"/>
                </a:ext>
              </a:extLst>
            </p:cNvPr>
            <p:cNvGrpSpPr/>
            <p:nvPr/>
          </p:nvGrpSpPr>
          <p:grpSpPr>
            <a:xfrm>
              <a:off x="6142080" y="2737615"/>
              <a:ext cx="360000" cy="360000"/>
              <a:chOff x="8124288" y="1370162"/>
              <a:chExt cx="360000" cy="360000"/>
            </a:xfrm>
          </p:grpSpPr>
          <p:grpSp>
            <p:nvGrpSpPr>
              <p:cNvPr id="49" name="Group 48">
                <a:extLst>
                  <a:ext uri="{FF2B5EF4-FFF2-40B4-BE49-F238E27FC236}">
                    <a16:creationId xmlns:a16="http://schemas.microsoft.com/office/drawing/2014/main" id="{1E08D01B-16D9-BBC7-8C2B-5087FC5E15DE}"/>
                  </a:ext>
                </a:extLst>
              </p:cNvPr>
              <p:cNvGrpSpPr/>
              <p:nvPr/>
            </p:nvGrpSpPr>
            <p:grpSpPr>
              <a:xfrm>
                <a:off x="8124288" y="1370162"/>
                <a:ext cx="360000" cy="360000"/>
                <a:chOff x="711682" y="1592388"/>
                <a:chExt cx="360000" cy="360000"/>
              </a:xfrm>
            </p:grpSpPr>
            <p:sp>
              <p:nvSpPr>
                <p:cNvPr id="51" name="Oval 50">
                  <a:extLst>
                    <a:ext uri="{FF2B5EF4-FFF2-40B4-BE49-F238E27FC236}">
                      <a16:creationId xmlns:a16="http://schemas.microsoft.com/office/drawing/2014/main" id="{6B716270-285E-0E0E-F17B-D193BE1FEF98}"/>
                    </a:ext>
                  </a:extLst>
                </p:cNvPr>
                <p:cNvSpPr/>
                <p:nvPr/>
              </p:nvSpPr>
              <p:spPr>
                <a:xfrm>
                  <a:off x="711682" y="1592388"/>
                  <a:ext cx="360000" cy="360000"/>
                </a:xfrm>
                <a:prstGeom prst="ellipse">
                  <a:avLst/>
                </a:prstGeom>
                <a:solidFill>
                  <a:srgbClr val="205CA0"/>
                </a:solidFill>
                <a:ln w="19050" cap="flat">
                  <a:solidFill>
                    <a:srgbClr val="0057B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l" defTabSz="825500" rtl="0" fontAlgn="auto" latinLnBrk="0" hangingPunct="0">
                    <a:lnSpc>
                      <a:spcPct val="100000"/>
                    </a:lnSpc>
                    <a:spcBef>
                      <a:spcPts val="0"/>
                    </a:spcBef>
                    <a:spcAft>
                      <a:spcPts val="0"/>
                    </a:spcAft>
                    <a:buClrTx/>
                    <a:buSzTx/>
                    <a:buFontTx/>
                    <a:buNone/>
                    <a:tabLst/>
                  </a:pPr>
                  <a:endParaRPr kumimoji="0" lang="it-IT" sz="2400" b="0" i="0" u="none" strike="noStrike" cap="none" spc="0" normalizeH="0" baseline="0">
                    <a:ln>
                      <a:noFill/>
                    </a:ln>
                    <a:solidFill>
                      <a:schemeClr val="bg1"/>
                    </a:solidFill>
                    <a:effectLst/>
                    <a:uFillTx/>
                    <a:latin typeface="Poppins" panose="02000000000000000000" pitchFamily="2" charset="0"/>
                    <a:ea typeface="+mn-ea"/>
                    <a:cs typeface="Poppins" panose="02000000000000000000" pitchFamily="2" charset="0"/>
                    <a:sym typeface="Helvetica Neue Medium"/>
                  </a:endParaRPr>
                </a:p>
              </p:txBody>
            </p:sp>
            <p:pic>
              <p:nvPicPr>
                <p:cNvPr id="52" name="Image 4" descr=" ">
                  <a:extLst>
                    <a:ext uri="{FF2B5EF4-FFF2-40B4-BE49-F238E27FC236}">
                      <a16:creationId xmlns:a16="http://schemas.microsoft.com/office/drawing/2014/main" id="{EBFBBEBF-54BA-16D4-4471-93E8BD5C81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317" y="1654235"/>
                  <a:ext cx="320731" cy="236307"/>
                </a:xfrm>
                <a:prstGeom prst="rect">
                  <a:avLst/>
                </a:prstGeom>
              </p:spPr>
            </p:pic>
          </p:grpSp>
          <p:sp>
            <p:nvSpPr>
              <p:cNvPr id="50" name="TextBox 49">
                <a:extLst>
                  <a:ext uri="{FF2B5EF4-FFF2-40B4-BE49-F238E27FC236}">
                    <a16:creationId xmlns:a16="http://schemas.microsoft.com/office/drawing/2014/main" id="{A4D9A6AA-AED5-30BA-5C17-0BC2FE26528C}"/>
                  </a:ext>
                </a:extLst>
              </p:cNvPr>
              <p:cNvSpPr txBox="1"/>
              <p:nvPr/>
            </p:nvSpPr>
            <p:spPr>
              <a:xfrm>
                <a:off x="8167220" y="1413115"/>
                <a:ext cx="275047" cy="241824"/>
              </a:xfrm>
              <a:prstGeom prst="rect">
                <a:avLst/>
              </a:prstGeom>
            </p:spPr>
            <p:txBody>
              <a:bodyPr wrap="square" lIns="0" tIns="0" rIns="0" bIns="0" rtlCol="0"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0" normalizeH="0" baseline="0" noProof="0">
                    <a:ln>
                      <a:noFill/>
                    </a:ln>
                    <a:solidFill>
                      <a:schemeClr val="bg1"/>
                    </a:solidFill>
                    <a:effectLst/>
                    <a:uLnTx/>
                    <a:uFillTx/>
                    <a:latin typeface="Vodafone Rg" pitchFamily="34" charset="0"/>
                  </a:rPr>
                  <a:t>EU</a:t>
                </a:r>
              </a:p>
            </p:txBody>
          </p:sp>
        </p:grpSp>
      </p:grpSp>
      <p:sp>
        <p:nvSpPr>
          <p:cNvPr id="78" name="Fumetto: rettangolo con angoli arrotondati 2">
            <a:extLst>
              <a:ext uri="{FF2B5EF4-FFF2-40B4-BE49-F238E27FC236}">
                <a16:creationId xmlns:a16="http://schemas.microsoft.com/office/drawing/2014/main" id="{E41E30EE-C7BF-11FB-B389-B4D4D1622C64}"/>
              </a:ext>
            </a:extLst>
          </p:cNvPr>
          <p:cNvSpPr/>
          <p:nvPr/>
        </p:nvSpPr>
        <p:spPr>
          <a:xfrm>
            <a:off x="118807" y="1105809"/>
            <a:ext cx="1107267" cy="870554"/>
          </a:xfrm>
          <a:prstGeom prst="wedgeRoundRectCallout">
            <a:avLst>
              <a:gd name="adj1" fmla="val 21371"/>
              <a:gd name="adj2" fmla="val 71257"/>
              <a:gd name="adj3" fmla="val 16667"/>
            </a:avLst>
          </a:prstGeom>
          <a:solidFill>
            <a:srgbClr val="92D050"/>
          </a:solidFill>
          <a:ln>
            <a:noFill/>
          </a:ln>
        </p:spPr>
        <p:txBody>
          <a:bodyPr vert="horz"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FFFFFF"/>
                </a:solidFill>
                <a:effectLst/>
                <a:uLnTx/>
                <a:uFillTx/>
                <a:latin typeface="Avenir Next LT Pro" panose="020B0504020202020204" pitchFamily="34" charset="0"/>
              </a:rPr>
              <a:t>Controvalore offerta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1" i="0" u="none" strike="noStrike" kern="1200" cap="none" spc="0" normalizeH="0" baseline="0" noProof="0" dirty="0">
                <a:ln>
                  <a:noFill/>
                </a:ln>
                <a:solidFill>
                  <a:srgbClr val="FFFFFF"/>
                </a:solidFill>
                <a:effectLst/>
                <a:uLnTx/>
                <a:uFillTx/>
                <a:latin typeface="Avenir Next LT Pro" panose="020B0504020202020204" pitchFamily="34" charset="0"/>
              </a:rPr>
              <a:t>per cliente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600" b="1" i="0" u="none" strike="noStrike" kern="1200" cap="none" spc="0" normalizeH="0" baseline="0" noProof="0" dirty="0">
                <a:ln>
                  <a:noFill/>
                </a:ln>
                <a:solidFill>
                  <a:srgbClr val="FFFFFF"/>
                </a:solidFill>
                <a:effectLst/>
                <a:uLnTx/>
                <a:uFillTx/>
                <a:latin typeface="Avenir Next LT Pro" panose="020B0504020202020204" pitchFamily="34" charset="0"/>
              </a:rPr>
              <a:t>+164€!</a:t>
            </a:r>
          </a:p>
        </p:txBody>
      </p:sp>
      <p:pic>
        <p:nvPicPr>
          <p:cNvPr id="81" name="Graphic 80" descr="Star with solid fill">
            <a:extLst>
              <a:ext uri="{FF2B5EF4-FFF2-40B4-BE49-F238E27FC236}">
                <a16:creationId xmlns:a16="http://schemas.microsoft.com/office/drawing/2014/main" id="{A8F39454-6B19-7266-8DEF-F57281A1553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154211" y="3466331"/>
            <a:ext cx="305280" cy="305280"/>
          </a:xfrm>
          <a:prstGeom prst="rect">
            <a:avLst/>
          </a:prstGeom>
        </p:spPr>
      </p:pic>
      <p:pic>
        <p:nvPicPr>
          <p:cNvPr id="82" name="Graphic 81" descr="Star with solid fill">
            <a:extLst>
              <a:ext uri="{FF2B5EF4-FFF2-40B4-BE49-F238E27FC236}">
                <a16:creationId xmlns:a16="http://schemas.microsoft.com/office/drawing/2014/main" id="{AB293DAA-F573-086E-21B1-9E0DD1911C1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55258" y="1289106"/>
            <a:ext cx="305280" cy="305280"/>
          </a:xfrm>
          <a:prstGeom prst="rect">
            <a:avLst/>
          </a:prstGeom>
        </p:spPr>
      </p:pic>
      <p:pic>
        <p:nvPicPr>
          <p:cNvPr id="83" name="Graphic 82" descr="Star with solid fill">
            <a:extLst>
              <a:ext uri="{FF2B5EF4-FFF2-40B4-BE49-F238E27FC236}">
                <a16:creationId xmlns:a16="http://schemas.microsoft.com/office/drawing/2014/main" id="{0BE5B687-0072-4415-AF49-2D89FB535BE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89795" y="5305254"/>
            <a:ext cx="305280" cy="305280"/>
          </a:xfrm>
          <a:prstGeom prst="rect">
            <a:avLst/>
          </a:prstGeom>
        </p:spPr>
      </p:pic>
    </p:spTree>
    <p:extLst>
      <p:ext uri="{BB962C8B-B14F-4D97-AF65-F5344CB8AC3E}">
        <p14:creationId xmlns:p14="http://schemas.microsoft.com/office/powerpoint/2010/main" val="3837102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7E693-80E8-36B2-8F04-BACBD6A4937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1B83BB0-159D-4C43-BCF6-1D54E0F96299}"/>
              </a:ext>
            </a:extLst>
          </p:cNvPr>
          <p:cNvSpPr>
            <a:spLocks noGrp="1"/>
          </p:cNvSpPr>
          <p:nvPr>
            <p:ph type="sldNum" sz="quarter" idx="2"/>
          </p:nvPr>
        </p:nvSpPr>
        <p:spPr>
          <a:xfrm>
            <a:off x="11614996" y="6505207"/>
            <a:ext cx="409933" cy="272589"/>
          </a:xfrm>
        </p:spPr>
        <p:txBody>
          <a:bodyPr/>
          <a:lstStyle/>
          <a:p>
            <a:fld id="{86CB4B4D-7CA3-9044-876B-883B54F8677D}" type="slidenum">
              <a:rPr lang="it-IT" smtClean="0"/>
              <a:pPr/>
              <a:t>18</a:t>
            </a:fld>
            <a:endParaRPr lang="it-IT"/>
          </a:p>
        </p:txBody>
      </p:sp>
      <p:sp>
        <p:nvSpPr>
          <p:cNvPr id="5" name="Text Placeholder 26">
            <a:extLst>
              <a:ext uri="{FF2B5EF4-FFF2-40B4-BE49-F238E27FC236}">
                <a16:creationId xmlns:a16="http://schemas.microsoft.com/office/drawing/2014/main" id="{200457DD-1A82-1942-145C-B18582686541}"/>
              </a:ext>
            </a:extLst>
          </p:cNvPr>
          <p:cNvSpPr>
            <a:spLocks noGrp="1"/>
          </p:cNvSpPr>
          <p:nvPr>
            <p:ph type="body" sz="quarter" idx="11"/>
          </p:nvPr>
        </p:nvSpPr>
        <p:spPr>
          <a:xfrm>
            <a:off x="686902" y="158901"/>
            <a:ext cx="10260000" cy="782638"/>
          </a:xfrm>
        </p:spPr>
        <p:txBody>
          <a:bodyPr anchor="ctr"/>
          <a:lstStyle/>
          <a:p>
            <a:r>
              <a:rPr lang="it-IT" b="1" dirty="0">
                <a:latin typeface="Poppins" panose="00000500000000000000" pitchFamily="2" charset="0"/>
              </a:rPr>
              <a:t>Condizioni di applicabilità delle promozioni</a:t>
            </a:r>
            <a:endParaRPr lang="it-IT" b="1" dirty="0">
              <a:latin typeface="Poppins" panose="00000500000000000000" pitchFamily="2" charset="0"/>
              <a:cs typeface="Poppins" panose="00000500000000000000" pitchFamily="2" charset="0"/>
            </a:endParaRPr>
          </a:p>
        </p:txBody>
      </p:sp>
      <p:sp>
        <p:nvSpPr>
          <p:cNvPr id="3" name="Rectangle: Rounded Corners 2">
            <a:extLst>
              <a:ext uri="{FF2B5EF4-FFF2-40B4-BE49-F238E27FC236}">
                <a16:creationId xmlns:a16="http://schemas.microsoft.com/office/drawing/2014/main" id="{52204C18-581F-CD07-B081-10DAA6D52ED3}"/>
              </a:ext>
            </a:extLst>
          </p:cNvPr>
          <p:cNvSpPr/>
          <p:nvPr/>
        </p:nvSpPr>
        <p:spPr>
          <a:xfrm>
            <a:off x="271463" y="1158042"/>
            <a:ext cx="5480752" cy="320461"/>
          </a:xfrm>
          <a:prstGeom prst="roundRect">
            <a:avLst/>
          </a:prstGeom>
          <a:solidFill>
            <a:srgbClr val="FFE21A"/>
          </a:solidFill>
          <a:ln>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schemeClr val="accent5"/>
                </a:solidFill>
                <a:effectLst/>
                <a:uLnTx/>
                <a:uFillTx/>
                <a:latin typeface="Arial"/>
                <a:ea typeface="+mn-ea"/>
                <a:cs typeface="+mn-cs"/>
              </a:rPr>
              <a:t>Casi in cui la promo NON si applica la promo sul 1° dispositivo:</a:t>
            </a:r>
          </a:p>
        </p:txBody>
      </p:sp>
      <p:sp>
        <p:nvSpPr>
          <p:cNvPr id="6" name="Rectangle: Rounded Corners 5">
            <a:extLst>
              <a:ext uri="{FF2B5EF4-FFF2-40B4-BE49-F238E27FC236}">
                <a16:creationId xmlns:a16="http://schemas.microsoft.com/office/drawing/2014/main" id="{0494B706-0670-D402-D82D-6BDB9E564BB6}"/>
              </a:ext>
            </a:extLst>
          </p:cNvPr>
          <p:cNvSpPr/>
          <p:nvPr/>
        </p:nvSpPr>
        <p:spPr>
          <a:xfrm>
            <a:off x="6439786" y="1164916"/>
            <a:ext cx="5480752" cy="320461"/>
          </a:xfrm>
          <a:prstGeom prst="roundRect">
            <a:avLst/>
          </a:prstGeom>
          <a:solidFill>
            <a:srgbClr val="FFE21A"/>
          </a:solidFill>
          <a:ln>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schemeClr val="accent5"/>
                </a:solidFill>
                <a:effectLst/>
                <a:uLnTx/>
                <a:uFillTx/>
                <a:latin typeface="Arial"/>
                <a:ea typeface="+mn-ea"/>
                <a:cs typeface="+mn-cs"/>
              </a:rPr>
              <a:t>Regole </a:t>
            </a:r>
            <a:r>
              <a:rPr kumimoji="0" lang="it-IT" sz="1100" b="1" i="0" u="none" strike="noStrike" kern="1200" cap="none" spc="0" normalizeH="0" baseline="0" noProof="0" dirty="0" err="1">
                <a:ln>
                  <a:noFill/>
                </a:ln>
                <a:solidFill>
                  <a:schemeClr val="accent5"/>
                </a:solidFill>
                <a:effectLst/>
                <a:uLnTx/>
                <a:uFillTx/>
                <a:latin typeface="Arial"/>
                <a:ea typeface="+mn-ea"/>
                <a:cs typeface="+mn-cs"/>
              </a:rPr>
              <a:t>CashBack</a:t>
            </a:r>
            <a:r>
              <a:rPr kumimoji="0" lang="it-IT" sz="1100" b="1" i="0" u="none" strike="noStrike" kern="1200" cap="none" spc="0" normalizeH="0" baseline="0" noProof="0" dirty="0">
                <a:ln>
                  <a:noFill/>
                </a:ln>
                <a:solidFill>
                  <a:schemeClr val="accent5"/>
                </a:solidFill>
                <a:effectLst/>
                <a:uLnTx/>
                <a:uFillTx/>
                <a:latin typeface="Arial"/>
                <a:ea typeface="+mn-ea"/>
                <a:cs typeface="+mn-cs"/>
              </a:rPr>
              <a:t> </a:t>
            </a:r>
            <a:r>
              <a:rPr kumimoji="0" lang="it-IT" sz="1100" b="1" i="0" u="none" strike="noStrike" kern="1200" cap="none" spc="0" normalizeH="0" baseline="0" noProof="0" dirty="0" err="1">
                <a:ln>
                  <a:noFill/>
                </a:ln>
                <a:solidFill>
                  <a:schemeClr val="accent5"/>
                </a:solidFill>
                <a:effectLst/>
                <a:uLnTx/>
                <a:uFillTx/>
                <a:latin typeface="Arial"/>
                <a:ea typeface="+mn-ea"/>
                <a:cs typeface="+mn-cs"/>
              </a:rPr>
              <a:t>Fuel</a:t>
            </a:r>
            <a:r>
              <a:rPr kumimoji="0" lang="it-IT" sz="1100" b="1" i="0" u="none" strike="noStrike" kern="1200" cap="none" spc="0" normalizeH="0" baseline="0" noProof="0" dirty="0">
                <a:ln>
                  <a:noFill/>
                </a:ln>
                <a:solidFill>
                  <a:schemeClr val="accent5"/>
                </a:solidFill>
                <a:effectLst/>
                <a:uLnTx/>
                <a:uFillTx/>
                <a:latin typeface="Arial"/>
                <a:ea typeface="+mn-ea"/>
                <a:cs typeface="+mn-cs"/>
              </a:rPr>
              <a:t>:</a:t>
            </a:r>
          </a:p>
        </p:txBody>
      </p:sp>
      <p:sp>
        <p:nvSpPr>
          <p:cNvPr id="8" name="TextBox 7">
            <a:extLst>
              <a:ext uri="{FF2B5EF4-FFF2-40B4-BE49-F238E27FC236}">
                <a16:creationId xmlns:a16="http://schemas.microsoft.com/office/drawing/2014/main" id="{D51717ED-13FA-85FA-ACCD-5A51D1400430}"/>
              </a:ext>
            </a:extLst>
          </p:cNvPr>
          <p:cNvSpPr txBox="1"/>
          <p:nvPr/>
        </p:nvSpPr>
        <p:spPr>
          <a:xfrm>
            <a:off x="481290" y="1554960"/>
            <a:ext cx="5061098" cy="261610"/>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Se il cliente ha aperto un contratto Telepass Base nei </a:t>
            </a:r>
            <a:r>
              <a:rPr kumimoji="0" lang="it-IT" sz="1050" b="0" i="0" u="sng" strike="noStrike" kern="1200" cap="none" spc="0" normalizeH="0" baseline="0" noProof="0" dirty="0">
                <a:ln>
                  <a:noFill/>
                </a:ln>
                <a:solidFill>
                  <a:schemeClr val="accent5"/>
                </a:solidFill>
                <a:effectLst/>
                <a:uLnTx/>
                <a:uFillTx/>
                <a:latin typeface="Arial"/>
                <a:ea typeface="+mn-lt"/>
                <a:cs typeface="Arial"/>
              </a:rPr>
              <a:t>30 giorni </a:t>
            </a:r>
            <a:r>
              <a:rPr kumimoji="0" lang="it-IT" sz="1050" b="0" i="0" u="none" strike="noStrike" kern="1200" cap="none" spc="0" normalizeH="0" baseline="0" noProof="0" dirty="0">
                <a:ln>
                  <a:noFill/>
                </a:ln>
                <a:solidFill>
                  <a:schemeClr val="accent5"/>
                </a:solidFill>
                <a:effectLst/>
                <a:uLnTx/>
                <a:uFillTx/>
                <a:latin typeface="Arial"/>
                <a:ea typeface="+mn-lt"/>
                <a:cs typeface="Arial"/>
              </a:rPr>
              <a:t>precedenti.</a:t>
            </a:r>
            <a:endParaRPr kumimoji="0" lang="it-IT" sz="1050" b="0" i="0" u="none" strike="noStrike" kern="1200" cap="none" spc="0" normalizeH="0" baseline="0" noProof="0" dirty="0">
              <a:ln>
                <a:noFill/>
              </a:ln>
              <a:solidFill>
                <a:schemeClr val="accent5"/>
              </a:solidFill>
              <a:effectLst/>
              <a:uLnTx/>
              <a:uFillTx/>
              <a:latin typeface="Arial"/>
              <a:ea typeface="+mn-ea"/>
              <a:cs typeface="+mn-cs"/>
            </a:endParaRPr>
          </a:p>
        </p:txBody>
      </p:sp>
      <p:sp>
        <p:nvSpPr>
          <p:cNvPr id="9" name="Rectangle: Rounded Corners 8">
            <a:extLst>
              <a:ext uri="{FF2B5EF4-FFF2-40B4-BE49-F238E27FC236}">
                <a16:creationId xmlns:a16="http://schemas.microsoft.com/office/drawing/2014/main" id="{64E4DEBA-8B02-2FFC-464B-842F4023B8B5}"/>
              </a:ext>
            </a:extLst>
          </p:cNvPr>
          <p:cNvSpPr/>
          <p:nvPr/>
        </p:nvSpPr>
        <p:spPr>
          <a:xfrm>
            <a:off x="271462" y="1998922"/>
            <a:ext cx="5480752" cy="320461"/>
          </a:xfrm>
          <a:prstGeom prst="roundRect">
            <a:avLst/>
          </a:prstGeom>
          <a:solidFill>
            <a:srgbClr val="FFE21A"/>
          </a:solidFill>
          <a:ln>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a:ln>
                  <a:noFill/>
                </a:ln>
                <a:solidFill>
                  <a:schemeClr val="accent5"/>
                </a:solidFill>
                <a:effectLst/>
                <a:uLnTx/>
                <a:uFillTx/>
                <a:latin typeface="Arial"/>
                <a:ea typeface="+mn-ea"/>
                <a:cs typeface="+mn-cs"/>
              </a:rPr>
              <a:t>Casi in cui la promo di Ass. Stradale deve essere applicata:</a:t>
            </a:r>
          </a:p>
        </p:txBody>
      </p:sp>
      <p:sp>
        <p:nvSpPr>
          <p:cNvPr id="10" name="TextBox 9">
            <a:extLst>
              <a:ext uri="{FF2B5EF4-FFF2-40B4-BE49-F238E27FC236}">
                <a16:creationId xmlns:a16="http://schemas.microsoft.com/office/drawing/2014/main" id="{70D88212-2871-7328-A2E0-1007FB3CC360}"/>
              </a:ext>
            </a:extLst>
          </p:cNvPr>
          <p:cNvSpPr txBox="1"/>
          <p:nvPr/>
        </p:nvSpPr>
        <p:spPr>
          <a:xfrm>
            <a:off x="481290" y="2330755"/>
            <a:ext cx="5061098" cy="430887"/>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La promo su assistenza stradale si APPLICA anche nei casi in cui il cliente ha già l'assistenza ITA e vuole prendere quella EU.</a:t>
            </a:r>
          </a:p>
        </p:txBody>
      </p:sp>
      <p:sp>
        <p:nvSpPr>
          <p:cNvPr id="12" name="Rectangle: Rounded Corners 11">
            <a:extLst>
              <a:ext uri="{FF2B5EF4-FFF2-40B4-BE49-F238E27FC236}">
                <a16:creationId xmlns:a16="http://schemas.microsoft.com/office/drawing/2014/main" id="{EE7DFBA8-45FB-9489-99F2-3E72FE5845CE}"/>
              </a:ext>
            </a:extLst>
          </p:cNvPr>
          <p:cNvSpPr/>
          <p:nvPr/>
        </p:nvSpPr>
        <p:spPr>
          <a:xfrm>
            <a:off x="251378" y="3134951"/>
            <a:ext cx="5480752" cy="430887"/>
          </a:xfrm>
          <a:prstGeom prst="roundRect">
            <a:avLst/>
          </a:prstGeom>
          <a:solidFill>
            <a:srgbClr val="FFE21A"/>
          </a:solidFill>
          <a:ln>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schemeClr val="accent5"/>
                </a:solidFill>
                <a:effectLst/>
                <a:uLnTx/>
                <a:uFillTx/>
                <a:latin typeface="Arial"/>
                <a:ea typeface="+mn-ea"/>
                <a:cs typeface="+mn-cs"/>
              </a:rPr>
              <a:t>Casi in cui la promo la promo NON si applica la promo sul 2° dispositivo:</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it-IT" sz="1100" b="1" i="0" u="none" strike="noStrike" kern="1200" cap="none" spc="0" normalizeH="0" baseline="0" noProof="0" dirty="0">
              <a:ln>
                <a:noFill/>
              </a:ln>
              <a:solidFill>
                <a:schemeClr val="accent5"/>
              </a:solidFill>
              <a:effectLst/>
              <a:uLnTx/>
              <a:uFillTx/>
              <a:latin typeface="Arial"/>
              <a:ea typeface="+mn-ea"/>
              <a:cs typeface="+mn-cs"/>
            </a:endParaRPr>
          </a:p>
        </p:txBody>
      </p:sp>
      <p:sp>
        <p:nvSpPr>
          <p:cNvPr id="16" name="TextBox 15">
            <a:extLst>
              <a:ext uri="{FF2B5EF4-FFF2-40B4-BE49-F238E27FC236}">
                <a16:creationId xmlns:a16="http://schemas.microsoft.com/office/drawing/2014/main" id="{3CF4E496-1CD4-AB8A-8641-4A9B33374103}"/>
              </a:ext>
            </a:extLst>
          </p:cNvPr>
          <p:cNvSpPr txBox="1"/>
          <p:nvPr/>
        </p:nvSpPr>
        <p:spPr>
          <a:xfrm>
            <a:off x="481290" y="3590401"/>
            <a:ext cx="5061098" cy="2262158"/>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Il cliente non deve aver avuto un contratto Family </a:t>
            </a:r>
            <a:r>
              <a:rPr kumimoji="0" lang="it-IT" sz="1050" b="0" i="0" u="sng" strike="noStrike" kern="1200" cap="none" spc="0" normalizeH="0" baseline="0" noProof="0" dirty="0">
                <a:ln>
                  <a:noFill/>
                </a:ln>
                <a:solidFill>
                  <a:schemeClr val="accent5"/>
                </a:solidFill>
                <a:effectLst/>
                <a:uLnTx/>
                <a:uFillTx/>
                <a:latin typeface="Arial"/>
                <a:ea typeface="+mn-lt"/>
                <a:cs typeface="Arial"/>
              </a:rPr>
              <a:t>con Twin </a:t>
            </a:r>
            <a:r>
              <a:rPr kumimoji="0" lang="it-IT" sz="1050" b="0" i="0" u="none" strike="noStrike" kern="1200" cap="none" spc="0" normalizeH="0" baseline="0" noProof="0" dirty="0">
                <a:ln>
                  <a:noFill/>
                </a:ln>
                <a:solidFill>
                  <a:schemeClr val="accent5"/>
                </a:solidFill>
                <a:effectLst/>
                <a:uLnTx/>
                <a:uFillTx/>
                <a:latin typeface="Arial"/>
                <a:ea typeface="+mn-lt"/>
                <a:cs typeface="Arial"/>
              </a:rPr>
              <a:t>attivo nei </a:t>
            </a:r>
            <a:r>
              <a:rPr kumimoji="0" lang="it-IT" sz="1050" b="0" i="0" u="sng" strike="noStrike" kern="1200" cap="none" spc="0" normalizeH="0" baseline="0" noProof="0" dirty="0">
                <a:ln>
                  <a:noFill/>
                </a:ln>
                <a:solidFill>
                  <a:schemeClr val="accent5"/>
                </a:solidFill>
                <a:effectLst/>
                <a:uLnTx/>
                <a:uFillTx/>
                <a:latin typeface="Arial"/>
                <a:ea typeface="+mn-lt"/>
                <a:cs typeface="Arial"/>
              </a:rPr>
              <a:t>30 giorni precedenti.</a:t>
            </a:r>
            <a:endParaRPr kumimoji="0" lang="it-IT" sz="1050" b="0" i="0" u="none" strike="noStrike" kern="1200" cap="none" spc="0" normalizeH="0" baseline="0" noProof="0" dirty="0">
              <a:ln>
                <a:noFill/>
              </a:ln>
              <a:solidFill>
                <a:schemeClr val="accent5"/>
              </a:solidFill>
              <a:effectLst/>
              <a:uLnTx/>
              <a:uFillTx/>
              <a:latin typeface="Arial"/>
              <a:ea typeface="+mn-lt"/>
              <a:cs typeface="Arial"/>
            </a:endParaRP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il Cliente deve mantenere entrambi gli apparati per il periodo promozionale altrimenti decade la promo. Se restituisce il 1° apparato, la promozione sul Twin decade.</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 Il Cliente non deve chiudere </a:t>
            </a:r>
            <a:r>
              <a:rPr kumimoji="0" lang="it-IT" sz="1050" b="0" i="0" u="none" strike="noStrike" kern="1200" cap="none" spc="0" normalizeH="0" baseline="0" noProof="0" dirty="0" err="1">
                <a:ln>
                  <a:noFill/>
                </a:ln>
                <a:solidFill>
                  <a:schemeClr val="accent5"/>
                </a:solidFill>
                <a:effectLst/>
                <a:uLnTx/>
                <a:uFillTx/>
                <a:latin typeface="Arial"/>
                <a:ea typeface="+mn-lt"/>
                <a:cs typeface="Arial"/>
              </a:rPr>
              <a:t>l’Ass</a:t>
            </a:r>
            <a:r>
              <a:rPr kumimoji="0" lang="it-IT" sz="1050" b="0" i="0" u="none" strike="noStrike" kern="1200" cap="none" spc="0" normalizeH="0" baseline="0" noProof="0" dirty="0">
                <a:ln>
                  <a:noFill/>
                </a:ln>
                <a:solidFill>
                  <a:schemeClr val="accent5"/>
                </a:solidFill>
                <a:effectLst/>
                <a:uLnTx/>
                <a:uFillTx/>
                <a:latin typeface="Arial"/>
                <a:ea typeface="+mn-lt"/>
                <a:cs typeface="Arial"/>
              </a:rPr>
              <a:t>. Stradale Italiana (Twin), altrimenti decade la promozione.</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Il Cliente non deve effettuare </a:t>
            </a:r>
            <a:r>
              <a:rPr kumimoji="0" lang="it-IT" sz="1050" b="0" i="0" u="none" strike="noStrike" kern="1200" cap="none" spc="0" normalizeH="0" baseline="0" noProof="0" dirty="0" err="1">
                <a:ln>
                  <a:noFill/>
                </a:ln>
                <a:solidFill>
                  <a:schemeClr val="accent5"/>
                </a:solidFill>
                <a:effectLst/>
                <a:uLnTx/>
                <a:uFillTx/>
                <a:latin typeface="Arial"/>
                <a:ea typeface="+mn-lt"/>
                <a:cs typeface="Arial"/>
              </a:rPr>
              <a:t>upselling</a:t>
            </a:r>
            <a:r>
              <a:rPr kumimoji="0" lang="it-IT" sz="1050" b="0" i="0" u="none" strike="noStrike" kern="1200" cap="none" spc="0" normalizeH="0" baseline="0" noProof="0" dirty="0">
                <a:ln>
                  <a:noFill/>
                </a:ln>
                <a:solidFill>
                  <a:schemeClr val="accent5"/>
                </a:solidFill>
                <a:effectLst/>
                <a:uLnTx/>
                <a:uFillTx/>
                <a:latin typeface="Arial"/>
                <a:ea typeface="+mn-lt"/>
                <a:cs typeface="Arial"/>
              </a:rPr>
              <a:t> da Ass. Stradale ITA (Twin) all’Assistenza Stradale Europea, altrimenti decade la promozione.</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Il dispositivo deve essere un dispositivo Italiano altrimenti decade la promozione.</a:t>
            </a:r>
          </a:p>
        </p:txBody>
      </p:sp>
      <p:sp>
        <p:nvSpPr>
          <p:cNvPr id="28" name="TextBox 27">
            <a:extLst>
              <a:ext uri="{FF2B5EF4-FFF2-40B4-BE49-F238E27FC236}">
                <a16:creationId xmlns:a16="http://schemas.microsoft.com/office/drawing/2014/main" id="{D68DC187-3577-49AE-41DB-553C4E9B6CCD}"/>
              </a:ext>
            </a:extLst>
          </p:cNvPr>
          <p:cNvSpPr txBox="1"/>
          <p:nvPr/>
        </p:nvSpPr>
        <p:spPr>
          <a:xfrm>
            <a:off x="6649613" y="1530065"/>
            <a:ext cx="5270924" cy="2500685"/>
          </a:xfrm>
          <a:prstGeom prst="rect">
            <a:avLst/>
          </a:prstGeom>
          <a:noFill/>
        </p:spPr>
        <p:txBody>
          <a:bodyPr wrap="square" lIns="91440" tIns="45720" rIns="91440" bIns="45720" anchor="t">
            <a:spAutoFit/>
          </a:bodyPr>
          <a:lstStyle/>
          <a:p>
            <a:pPr marL="171450" indent="-171450">
              <a:spcAft>
                <a:spcPts val="600"/>
              </a:spcAft>
              <a:buFont typeface="Wingdings" panose="05000000000000000000" pitchFamily="2" charset="2"/>
              <a:buChar char="ü"/>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Su tutti i canali fisici si aderisce al Telepass Base, poi in App Telepass il cliente sbloccherà in App tutti i servizi di mobilità di </a:t>
            </a:r>
            <a:r>
              <a:rPr kumimoji="0" lang="it-IT" sz="1050" b="1" i="0" u="none" strike="noStrike" kern="1200" cap="none" spc="0" normalizeH="0" baseline="0" noProof="0" dirty="0">
                <a:ln>
                  <a:noFill/>
                </a:ln>
                <a:solidFill>
                  <a:schemeClr val="accent5"/>
                </a:solidFill>
                <a:effectLst/>
                <a:uLnTx/>
                <a:uFillTx/>
                <a:latin typeface="Arial"/>
                <a:ea typeface="+mn-lt"/>
                <a:cs typeface="Arial"/>
              </a:rPr>
              <a:t>Telepass Sempre </a:t>
            </a:r>
            <a:r>
              <a:rPr kumimoji="0" lang="it-IT" sz="1050" b="0" i="0" u="none" strike="noStrike" kern="1200" cap="none" spc="0" normalizeH="0" baseline="0" noProof="0" dirty="0">
                <a:ln>
                  <a:noFill/>
                </a:ln>
                <a:solidFill>
                  <a:schemeClr val="accent5"/>
                </a:solidFill>
                <a:effectLst/>
                <a:uLnTx/>
                <a:uFillTx/>
                <a:latin typeface="Arial"/>
                <a:ea typeface="+mn-lt"/>
                <a:cs typeface="Arial"/>
              </a:rPr>
              <a:t>(allo stesso prezzo del Base). </a:t>
            </a:r>
          </a:p>
          <a:p>
            <a:pPr marL="171450" indent="-171450">
              <a:spcAft>
                <a:spcPts val="600"/>
              </a:spcAft>
              <a:buFont typeface="Wingdings" panose="05000000000000000000" pitchFamily="2" charset="2"/>
              <a:buChar char="ü"/>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Il Cliente deve inserire il codice in app </a:t>
            </a:r>
            <a:r>
              <a:rPr kumimoji="0" lang="it-IT" sz="1050" b="1" i="0" u="sng" strike="noStrike" kern="1200" cap="none" spc="0" normalizeH="0" baseline="0" noProof="0" dirty="0">
                <a:ln>
                  <a:noFill/>
                </a:ln>
                <a:solidFill>
                  <a:schemeClr val="accent5"/>
                </a:solidFill>
                <a:effectLst/>
                <a:uLnTx/>
                <a:uFillTx/>
                <a:latin typeface="Arial"/>
                <a:ea typeface="+mn-lt"/>
                <a:cs typeface="Arial"/>
              </a:rPr>
              <a:t>INVERNO26</a:t>
            </a:r>
            <a:r>
              <a:rPr kumimoji="0" lang="it-IT" sz="1050" b="1" i="0" u="none" strike="noStrike" kern="1200" cap="none" spc="0" normalizeH="0" baseline="0" noProof="0" dirty="0">
                <a:ln>
                  <a:noFill/>
                </a:ln>
                <a:solidFill>
                  <a:schemeClr val="accent5"/>
                </a:solidFill>
                <a:effectLst/>
                <a:uLnTx/>
                <a:uFillTx/>
                <a:latin typeface="Arial"/>
                <a:ea typeface="+mn-lt"/>
                <a:cs typeface="Arial"/>
              </a:rPr>
              <a:t> </a:t>
            </a:r>
            <a:r>
              <a:rPr kumimoji="0" lang="it-IT" sz="1050" b="0" i="0" u="none" strike="noStrike" kern="1200" cap="none" spc="0" normalizeH="0" baseline="0" noProof="0" dirty="0">
                <a:ln>
                  <a:noFill/>
                </a:ln>
                <a:solidFill>
                  <a:schemeClr val="accent5"/>
                </a:solidFill>
                <a:effectLst/>
                <a:uLnTx/>
                <a:uFillTx/>
                <a:latin typeface="Arial"/>
                <a:ea typeface="+mn-lt"/>
                <a:cs typeface="Arial"/>
              </a:rPr>
              <a:t>per ottenere </a:t>
            </a:r>
            <a:r>
              <a:rPr lang="it-IT" sz="1050" kern="1200" dirty="0">
                <a:solidFill>
                  <a:schemeClr val="accent5"/>
                </a:solidFill>
                <a:latin typeface="Arial"/>
                <a:ea typeface="+mn-lt"/>
                <a:cs typeface="Arial"/>
              </a:rPr>
              <a:t>5</a:t>
            </a:r>
            <a:r>
              <a:rPr kumimoji="0" lang="it-IT" sz="1050" b="0" i="0" u="none" strike="noStrike" kern="1200" cap="none" spc="0" normalizeH="0" baseline="0" noProof="0" dirty="0">
                <a:ln>
                  <a:noFill/>
                </a:ln>
                <a:solidFill>
                  <a:schemeClr val="accent5"/>
                </a:solidFill>
                <a:effectLst/>
                <a:uLnTx/>
                <a:uFillTx/>
                <a:latin typeface="Arial"/>
                <a:ea typeface="+mn-lt"/>
                <a:cs typeface="Arial"/>
              </a:rPr>
              <a:t>0€ in </a:t>
            </a:r>
            <a:r>
              <a:rPr kumimoji="0" lang="it-IT" sz="1050" b="0" i="0" u="none" strike="noStrike" kern="1200" cap="none" spc="0" normalizeH="0" baseline="0" noProof="0" dirty="0" err="1">
                <a:ln>
                  <a:noFill/>
                </a:ln>
                <a:solidFill>
                  <a:schemeClr val="accent5"/>
                </a:solidFill>
                <a:effectLst/>
                <a:uLnTx/>
                <a:uFillTx/>
                <a:latin typeface="Arial"/>
                <a:ea typeface="+mn-lt"/>
                <a:cs typeface="Arial"/>
              </a:rPr>
              <a:t>cashback</a:t>
            </a:r>
            <a:r>
              <a:rPr kumimoji="0" lang="it-IT" sz="1050" b="0" i="0" u="none" strike="noStrike" kern="1200" cap="none" spc="0" normalizeH="0" baseline="0" noProof="0" dirty="0">
                <a:ln>
                  <a:noFill/>
                </a:ln>
                <a:solidFill>
                  <a:schemeClr val="accent5"/>
                </a:solidFill>
                <a:effectLst/>
                <a:uLnTx/>
                <a:uFillTx/>
                <a:latin typeface="Arial"/>
                <a:ea typeface="+mn-lt"/>
                <a:cs typeface="Arial"/>
              </a:rPr>
              <a:t> da usare per il rifornimento in App Telepass esclusivamente sulla rete Eni (</a:t>
            </a:r>
            <a:r>
              <a:rPr kumimoji="0" lang="it-IT" sz="1050" b="0" i="1" u="none" strike="noStrike" kern="1200" cap="none" spc="0" normalizeH="0" baseline="0" noProof="0" dirty="0">
                <a:ln>
                  <a:noFill/>
                </a:ln>
                <a:solidFill>
                  <a:schemeClr val="accent5"/>
                </a:solidFill>
                <a:effectLst/>
                <a:uLnTx/>
                <a:uFillTx/>
                <a:latin typeface="Arial"/>
                <a:ea typeface="+mn-lt"/>
                <a:cs typeface="Arial"/>
              </a:rPr>
              <a:t>tetto mensile di 10€ per </a:t>
            </a:r>
            <a:r>
              <a:rPr lang="it-IT" sz="1050" i="1" kern="1200" dirty="0">
                <a:solidFill>
                  <a:schemeClr val="accent5"/>
                </a:solidFill>
                <a:latin typeface="Arial"/>
                <a:ea typeface="+mn-lt"/>
                <a:cs typeface="Arial"/>
              </a:rPr>
              <a:t>5</a:t>
            </a:r>
            <a:r>
              <a:rPr kumimoji="0" lang="it-IT" sz="1050" b="0" i="1" u="none" strike="noStrike" kern="1200" cap="none" spc="0" normalizeH="0" baseline="0" noProof="0" dirty="0">
                <a:ln>
                  <a:noFill/>
                </a:ln>
                <a:solidFill>
                  <a:schemeClr val="accent5"/>
                </a:solidFill>
                <a:effectLst/>
                <a:uLnTx/>
                <a:uFillTx/>
                <a:latin typeface="Arial"/>
                <a:ea typeface="+mn-lt"/>
                <a:cs typeface="Arial"/>
              </a:rPr>
              <a:t> mesi, con spesa minima di 30€</a:t>
            </a:r>
            <a:r>
              <a:rPr kumimoji="0" lang="it-IT" sz="1050" b="0" i="0" u="none" strike="noStrike" kern="1200" cap="none" spc="0" normalizeH="0" baseline="0" noProof="0" dirty="0">
                <a:ln>
                  <a:noFill/>
                </a:ln>
                <a:solidFill>
                  <a:schemeClr val="accent5"/>
                </a:solidFill>
                <a:effectLst/>
                <a:uLnTx/>
                <a:uFillTx/>
                <a:latin typeface="Arial"/>
                <a:ea typeface="+mn-lt"/>
                <a:cs typeface="Arial"/>
              </a:rPr>
              <a:t>).</a:t>
            </a:r>
          </a:p>
          <a:p>
            <a:pPr marL="171450" indent="-171450">
              <a:spcAft>
                <a:spcPts val="600"/>
              </a:spcAft>
              <a:buFont typeface="Wingdings" panose="05000000000000000000" pitchFamily="2" charset="2"/>
              <a:buChar char="ü"/>
              <a:defRPr/>
            </a:pPr>
            <a:r>
              <a:rPr kumimoji="0" lang="it-IT" sz="1050" b="0" i="0" u="sng" strike="noStrike" kern="1200" cap="none" spc="0" normalizeH="0" baseline="0" noProof="0" dirty="0">
                <a:ln>
                  <a:noFill/>
                </a:ln>
                <a:solidFill>
                  <a:schemeClr val="accent5"/>
                </a:solidFill>
                <a:effectLst/>
                <a:uLnTx/>
                <a:uFillTx/>
                <a:latin typeface="Arial"/>
                <a:ea typeface="+mn-lt"/>
                <a:cs typeface="Arial"/>
              </a:rPr>
              <a:t>Lo sblocco dall’app dei servizi richiede max 4 giorni, </a:t>
            </a:r>
            <a:r>
              <a:rPr kumimoji="0" lang="it-IT" sz="1050" b="0" i="0" u="sng" strike="noStrike" kern="1200" cap="none" spc="0" normalizeH="0" baseline="0" noProof="0" dirty="0" err="1">
                <a:ln>
                  <a:noFill/>
                </a:ln>
                <a:solidFill>
                  <a:schemeClr val="accent5"/>
                </a:solidFill>
                <a:effectLst/>
                <a:uLnTx/>
                <a:uFillTx/>
                <a:latin typeface="Arial"/>
                <a:ea typeface="+mn-lt"/>
                <a:cs typeface="Arial"/>
              </a:rPr>
              <a:t>dopodichè</a:t>
            </a:r>
            <a:r>
              <a:rPr kumimoji="0" lang="it-IT" sz="1050" b="0" i="0" u="sng" strike="noStrike" kern="1200" cap="none" spc="0" normalizeH="0" baseline="0" noProof="0" dirty="0">
                <a:ln>
                  <a:noFill/>
                </a:ln>
                <a:solidFill>
                  <a:schemeClr val="accent5"/>
                </a:solidFill>
                <a:effectLst/>
                <a:uLnTx/>
                <a:uFillTx/>
                <a:latin typeface="Arial"/>
                <a:ea typeface="+mn-lt"/>
                <a:cs typeface="Arial"/>
              </a:rPr>
              <a:t> il Cliente ha 15 gg di tempo per inserirlo.</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Ricordiamo che se un cliente ha 2 dispositivi attivi sul contratto, entrambi usufruiranno del </a:t>
            </a:r>
            <a:r>
              <a:rPr kumimoji="0" lang="it-IT" sz="1050" b="0" i="0" u="none" strike="noStrike" kern="1200" cap="none" spc="0" normalizeH="0" baseline="0" noProof="0" dirty="0" err="1">
                <a:ln>
                  <a:noFill/>
                </a:ln>
                <a:solidFill>
                  <a:schemeClr val="accent5"/>
                </a:solidFill>
                <a:effectLst/>
                <a:uLnTx/>
                <a:uFillTx/>
                <a:latin typeface="Arial"/>
                <a:ea typeface="+mn-lt"/>
                <a:cs typeface="Arial"/>
              </a:rPr>
              <a:t>CashBack</a:t>
            </a:r>
            <a:r>
              <a:rPr kumimoji="0" lang="it-IT" sz="1050" b="0" i="0" u="none" strike="noStrike" kern="1200" cap="none" spc="0" normalizeH="0" baseline="0" noProof="0" dirty="0">
                <a:ln>
                  <a:noFill/>
                </a:ln>
                <a:solidFill>
                  <a:schemeClr val="accent5"/>
                </a:solidFill>
                <a:effectLst/>
                <a:uLnTx/>
                <a:uFillTx/>
                <a:latin typeface="Arial"/>
                <a:ea typeface="+mn-lt"/>
                <a:cs typeface="Arial"/>
              </a:rPr>
              <a:t> </a:t>
            </a:r>
            <a:r>
              <a:rPr kumimoji="0" lang="it-IT" sz="1050" b="0" i="0" u="none" strike="noStrike" kern="1200" cap="none" spc="0" normalizeH="0" baseline="0" noProof="0" dirty="0" err="1">
                <a:ln>
                  <a:noFill/>
                </a:ln>
                <a:solidFill>
                  <a:schemeClr val="accent5"/>
                </a:solidFill>
                <a:effectLst/>
                <a:uLnTx/>
                <a:uFillTx/>
                <a:latin typeface="Arial"/>
                <a:ea typeface="+mn-lt"/>
                <a:cs typeface="Arial"/>
              </a:rPr>
              <a:t>Fuel</a:t>
            </a:r>
            <a:r>
              <a:rPr kumimoji="0" lang="it-IT" sz="1050" b="0" i="0" u="none" strike="noStrike" kern="1200" cap="none" spc="0" normalizeH="0" baseline="0" noProof="0" dirty="0">
                <a:ln>
                  <a:noFill/>
                </a:ln>
                <a:solidFill>
                  <a:schemeClr val="accent5"/>
                </a:solidFill>
                <a:effectLst/>
                <a:uLnTx/>
                <a:uFillTx/>
                <a:latin typeface="Arial"/>
                <a:ea typeface="+mn-lt"/>
                <a:cs typeface="Arial"/>
              </a:rPr>
              <a:t> </a:t>
            </a:r>
            <a:r>
              <a:rPr lang="it-IT" sz="1050" dirty="0">
                <a:solidFill>
                  <a:schemeClr val="accent5"/>
                </a:solidFill>
                <a:latin typeface="Arial"/>
                <a:ea typeface="+mn-lt"/>
                <a:cs typeface="Arial"/>
              </a:rPr>
              <a:t>ma</a:t>
            </a:r>
            <a:r>
              <a:rPr kumimoji="0" lang="it-IT" sz="1050" b="0" i="0" u="none" strike="noStrike" kern="1200" cap="none" spc="0" normalizeH="0" baseline="0" noProof="0" dirty="0">
                <a:ln>
                  <a:noFill/>
                </a:ln>
                <a:solidFill>
                  <a:schemeClr val="accent5"/>
                </a:solidFill>
                <a:effectLst/>
                <a:uLnTx/>
                <a:uFillTx/>
                <a:latin typeface="Arial"/>
                <a:ea typeface="+mn-lt"/>
                <a:cs typeface="Arial"/>
              </a:rPr>
              <a:t> concorreranno assieme al raggiungimento dei </a:t>
            </a:r>
            <a:r>
              <a:rPr lang="it-IT" sz="1050" kern="1200" dirty="0">
                <a:solidFill>
                  <a:schemeClr val="accent5"/>
                </a:solidFill>
                <a:latin typeface="Arial"/>
                <a:ea typeface="+mn-lt"/>
                <a:cs typeface="Arial"/>
              </a:rPr>
              <a:t>5</a:t>
            </a:r>
            <a:r>
              <a:rPr kumimoji="0" lang="it-IT" sz="1050" b="0" i="0" u="none" strike="noStrike" kern="1200" cap="none" spc="0" normalizeH="0" baseline="0" noProof="0" dirty="0">
                <a:ln>
                  <a:noFill/>
                </a:ln>
                <a:solidFill>
                  <a:schemeClr val="accent5"/>
                </a:solidFill>
                <a:effectLst/>
                <a:uLnTx/>
                <a:uFillTx/>
                <a:latin typeface="Arial"/>
                <a:ea typeface="+mn-lt"/>
                <a:cs typeface="Arial"/>
              </a:rPr>
              <a:t>0€ complessivi e non che i clienti avranno </a:t>
            </a:r>
            <a:r>
              <a:rPr lang="it-IT" sz="1050" kern="1200" dirty="0">
                <a:solidFill>
                  <a:schemeClr val="accent5"/>
                </a:solidFill>
                <a:latin typeface="Arial"/>
                <a:ea typeface="+mn-lt"/>
                <a:cs typeface="Arial"/>
              </a:rPr>
              <a:t>5</a:t>
            </a:r>
            <a:r>
              <a:rPr kumimoji="0" lang="it-IT" sz="1050" b="0" i="0" u="none" strike="noStrike" kern="1200" cap="none" spc="0" normalizeH="0" baseline="0" noProof="0" dirty="0">
                <a:ln>
                  <a:noFill/>
                </a:ln>
                <a:solidFill>
                  <a:schemeClr val="accent5"/>
                </a:solidFill>
                <a:effectLst/>
                <a:uLnTx/>
                <a:uFillTx/>
                <a:latin typeface="Arial"/>
                <a:ea typeface="+mn-lt"/>
                <a:cs typeface="Arial"/>
              </a:rPr>
              <a:t>0€ su un dispositivo + </a:t>
            </a:r>
            <a:r>
              <a:rPr lang="it-IT" sz="1050" kern="1200" dirty="0">
                <a:solidFill>
                  <a:schemeClr val="accent5"/>
                </a:solidFill>
                <a:latin typeface="Arial"/>
                <a:ea typeface="+mn-lt"/>
                <a:cs typeface="Arial"/>
              </a:rPr>
              <a:t>5</a:t>
            </a:r>
            <a:r>
              <a:rPr kumimoji="0" lang="it-IT" sz="1050" b="0" i="0" u="none" strike="noStrike" kern="1200" cap="none" spc="0" normalizeH="0" baseline="0" noProof="0" dirty="0">
                <a:ln>
                  <a:noFill/>
                </a:ln>
                <a:solidFill>
                  <a:schemeClr val="accent5"/>
                </a:solidFill>
                <a:effectLst/>
                <a:uLnTx/>
                <a:uFillTx/>
                <a:latin typeface="Arial"/>
                <a:ea typeface="+mn-lt"/>
                <a:cs typeface="Arial"/>
              </a:rPr>
              <a:t>0€ sull’altro.</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NB: il </a:t>
            </a:r>
            <a:r>
              <a:rPr kumimoji="0" lang="it-IT" sz="1050" b="0" i="0" u="none" strike="noStrike" kern="1200" cap="none" spc="0" normalizeH="0" baseline="0" noProof="0" dirty="0" err="1">
                <a:ln>
                  <a:noFill/>
                </a:ln>
                <a:solidFill>
                  <a:schemeClr val="accent5"/>
                </a:solidFill>
                <a:effectLst/>
                <a:uLnTx/>
                <a:uFillTx/>
                <a:latin typeface="Arial"/>
                <a:ea typeface="+mn-lt"/>
                <a:cs typeface="Arial"/>
              </a:rPr>
              <a:t>CashBack</a:t>
            </a:r>
            <a:r>
              <a:rPr kumimoji="0" lang="it-IT" sz="1050" b="0" i="0" u="none" strike="noStrike" kern="1200" cap="none" spc="0" normalizeH="0" baseline="0" noProof="0" dirty="0">
                <a:ln>
                  <a:noFill/>
                </a:ln>
                <a:solidFill>
                  <a:schemeClr val="accent5"/>
                </a:solidFill>
                <a:effectLst/>
                <a:uLnTx/>
                <a:uFillTx/>
                <a:latin typeface="Arial"/>
                <a:ea typeface="+mn-lt"/>
                <a:cs typeface="Arial"/>
              </a:rPr>
              <a:t> non è applicabile ai già Clienti che attivano il Twin (2° dispositivo) ma SOLO ai nuovi Clienti.</a:t>
            </a:r>
          </a:p>
        </p:txBody>
      </p:sp>
      <p:sp>
        <p:nvSpPr>
          <p:cNvPr id="41" name="Rectangle 40">
            <a:extLst>
              <a:ext uri="{FF2B5EF4-FFF2-40B4-BE49-F238E27FC236}">
                <a16:creationId xmlns:a16="http://schemas.microsoft.com/office/drawing/2014/main" id="{0C4AF994-E170-24DE-DB93-5641963FB3C1}"/>
              </a:ext>
            </a:extLst>
          </p:cNvPr>
          <p:cNvSpPr/>
          <p:nvPr/>
        </p:nvSpPr>
        <p:spPr>
          <a:xfrm>
            <a:off x="271463" y="1424923"/>
            <a:ext cx="5480752" cy="446648"/>
          </a:xfrm>
          <a:prstGeom prst="rect">
            <a:avLst/>
          </a:prstGeom>
          <a:noFill/>
          <a:ln w="12700">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chemeClr val="accent5"/>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0595ACB8-76EB-2770-EFFF-B79524471F7F}"/>
              </a:ext>
            </a:extLst>
          </p:cNvPr>
          <p:cNvSpPr/>
          <p:nvPr/>
        </p:nvSpPr>
        <p:spPr>
          <a:xfrm>
            <a:off x="271463" y="2330008"/>
            <a:ext cx="5480752" cy="569938"/>
          </a:xfrm>
          <a:prstGeom prst="rect">
            <a:avLst/>
          </a:prstGeom>
          <a:noFill/>
          <a:ln w="12700">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chemeClr val="accent5"/>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5736F0E2-995B-5EC2-C20E-6CEB96CEBADC}"/>
              </a:ext>
            </a:extLst>
          </p:cNvPr>
          <p:cNvSpPr/>
          <p:nvPr/>
        </p:nvSpPr>
        <p:spPr>
          <a:xfrm>
            <a:off x="271463" y="3569152"/>
            <a:ext cx="5480752" cy="2230774"/>
          </a:xfrm>
          <a:prstGeom prst="rect">
            <a:avLst/>
          </a:prstGeom>
          <a:noFill/>
          <a:ln w="12700">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chemeClr val="accent5"/>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AB753B01-01F7-E407-A88E-92A09E4AB57C}"/>
              </a:ext>
            </a:extLst>
          </p:cNvPr>
          <p:cNvSpPr/>
          <p:nvPr/>
        </p:nvSpPr>
        <p:spPr>
          <a:xfrm>
            <a:off x="6439786" y="1457368"/>
            <a:ext cx="5480752" cy="2762464"/>
          </a:xfrm>
          <a:prstGeom prst="rect">
            <a:avLst/>
          </a:prstGeom>
          <a:noFill/>
          <a:ln w="12700">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chemeClr val="accent5"/>
              </a:solidFill>
              <a:effectLst/>
              <a:uLnTx/>
              <a:uFillTx/>
              <a:latin typeface="Arial"/>
              <a:ea typeface="+mn-ea"/>
              <a:cs typeface="+mn-cs"/>
            </a:endParaRPr>
          </a:p>
        </p:txBody>
      </p:sp>
      <p:sp>
        <p:nvSpPr>
          <p:cNvPr id="39" name="Rectangle: Rounded Corners 38">
            <a:extLst>
              <a:ext uri="{FF2B5EF4-FFF2-40B4-BE49-F238E27FC236}">
                <a16:creationId xmlns:a16="http://schemas.microsoft.com/office/drawing/2014/main" id="{10312008-7E21-B3DC-D397-8EA6EB900EE3}"/>
              </a:ext>
            </a:extLst>
          </p:cNvPr>
          <p:cNvSpPr/>
          <p:nvPr/>
        </p:nvSpPr>
        <p:spPr>
          <a:xfrm>
            <a:off x="6439785" y="4530394"/>
            <a:ext cx="5480752" cy="311795"/>
          </a:xfrm>
          <a:prstGeom prst="roundRect">
            <a:avLst/>
          </a:prstGeom>
          <a:solidFill>
            <a:srgbClr val="FFE21A"/>
          </a:solidFill>
          <a:ln>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schemeClr val="accent5"/>
                </a:solidFill>
                <a:effectLst/>
                <a:uLnTx/>
                <a:uFillTx/>
                <a:latin typeface="Arial"/>
                <a:ea typeface="+mn-ea"/>
                <a:cs typeface="+mn-cs"/>
              </a:rPr>
              <a:t>La Promozione Apparato Europeo deve valere:</a:t>
            </a:r>
          </a:p>
        </p:txBody>
      </p:sp>
      <p:sp>
        <p:nvSpPr>
          <p:cNvPr id="40" name="TextBox 39">
            <a:extLst>
              <a:ext uri="{FF2B5EF4-FFF2-40B4-BE49-F238E27FC236}">
                <a16:creationId xmlns:a16="http://schemas.microsoft.com/office/drawing/2014/main" id="{02E1B88A-9C96-E253-3494-8950B5962A12}"/>
              </a:ext>
            </a:extLst>
          </p:cNvPr>
          <p:cNvSpPr txBox="1"/>
          <p:nvPr/>
        </p:nvSpPr>
        <p:spPr>
          <a:xfrm>
            <a:off x="6722421" y="4937953"/>
            <a:ext cx="5061098" cy="718688"/>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per i  clienti che richiedono un apparato europeo come primo apparato o secondo apparato (TWIN).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it-IT" sz="1050" b="0" i="0" u="none" strike="noStrike" kern="1200" cap="none" spc="0" normalizeH="0" baseline="0" noProof="0" dirty="0">
                <a:ln>
                  <a:noFill/>
                </a:ln>
                <a:solidFill>
                  <a:schemeClr val="accent5"/>
                </a:solidFill>
                <a:effectLst/>
                <a:uLnTx/>
                <a:uFillTx/>
                <a:latin typeface="Arial"/>
                <a:ea typeface="+mn-lt"/>
                <a:cs typeface="Arial"/>
              </a:rPr>
              <a:t>per i già clienti che sostituiscono un apparato Italiano con uno Europeo  (UPSELLING).</a:t>
            </a:r>
          </a:p>
        </p:txBody>
      </p:sp>
      <p:sp>
        <p:nvSpPr>
          <p:cNvPr id="45" name="Rectangle 44">
            <a:extLst>
              <a:ext uri="{FF2B5EF4-FFF2-40B4-BE49-F238E27FC236}">
                <a16:creationId xmlns:a16="http://schemas.microsoft.com/office/drawing/2014/main" id="{69477C57-06BF-A7D1-86ED-503592E93827}"/>
              </a:ext>
            </a:extLst>
          </p:cNvPr>
          <p:cNvSpPr/>
          <p:nvPr/>
        </p:nvSpPr>
        <p:spPr>
          <a:xfrm>
            <a:off x="6439785" y="4842189"/>
            <a:ext cx="5480752" cy="957737"/>
          </a:xfrm>
          <a:prstGeom prst="rect">
            <a:avLst/>
          </a:prstGeom>
          <a:noFill/>
          <a:ln w="12700">
            <a:solidFill>
              <a:srgbClr val="FFE2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600" b="0" i="0" u="none" strike="noStrike" kern="1200" cap="none" spc="0" normalizeH="0" baseline="0" noProof="0">
              <a:ln>
                <a:noFill/>
              </a:ln>
              <a:solidFill>
                <a:schemeClr val="accent5"/>
              </a:solidFill>
              <a:effectLst/>
              <a:uLnTx/>
              <a:uFillTx/>
              <a:latin typeface="Arial"/>
              <a:ea typeface="+mn-ea"/>
              <a:cs typeface="+mn-cs"/>
            </a:endParaRPr>
          </a:p>
        </p:txBody>
      </p:sp>
    </p:spTree>
    <p:extLst>
      <p:ext uri="{BB962C8B-B14F-4D97-AF65-F5344CB8AC3E}">
        <p14:creationId xmlns:p14="http://schemas.microsoft.com/office/powerpoint/2010/main" val="490468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stretch>
            <a:fillRect/>
          </a:stretch>
        </p:blipFill>
        <p:spPr>
          <a:xfrm>
            <a:off x="0" y="447"/>
            <a:ext cx="12191937" cy="6857107"/>
          </a:xfrm>
          <a:prstGeom prst="rect">
            <a:avLst/>
          </a:prstGeom>
        </p:spPr>
      </p:pic>
      <p:sp>
        <p:nvSpPr>
          <p:cNvPr id="3" name="Shape 0"/>
          <p:cNvSpPr/>
          <p:nvPr/>
        </p:nvSpPr>
        <p:spPr>
          <a:xfrm>
            <a:off x="634997" y="3854395"/>
            <a:ext cx="9061403" cy="3034905"/>
          </a:xfrm>
          <a:prstGeom prst="rect">
            <a:avLst/>
          </a:prstGeom>
          <a:noFill/>
          <a:ln/>
        </p:spPr>
        <p:txBody>
          <a:bodyPr/>
          <a:lstStyle/>
          <a:p>
            <a:endParaRPr lang="it-IT"/>
          </a:p>
        </p:txBody>
      </p:sp>
      <p:sp>
        <p:nvSpPr>
          <p:cNvPr id="4" name="Text 1"/>
          <p:cNvSpPr/>
          <p:nvPr/>
        </p:nvSpPr>
        <p:spPr>
          <a:xfrm>
            <a:off x="634997" y="3515772"/>
            <a:ext cx="9400068" cy="2370358"/>
          </a:xfrm>
          <a:prstGeom prst="rect">
            <a:avLst/>
          </a:prstGeom>
          <a:noFill/>
          <a:ln/>
        </p:spPr>
        <p:txBody>
          <a:bodyPr wrap="square" lIns="0" tIns="0" rIns="0" bIns="0" rtlCol="0" anchor="b"/>
          <a:lstStyle>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a:lstStyle>
          <a:p>
            <a:r>
              <a:rPr lang="en-US" sz="5400" err="1">
                <a:solidFill>
                  <a:schemeClr val="bg1"/>
                </a:solidFill>
              </a:rPr>
              <a:t>Grazie</a:t>
            </a:r>
            <a:r>
              <a:rPr lang="en-US" sz="5400">
                <a:solidFill>
                  <a:schemeClr val="bg1"/>
                </a:solidFill>
              </a:rPr>
              <a:t> </a:t>
            </a:r>
            <a:r>
              <a:rPr lang="en-US" sz="5400" err="1">
                <a:solidFill>
                  <a:schemeClr val="bg1"/>
                </a:solidFill>
              </a:rPr>
              <a:t>dell’attenzione</a:t>
            </a:r>
            <a:endParaRPr lang="en-US" sz="5400">
              <a:solidFill>
                <a:schemeClr val="bg1"/>
              </a:solidFill>
            </a:endParaRPr>
          </a:p>
        </p:txBody>
      </p:sp>
      <p:sp>
        <p:nvSpPr>
          <p:cNvPr id="5" name="Text 2"/>
          <p:cNvSpPr/>
          <p:nvPr/>
        </p:nvSpPr>
        <p:spPr>
          <a:xfrm>
            <a:off x="634997" y="749649"/>
            <a:ext cx="2586591" cy="414001"/>
          </a:xfrm>
          <a:prstGeom prst="rect">
            <a:avLst/>
          </a:prstGeom>
          <a:noFill/>
          <a:ln/>
        </p:spPr>
        <p:txBody>
          <a:bodyPr wrap="square" lIns="0" tIns="0" rIns="0" bIns="0" rtlCol="0" anchor="t"/>
          <a:lstStyle>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a:lstStyle>
          <a:p>
            <a:pPr>
              <a:lnSpc>
                <a:spcPts val="2080"/>
              </a:lnSpc>
            </a:pPr>
            <a:r>
              <a:rPr lang="en-US" sz="1600" dirty="0">
                <a:solidFill>
                  <a:srgbClr val="FFFFFF">
                    <a:alpha val="80000"/>
                  </a:srgbClr>
                </a:solidFill>
                <a:ea typeface="+mn-lt"/>
                <a:cs typeface="+mn-lt"/>
              </a:rPr>
              <a:t>Telepass &amp; Eni</a:t>
            </a:r>
            <a:endParaRPr lang="it-IT" dirty="0"/>
          </a:p>
        </p:txBody>
      </p:sp>
      <p:pic>
        <p:nvPicPr>
          <p:cNvPr id="6" name="Image 1" descr=" "/>
          <p:cNvPicPr>
            <a:picLocks noChangeAspect="1"/>
          </p:cNvPicPr>
          <p:nvPr/>
        </p:nvPicPr>
        <p:blipFill>
          <a:blip r:embed="rId4"/>
          <a:stretch>
            <a:fillRect/>
          </a:stretch>
        </p:blipFill>
        <p:spPr>
          <a:xfrm>
            <a:off x="10286947" y="381397"/>
            <a:ext cx="1269994" cy="290941"/>
          </a:xfrm>
          <a:prstGeom prst="rect">
            <a:avLst/>
          </a:prstGeom>
        </p:spPr>
      </p:pic>
      <p:pic>
        <p:nvPicPr>
          <p:cNvPr id="7"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31433" y="427997"/>
            <a:ext cx="163146" cy="192229"/>
          </a:xfrm>
          <a:prstGeom prst="rect">
            <a:avLst/>
          </a:prstGeom>
        </p:spPr>
      </p:pic>
      <p:pic>
        <p:nvPicPr>
          <p:cNvPr id="8" name="Image 3" descr=" "/>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631786" y="469371"/>
            <a:ext cx="126305" cy="123972"/>
          </a:xfrm>
          <a:prstGeom prst="rect">
            <a:avLst/>
          </a:prstGeom>
        </p:spPr>
      </p:pic>
      <p:pic>
        <p:nvPicPr>
          <p:cNvPr id="9" name="Image 4" descr=" "/>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758810" y="416419"/>
            <a:ext cx="75828" cy="176903"/>
          </a:xfrm>
          <a:prstGeom prst="rect">
            <a:avLst/>
          </a:prstGeom>
        </p:spPr>
      </p:pic>
      <p:pic>
        <p:nvPicPr>
          <p:cNvPr id="10" name="Image 5" descr=" "/>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0822626" y="469609"/>
            <a:ext cx="126417" cy="123721"/>
          </a:xfrm>
          <a:prstGeom prst="rect">
            <a:avLst/>
          </a:prstGeom>
        </p:spPr>
      </p:pic>
      <p:pic>
        <p:nvPicPr>
          <p:cNvPr id="11" name="Image 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939511" y="469593"/>
            <a:ext cx="160176" cy="168090"/>
          </a:xfrm>
          <a:prstGeom prst="rect">
            <a:avLst/>
          </a:prstGeom>
        </p:spPr>
      </p:pic>
      <p:pic>
        <p:nvPicPr>
          <p:cNvPr id="12" name="Image 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114135" y="469110"/>
            <a:ext cx="149714" cy="124218"/>
          </a:xfrm>
          <a:prstGeom prst="rect">
            <a:avLst/>
          </a:prstGeom>
        </p:spPr>
      </p:pic>
      <p:pic>
        <p:nvPicPr>
          <p:cNvPr id="13" name="Image 8" descr=" "/>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1257977" y="469723"/>
            <a:ext cx="120376" cy="123662"/>
          </a:xfrm>
          <a:prstGeom prst="rect">
            <a:avLst/>
          </a:prstGeom>
        </p:spPr>
      </p:pic>
      <p:pic>
        <p:nvPicPr>
          <p:cNvPr id="14" name="Image 9" descr=" "/>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378279" y="469867"/>
            <a:ext cx="120042" cy="123523"/>
          </a:xfrm>
          <a:prstGeom prst="rect">
            <a:avLst/>
          </a:prstGeom>
        </p:spPr>
      </p:pic>
      <p:pic>
        <p:nvPicPr>
          <p:cNvPr id="15" name="Image 10"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533101" y="433049"/>
            <a:ext cx="148939" cy="160273"/>
          </a:xfrm>
          <a:prstGeom prst="rect">
            <a:avLst/>
          </a:prstGeom>
        </p:spPr>
      </p:pic>
    </p:spTree>
    <p:extLst>
      <p:ext uri="{BB962C8B-B14F-4D97-AF65-F5344CB8AC3E}">
        <p14:creationId xmlns:p14="http://schemas.microsoft.com/office/powerpoint/2010/main" val="10818437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telepass">
      <a:dk1>
        <a:srgbClr val="0057B7"/>
      </a:dk1>
      <a:lt1>
        <a:srgbClr val="FFFFFF"/>
      </a:lt1>
      <a:dk2>
        <a:srgbClr val="FEE01A"/>
      </a:dk2>
      <a:lt2>
        <a:srgbClr val="FF6900"/>
      </a:lt2>
      <a:accent1>
        <a:srgbClr val="0057B7"/>
      </a:accent1>
      <a:accent2>
        <a:srgbClr val="26D07C"/>
      </a:accent2>
      <a:accent3>
        <a:srgbClr val="00A3E0"/>
      </a:accent3>
      <a:accent4>
        <a:srgbClr val="FF6900"/>
      </a:accent4>
      <a:accent5>
        <a:srgbClr val="000000"/>
      </a:accent5>
      <a:accent6>
        <a:srgbClr val="0057B7"/>
      </a:accent6>
      <a:hlink>
        <a:srgbClr val="0057B7"/>
      </a:hlink>
      <a:folHlink>
        <a:srgbClr val="FEE01A"/>
      </a:folHlink>
    </a:clrScheme>
    <a:fontScheme name="Custom 6">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56F869E8E0FE1441B022250FD5EADD9C" ma:contentTypeVersion="15" ma:contentTypeDescription="Creare un nuovo documento." ma:contentTypeScope="" ma:versionID="f5e1b4e4ced79528227670ad017ff4e4">
  <xsd:schema xmlns:xsd="http://www.w3.org/2001/XMLSchema" xmlns:xs="http://www.w3.org/2001/XMLSchema" xmlns:p="http://schemas.microsoft.com/office/2006/metadata/properties" xmlns:ns2="5593410b-c56c-47c7-8a60-d59c296748fe" xmlns:ns3="cdf5e74e-42de-410b-ba6c-1d7e6dcb9ef4" targetNamespace="http://schemas.microsoft.com/office/2006/metadata/properties" ma:root="true" ma:fieldsID="0b1ca6eabc0cf19354b370014ac3141c" ns2:_="" ns3:_="">
    <xsd:import namespace="5593410b-c56c-47c7-8a60-d59c296748fe"/>
    <xsd:import namespace="cdf5e74e-42de-410b-ba6c-1d7e6dcb9ef4"/>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93410b-c56c-47c7-8a60-d59c296748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Tag immagine" ma:readOnly="false" ma:fieldId="{5cf76f15-5ced-4ddc-b409-7134ff3c332f}" ma:taxonomyMulti="true" ma:sspId="a0e81842-ecdd-42b9-9a3f-2af82147067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df5e74e-42de-410b-ba6c-1d7e6dcb9ef4" elementFormDefault="qualified">
    <xsd:import namespace="http://schemas.microsoft.com/office/2006/documentManagement/types"/>
    <xsd:import namespace="http://schemas.microsoft.com/office/infopath/2007/PartnerControls"/>
    <xsd:element name="SharedWithUsers" ma:index="11"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Condiviso con dettagli" ma:internalName="SharedWithDetails" ma:readOnly="true">
      <xsd:simpleType>
        <xsd:restriction base="dms:Note">
          <xsd:maxLength value="255"/>
        </xsd:restriction>
      </xsd:simpleType>
    </xsd:element>
    <xsd:element name="TaxCatchAll" ma:index="20" nillable="true" ma:displayName="Taxonomy Catch All Column" ma:hidden="true" ma:list="{07da6b90-1397-47f6-a882-5471af6c45e1}" ma:internalName="TaxCatchAll" ma:showField="CatchAllData" ma:web="cdf5e74e-42de-410b-ba6c-1d7e6dcb9e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df5e74e-42de-410b-ba6c-1d7e6dcb9ef4" xsi:nil="true"/>
    <lcf76f155ced4ddcb4097134ff3c332f xmlns="5593410b-c56c-47c7-8a60-d59c296748f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3E3A749-663A-426F-89C3-7962E9BC0ADB}">
  <ds:schemaRefs>
    <ds:schemaRef ds:uri="http://schemas.microsoft.com/sharepoint/v3/contenttype/forms"/>
  </ds:schemaRefs>
</ds:datastoreItem>
</file>

<file path=customXml/itemProps2.xml><?xml version="1.0" encoding="utf-8"?>
<ds:datastoreItem xmlns:ds="http://schemas.openxmlformats.org/officeDocument/2006/customXml" ds:itemID="{D309CDB8-C7D7-45D3-9680-4D6B5711E231}">
  <ds:schemaRefs>
    <ds:schemaRef ds:uri="http://schemas.microsoft.com/office/2006/metadata/contentType"/>
    <ds:schemaRef ds:uri="http://schemas.microsoft.com/office/2006/metadata/properties/metaAttributes"/>
    <ds:schemaRef ds:uri="http://www.w3.org/2000/xmlns/"/>
    <ds:schemaRef ds:uri="http://www.w3.org/2001/XMLSchema"/>
    <ds:schemaRef ds:uri="5593410b-c56c-47c7-8a60-d59c296748fe"/>
    <ds:schemaRef ds:uri="cdf5e74e-42de-410b-ba6c-1d7e6dcb9ef4"/>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2397EE2-A165-4A61-9685-CD552CB14C6E}">
  <ds:schemaRefs>
    <ds:schemaRef ds:uri="http://schemas.microsoft.com/office/2006/metadata/properties"/>
    <ds:schemaRef ds:uri="http://www.w3.org/2000/xmlns/"/>
    <ds:schemaRef ds:uri="cdf5e74e-42de-410b-ba6c-1d7e6dcb9ef4"/>
    <ds:schemaRef ds:uri="http://www.w3.org/2001/XMLSchema-instance"/>
    <ds:schemaRef ds:uri="5593410b-c56c-47c7-8a60-d59c296748f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4837</TotalTime>
  <Words>3577</Words>
  <Application>Microsoft Office PowerPoint</Application>
  <PresentationFormat>Widescreen</PresentationFormat>
  <Paragraphs>439</Paragraphs>
  <Slides>19</Slides>
  <Notes>13</Notes>
  <HiddenSlides>0</HiddenSlides>
  <MMClips>0</MMClips>
  <ScaleCrop>false</ScaleCrop>
  <HeadingPairs>
    <vt:vector size="8" baseType="variant">
      <vt:variant>
        <vt:lpstr>Caratteri utilizzati</vt:lpstr>
      </vt:variant>
      <vt:variant>
        <vt:i4>9</vt:i4>
      </vt:variant>
      <vt:variant>
        <vt:lpstr>Tema</vt:lpstr>
      </vt:variant>
      <vt:variant>
        <vt:i4>1</vt:i4>
      </vt:variant>
      <vt:variant>
        <vt:lpstr>Server OLE incorporati</vt:lpstr>
      </vt:variant>
      <vt:variant>
        <vt:i4>2</vt:i4>
      </vt:variant>
      <vt:variant>
        <vt:lpstr>Titoli diapositive</vt:lpstr>
      </vt:variant>
      <vt:variant>
        <vt:i4>19</vt:i4>
      </vt:variant>
    </vt:vector>
  </HeadingPairs>
  <TitlesOfParts>
    <vt:vector size="31" baseType="lpstr">
      <vt:lpstr>Arial</vt:lpstr>
      <vt:lpstr>Avenir Next LT Pro</vt:lpstr>
      <vt:lpstr>Calibri</vt:lpstr>
      <vt:lpstr>Poppins</vt:lpstr>
      <vt:lpstr>Poppins Black</vt:lpstr>
      <vt:lpstr>Poppins Medium</vt:lpstr>
      <vt:lpstr>Segoe UI</vt:lpstr>
      <vt:lpstr>Vodafone Rg</vt:lpstr>
      <vt:lpstr>Wingdings</vt:lpstr>
      <vt:lpstr>Office Theme</vt:lpstr>
      <vt:lpstr>Diapositiva think-cell</vt:lpstr>
      <vt:lpstr>think-cell Slide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Alberto Marzano</dc:creator>
  <cp:lastModifiedBy>Nadir Abdel Aziz</cp:lastModifiedBy>
  <cp:revision>14</cp:revision>
  <dcterms:created xsi:type="dcterms:W3CDTF">2022-10-19T13:53:04Z</dcterms:created>
  <dcterms:modified xsi:type="dcterms:W3CDTF">2026-02-09T09:13:17Z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0x01010056F869E8E0FE1441B022250FD5EADD9C</vt:lpwstr>
  </property>
  <property fmtid="{D5CDD505-2E9C-101B-9397-08002B2CF9AE}" pid="3" name="MediaServiceImageTags">
    <vt:lpwstr/>
  </property>
</Properties>
</file>